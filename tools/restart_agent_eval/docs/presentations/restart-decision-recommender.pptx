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slides/charts/chart2.xml" ContentType="application/vnd.openxmlformats-officedocument.drawingml.chart+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db3dae621440eb" /><Relationship Type="http://schemas.openxmlformats.org/officeDocument/2006/relationships/extended-properties" Target="/docProps/app.xml" Id="Rc2d628e551374f53" /><Relationship Type="http://schemas.openxmlformats.org/officeDocument/2006/relationships/officeDocument" Target="/ppt/presentation.xml" Id="R79fbe5d7b8c44383" /></Relationships>
</file>

<file path=ppt/presentation.xml><?xml version="1.0" encoding="utf-8"?>
<p:presentation xmlns:p="http://schemas.openxmlformats.org/presentationml/2006/main">
  <p:sldMasterIdLst>
    <p:sldMasterId xmlns:r="http://schemas.openxmlformats.org/officeDocument/2006/relationships" id="2147483648" r:id="R7a44428c25c14076"/>
  </p:sldMasterIdLst>
  <p:notesMasterIdLst>
    <p:notesMasterId xmlns:r="http://schemas.openxmlformats.org/officeDocument/2006/relationships" r:id="Rdb84cde275df4420"/>
  </p:notesMasterIdLst>
  <p:sldIdLst>
    <p:sldId xmlns:r="http://schemas.openxmlformats.org/officeDocument/2006/relationships" id="256" r:id="Rb08bc16840954b18"/>
    <p:sldId xmlns:r="http://schemas.openxmlformats.org/officeDocument/2006/relationships" id="257" r:id="Rdf4427803e6d4f2f"/>
    <p:sldId xmlns:r="http://schemas.openxmlformats.org/officeDocument/2006/relationships" id="258" r:id="R008cdabdfe2f42d3"/>
    <p:sldId xmlns:r="http://schemas.openxmlformats.org/officeDocument/2006/relationships" id="259" r:id="Ra1b80b2ac9ff4a86"/>
    <p:sldId xmlns:r="http://schemas.openxmlformats.org/officeDocument/2006/relationships" id="260" r:id="Rbc46e4c895f34d1e"/>
    <p:sldId xmlns:r="http://schemas.openxmlformats.org/officeDocument/2006/relationships" id="261" r:id="R3d2a9868831d4f9a"/>
    <p:sldId xmlns:r="http://schemas.openxmlformats.org/officeDocument/2006/relationships" id="262" r:id="R73253781ceb04444"/>
    <p:sldId xmlns:r="http://schemas.openxmlformats.org/officeDocument/2006/relationships" id="263" r:id="R7900141b2cfc40c1"/>
    <p:sldId xmlns:r="http://schemas.openxmlformats.org/officeDocument/2006/relationships" id="264" r:id="Re864331639894008"/>
    <p:sldId xmlns:r="http://schemas.openxmlformats.org/officeDocument/2006/relationships" id="265" r:id="R3f626c73f9c94283"/>
    <p:sldId xmlns:r="http://schemas.openxmlformats.org/officeDocument/2006/relationships" id="266" r:id="R98d6f43e89394b0e"/>
    <p:sldId xmlns:r="http://schemas.openxmlformats.org/officeDocument/2006/relationships" id="267" r:id="R2f2e29d17fe74810"/>
    <p:sldId xmlns:r="http://schemas.openxmlformats.org/officeDocument/2006/relationships" id="268" r:id="R3784361e532e4c2f"/>
    <p:sldId xmlns:r="http://schemas.openxmlformats.org/officeDocument/2006/relationships" id="269" r:id="Ra643cba72ac94e36"/>
    <p:sldId xmlns:r="http://schemas.openxmlformats.org/officeDocument/2006/relationships" id="270" r:id="Rbb239977d82e41aa"/>
    <p:sldId xmlns:r="http://schemas.openxmlformats.org/officeDocument/2006/relationships" id="271" r:id="Rb1511384edcd4e51"/>
    <p:sldId xmlns:r="http://schemas.openxmlformats.org/officeDocument/2006/relationships" id="272" r:id="R8165f69096e34e13"/>
    <p:sldId xmlns:r="http://schemas.openxmlformats.org/officeDocument/2006/relationships" id="273" r:id="Rba4b9e2b6c10487c"/>
    <p:sldId xmlns:r="http://schemas.openxmlformats.org/officeDocument/2006/relationships" id="274" r:id="R5667a98db34b4129"/>
    <p:sldId xmlns:r="http://schemas.openxmlformats.org/officeDocument/2006/relationships" id="275" r:id="R44a6e2aacc574ca9"/>
    <p:sldId xmlns:r="http://schemas.openxmlformats.org/officeDocument/2006/relationships" id="276" r:id="R7fa9db3a29184a2b"/>
    <p:sldId xmlns:r="http://schemas.openxmlformats.org/officeDocument/2006/relationships" id="277" r:id="R8dce58d68f54477d"/>
    <p:sldId xmlns:r="http://schemas.openxmlformats.org/officeDocument/2006/relationships" id="278" r:id="Rd6773cbec6d34688"/>
    <p:sldId xmlns:r="http://schemas.openxmlformats.org/officeDocument/2006/relationships" id="279" r:id="Rf3bb74a0f7564b23"/>
    <p:sldId xmlns:r="http://schemas.openxmlformats.org/officeDocument/2006/relationships" id="280" r:id="R184ecda9317f42e6"/>
    <p:sldId xmlns:r="http://schemas.openxmlformats.org/officeDocument/2006/relationships" id="281" r:id="Rdae99e3339044de6"/>
    <p:sldId xmlns:r="http://schemas.openxmlformats.org/officeDocument/2006/relationships" id="282" r:id="Rd70c01f511444d06"/>
    <p:sldId xmlns:r="http://schemas.openxmlformats.org/officeDocument/2006/relationships" id="283" r:id="Re0cf1609c5c44738"/>
    <p:sldId xmlns:r="http://schemas.openxmlformats.org/officeDocument/2006/relationships" id="284" r:id="R75a94e5c0c934480"/>
    <p:sldId xmlns:r="http://schemas.openxmlformats.org/officeDocument/2006/relationships" id="285" r:id="Reb5cac10f5d54598"/>
    <p:sldId xmlns:r="http://schemas.openxmlformats.org/officeDocument/2006/relationships" id="286" r:id="R0141c2668ce24ebc"/>
    <p:sldId xmlns:r="http://schemas.openxmlformats.org/officeDocument/2006/relationships" id="287" r:id="Rce80b7a371934562"/>
    <p:sldId xmlns:r="http://schemas.openxmlformats.org/officeDocument/2006/relationships" id="288" r:id="R137107b4fd8246d2"/>
    <p:sldId xmlns:r="http://schemas.openxmlformats.org/officeDocument/2006/relationships" id="289" r:id="Ra387645b9c204d4b"/>
    <p:sldId xmlns:r="http://schemas.openxmlformats.org/officeDocument/2006/relationships" id="290" r:id="Re0941a893e59445a"/>
    <p:sldId xmlns:r="http://schemas.openxmlformats.org/officeDocument/2006/relationships" id="291" r:id="R6d308ec1030b44dc"/>
    <p:sldId xmlns:r="http://schemas.openxmlformats.org/officeDocument/2006/relationships" id="292" r:id="Rbd316d62eb994c92"/>
    <p:sldId xmlns:r="http://schemas.openxmlformats.org/officeDocument/2006/relationships" id="293" r:id="R8c2dc4f7055543c3"/>
    <p:sldId xmlns:r="http://schemas.openxmlformats.org/officeDocument/2006/relationships" id="294" r:id="Re5ca17766b6845e7"/>
    <p:sldId xmlns:r="http://schemas.openxmlformats.org/officeDocument/2006/relationships" id="295" r:id="R582d63d4cc5e4b42"/>
    <p:sldId xmlns:r="http://schemas.openxmlformats.org/officeDocument/2006/relationships" id="296" r:id="R3c133f93cd024b8f"/>
    <p:sldId xmlns:r="http://schemas.openxmlformats.org/officeDocument/2006/relationships" id="297" r:id="R1220cd2f38204a01"/>
    <p:sldId xmlns:r="http://schemas.openxmlformats.org/officeDocument/2006/relationships" id="298" r:id="R121541dff9714bca"/>
    <p:sldId xmlns:r="http://schemas.openxmlformats.org/officeDocument/2006/relationships" id="299" r:id="Refb452dbe0d642fa"/>
    <p:sldId xmlns:r="http://schemas.openxmlformats.org/officeDocument/2006/relationships" id="300" r:id="R78e4f87b29cf4b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cf5162392d04faa" /><Relationship Type="http://schemas.openxmlformats.org/officeDocument/2006/relationships/slideMaster" Target="/ppt/slideMasters/slideMaster1.xml" Id="R7a44428c25c14076" /><Relationship Type="http://schemas.openxmlformats.org/officeDocument/2006/relationships/notesMaster" Target="/ppt/notesMasters/notesMaster1.xml" Id="Rdb84cde275df4420" /><Relationship Type="http://schemas.openxmlformats.org/officeDocument/2006/relationships/presProps" Target="/ppt/presProps.xml" Id="Rf319d286d26145fb" /><Relationship Type="http://schemas.openxmlformats.org/officeDocument/2006/relationships/viewProps" Target="/ppt/viewProps.xml" Id="R9b2de04f78cc4ee7" /><Relationship Type="http://schemas.openxmlformats.org/officeDocument/2006/relationships/tableStyles" Target="/ppt/tableStyles.xml" Id="R09e233ac7c4648f9" /><Relationship Type="http://schemas.openxmlformats.org/officeDocument/2006/relationships/slide" Target="/ppt/slides/slide1.xml" Id="Rb08bc16840954b18" /><Relationship Type="http://schemas.openxmlformats.org/officeDocument/2006/relationships/slide" Target="/ppt/slides/slide2.xml" Id="Rdf4427803e6d4f2f" /><Relationship Type="http://schemas.openxmlformats.org/officeDocument/2006/relationships/slide" Target="/ppt/slides/slide3.xml" Id="R008cdabdfe2f42d3" /><Relationship Type="http://schemas.openxmlformats.org/officeDocument/2006/relationships/slide" Target="/ppt/slides/slide4.xml" Id="Ra1b80b2ac9ff4a86" /><Relationship Type="http://schemas.openxmlformats.org/officeDocument/2006/relationships/slide" Target="/ppt/slides/slide5.xml" Id="Rbc46e4c895f34d1e" /><Relationship Type="http://schemas.openxmlformats.org/officeDocument/2006/relationships/slide" Target="/ppt/slides/slide6.xml" Id="R3d2a9868831d4f9a" /><Relationship Type="http://schemas.openxmlformats.org/officeDocument/2006/relationships/slide" Target="/ppt/slides/slide7.xml" Id="R73253781ceb04444" /><Relationship Type="http://schemas.openxmlformats.org/officeDocument/2006/relationships/slide" Target="/ppt/slides/slide8.xml" Id="R7900141b2cfc40c1" /><Relationship Type="http://schemas.openxmlformats.org/officeDocument/2006/relationships/slide" Target="/ppt/slides/slide9.xml" Id="Re864331639894008" /><Relationship Type="http://schemas.openxmlformats.org/officeDocument/2006/relationships/slide" Target="/ppt/slides/slide10.xml" Id="R3f626c73f9c94283" /><Relationship Type="http://schemas.openxmlformats.org/officeDocument/2006/relationships/slide" Target="/ppt/slides/slide11.xml" Id="R98d6f43e89394b0e" /><Relationship Type="http://schemas.openxmlformats.org/officeDocument/2006/relationships/slide" Target="/ppt/slides/slide12.xml" Id="R2f2e29d17fe74810" /><Relationship Type="http://schemas.openxmlformats.org/officeDocument/2006/relationships/slide" Target="/ppt/slides/slide13.xml" Id="R3784361e532e4c2f" /><Relationship Type="http://schemas.openxmlformats.org/officeDocument/2006/relationships/slide" Target="/ppt/slides/slide14.xml" Id="Ra643cba72ac94e36" /><Relationship Type="http://schemas.openxmlformats.org/officeDocument/2006/relationships/slide" Target="/ppt/slides/slide15.xml" Id="Rbb239977d82e41aa" /><Relationship Type="http://schemas.openxmlformats.org/officeDocument/2006/relationships/slide" Target="/ppt/slides/slide16.xml" Id="Rb1511384edcd4e51" /><Relationship Type="http://schemas.openxmlformats.org/officeDocument/2006/relationships/slide" Target="/ppt/slides/slide17.xml" Id="R8165f69096e34e13" /><Relationship Type="http://schemas.openxmlformats.org/officeDocument/2006/relationships/slide" Target="/ppt/slides/slide18.xml" Id="Rba4b9e2b6c10487c" /><Relationship Type="http://schemas.openxmlformats.org/officeDocument/2006/relationships/slide" Target="/ppt/slides/slide19.xml" Id="R5667a98db34b4129" /><Relationship Type="http://schemas.openxmlformats.org/officeDocument/2006/relationships/slide" Target="/ppt/slides/slide20.xml" Id="R44a6e2aacc574ca9" /><Relationship Type="http://schemas.openxmlformats.org/officeDocument/2006/relationships/slide" Target="/ppt/slides/slide21.xml" Id="R7fa9db3a29184a2b" /><Relationship Type="http://schemas.openxmlformats.org/officeDocument/2006/relationships/slide" Target="/ppt/slides/slide22.xml" Id="R8dce58d68f54477d" /><Relationship Type="http://schemas.openxmlformats.org/officeDocument/2006/relationships/slide" Target="/ppt/slides/slide23.xml" Id="Rd6773cbec6d34688" /><Relationship Type="http://schemas.openxmlformats.org/officeDocument/2006/relationships/slide" Target="/ppt/slides/slide24.xml" Id="Rf3bb74a0f7564b23" /><Relationship Type="http://schemas.openxmlformats.org/officeDocument/2006/relationships/slide" Target="/ppt/slides/slide25.xml" Id="R184ecda9317f42e6" /><Relationship Type="http://schemas.openxmlformats.org/officeDocument/2006/relationships/slide" Target="/ppt/slides/slide26.xml" Id="Rdae99e3339044de6" /><Relationship Type="http://schemas.openxmlformats.org/officeDocument/2006/relationships/slide" Target="/ppt/slides/slide27.xml" Id="Rd70c01f511444d06" /><Relationship Type="http://schemas.openxmlformats.org/officeDocument/2006/relationships/slide" Target="/ppt/slides/slide28.xml" Id="Re0cf1609c5c44738" /><Relationship Type="http://schemas.openxmlformats.org/officeDocument/2006/relationships/slide" Target="/ppt/slides/slide29.xml" Id="R75a94e5c0c934480" /><Relationship Type="http://schemas.openxmlformats.org/officeDocument/2006/relationships/slide" Target="/ppt/slides/slide30.xml" Id="Reb5cac10f5d54598" /><Relationship Type="http://schemas.openxmlformats.org/officeDocument/2006/relationships/slide" Target="/ppt/slides/slide31.xml" Id="R0141c2668ce24ebc" /><Relationship Type="http://schemas.openxmlformats.org/officeDocument/2006/relationships/slide" Target="/ppt/slides/slide32.xml" Id="Rce80b7a371934562" /><Relationship Type="http://schemas.openxmlformats.org/officeDocument/2006/relationships/slide" Target="/ppt/slides/slide33.xml" Id="R137107b4fd8246d2" /><Relationship Type="http://schemas.openxmlformats.org/officeDocument/2006/relationships/slide" Target="/ppt/slides/slide34.xml" Id="Ra387645b9c204d4b" /><Relationship Type="http://schemas.openxmlformats.org/officeDocument/2006/relationships/slide" Target="/ppt/slides/slide35.xml" Id="Re0941a893e59445a" /><Relationship Type="http://schemas.openxmlformats.org/officeDocument/2006/relationships/slide" Target="/ppt/slides/slide36.xml" Id="R6d308ec1030b44dc" /><Relationship Type="http://schemas.openxmlformats.org/officeDocument/2006/relationships/slide" Target="/ppt/slides/slide37.xml" Id="Rbd316d62eb994c92" /><Relationship Type="http://schemas.openxmlformats.org/officeDocument/2006/relationships/slide" Target="/ppt/slides/slide38.xml" Id="R8c2dc4f7055543c3" /><Relationship Type="http://schemas.openxmlformats.org/officeDocument/2006/relationships/slide" Target="/ppt/slides/slide39.xml" Id="Re5ca17766b6845e7" /><Relationship Type="http://schemas.openxmlformats.org/officeDocument/2006/relationships/slide" Target="/ppt/slides/slide40.xml" Id="R582d63d4cc5e4b42" /><Relationship Type="http://schemas.openxmlformats.org/officeDocument/2006/relationships/slide" Target="/ppt/slides/slide41.xml" Id="R3c133f93cd024b8f" /><Relationship Type="http://schemas.openxmlformats.org/officeDocument/2006/relationships/slide" Target="/ppt/slides/slide42.xml" Id="R1220cd2f38204a01" /><Relationship Type="http://schemas.openxmlformats.org/officeDocument/2006/relationships/slide" Target="/ppt/slides/slide43.xml" Id="R121541dff9714bca" /><Relationship Type="http://schemas.openxmlformats.org/officeDocument/2006/relationships/slide" Target="/ppt/slides/slide44.xml" Id="Refb452dbe0d642fa" /><Relationship Type="http://schemas.openxmlformats.org/officeDocument/2006/relationships/slide" Target="/ppt/slides/slide45.xml" Id="R78e4f87b29cf4b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3167a9902443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a6715f83294eaa" /><Relationship Type="http://schemas.openxmlformats.org/officeDocument/2006/relationships/notesMaster" Target="/ppt/notesMasters/notesMaster1.xml" Id="R1dc8e33e8e0345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7a8b5e64d0460d" /><Relationship Type="http://schemas.openxmlformats.org/officeDocument/2006/relationships/notesMaster" Target="/ppt/notesMasters/notesMaster1.xml" Id="Ra92bc39cf7ef49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35e8fb6b514458" /><Relationship Type="http://schemas.openxmlformats.org/officeDocument/2006/relationships/notesMaster" Target="/ppt/notesMasters/notesMaster1.xml" Id="R457ae4833b8e49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e6e8455bf8402c" /><Relationship Type="http://schemas.openxmlformats.org/officeDocument/2006/relationships/notesMaster" Target="/ppt/notesMasters/notesMaster1.xml" Id="R60dde907214e45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70121dd7f642db" /><Relationship Type="http://schemas.openxmlformats.org/officeDocument/2006/relationships/notesMaster" Target="/ppt/notesMasters/notesMaster1.xml" Id="Ree005a84b9824e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1fbe4a8a48409f" /><Relationship Type="http://schemas.openxmlformats.org/officeDocument/2006/relationships/notesMaster" Target="/ppt/notesMasters/notesMaster1.xml" Id="R157778e9d44b4d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d84512e2324ef0" /><Relationship Type="http://schemas.openxmlformats.org/officeDocument/2006/relationships/notesMaster" Target="/ppt/notesMasters/notesMaster1.xml" Id="R0b5f2b26510d40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3948de4f9e442c" /><Relationship Type="http://schemas.openxmlformats.org/officeDocument/2006/relationships/notesMaster" Target="/ppt/notesMasters/notesMaster1.xml" Id="R63ef3cc8794849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d76773c662b4720" /><Relationship Type="http://schemas.openxmlformats.org/officeDocument/2006/relationships/notesMaster" Target="/ppt/notesMasters/notesMaster1.xml" Id="R3a487acd77d64e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00958f4e11407a" /><Relationship Type="http://schemas.openxmlformats.org/officeDocument/2006/relationships/notesMaster" Target="/ppt/notesMasters/notesMaster1.xml" Id="Rb934cd093f4f4e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ecb07370274aaa" /><Relationship Type="http://schemas.openxmlformats.org/officeDocument/2006/relationships/notesMaster" Target="/ppt/notesMasters/notesMaster1.xml" Id="R33b0ea9c88df40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95345c3cd9450c" /><Relationship Type="http://schemas.openxmlformats.org/officeDocument/2006/relationships/notesMaster" Target="/ppt/notesMasters/notesMaster1.xml" Id="Rf500baf3e4814e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38eb6bf1604fa3" /><Relationship Type="http://schemas.openxmlformats.org/officeDocument/2006/relationships/notesMaster" Target="/ppt/notesMasters/notesMaster1.xml" Id="R6a49a88021894b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70a238e5f243e5" /><Relationship Type="http://schemas.openxmlformats.org/officeDocument/2006/relationships/notesMaster" Target="/ppt/notesMasters/notesMaster1.xml" Id="Rf1911137d00c48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f893693a9d4584" /><Relationship Type="http://schemas.openxmlformats.org/officeDocument/2006/relationships/notesMaster" Target="/ppt/notesMasters/notesMaster1.xml" Id="R72b0be01c21241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b853eb64de451a" /><Relationship Type="http://schemas.openxmlformats.org/officeDocument/2006/relationships/notesMaster" Target="/ppt/notesMasters/notesMaster1.xml" Id="Ra2463e26039f4b0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ddb7f75f7684c6d" /><Relationship Type="http://schemas.openxmlformats.org/officeDocument/2006/relationships/notesMaster" Target="/ppt/notesMasters/notesMaster1.xml" Id="R626041e3554e4e9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8a755957664853" /><Relationship Type="http://schemas.openxmlformats.org/officeDocument/2006/relationships/notesMaster" Target="/ppt/notesMasters/notesMaster1.xml" Id="R737c5438401f400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0195b94b2d4486" /><Relationship Type="http://schemas.openxmlformats.org/officeDocument/2006/relationships/notesMaster" Target="/ppt/notesMasters/notesMaster1.xml" Id="R095c8cd0a1b346a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3cbd786ec04a42" /><Relationship Type="http://schemas.openxmlformats.org/officeDocument/2006/relationships/notesMaster" Target="/ppt/notesMasters/notesMaster1.xml" Id="R04b601e0d3a84de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f0c606f78eb4735" /><Relationship Type="http://schemas.openxmlformats.org/officeDocument/2006/relationships/notesMaster" Target="/ppt/notesMasters/notesMaster1.xml" Id="R6f3913ba40b94a3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34a1af0b23d47a4" /><Relationship Type="http://schemas.openxmlformats.org/officeDocument/2006/relationships/notesMaster" Target="/ppt/notesMasters/notesMaster1.xml" Id="Rba4857405ed94be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7cf747fc7d487f" /><Relationship Type="http://schemas.openxmlformats.org/officeDocument/2006/relationships/notesMaster" Target="/ppt/notesMasters/notesMaster1.xml" Id="R6e9717c9668d476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9ef34c48dd44b70" /><Relationship Type="http://schemas.openxmlformats.org/officeDocument/2006/relationships/notesMaster" Target="/ppt/notesMasters/notesMaster1.xml" Id="R65e447a5195840e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b0ad8676a814d79" /><Relationship Type="http://schemas.openxmlformats.org/officeDocument/2006/relationships/notesMaster" Target="/ppt/notesMasters/notesMaster1.xml" Id="R000a59331acc403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e8960e18bb841e9" /><Relationship Type="http://schemas.openxmlformats.org/officeDocument/2006/relationships/notesMaster" Target="/ppt/notesMasters/notesMaster1.xml" Id="Rc7f42295f9444fd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fe5594f1d844492" /><Relationship Type="http://schemas.openxmlformats.org/officeDocument/2006/relationships/notesMaster" Target="/ppt/notesMasters/notesMaster1.xml" Id="Reed1ca8b213a40e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a5c584223404c59" /><Relationship Type="http://schemas.openxmlformats.org/officeDocument/2006/relationships/notesMaster" Target="/ppt/notesMasters/notesMaster1.xml" Id="Rfb7f6ffda20b488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36224d479df4b63" /><Relationship Type="http://schemas.openxmlformats.org/officeDocument/2006/relationships/notesMaster" Target="/ppt/notesMasters/notesMaster1.xml" Id="R47a542bb9f48455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32d0146f40c48d7" /><Relationship Type="http://schemas.openxmlformats.org/officeDocument/2006/relationships/notesMaster" Target="/ppt/notesMasters/notesMaster1.xml" Id="R88b5c15c6596493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cb25f44fe99484c" /><Relationship Type="http://schemas.openxmlformats.org/officeDocument/2006/relationships/notesMaster" Target="/ppt/notesMasters/notesMaster1.xml" Id="R863d44d00ec149c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8769996b10a435e" /><Relationship Type="http://schemas.openxmlformats.org/officeDocument/2006/relationships/notesMaster" Target="/ppt/notesMasters/notesMaster1.xml" Id="R1fa28483994943c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ac8545e7fc4433f" /><Relationship Type="http://schemas.openxmlformats.org/officeDocument/2006/relationships/notesMaster" Target="/ppt/notesMasters/notesMaster1.xml" Id="Rbab3653dcd6e46d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a6fa6e5262b491d" /><Relationship Type="http://schemas.openxmlformats.org/officeDocument/2006/relationships/notesMaster" Target="/ppt/notesMasters/notesMaster1.xml" Id="Rfc0bc50a088e4b8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a752f1733c24bc7" /><Relationship Type="http://schemas.openxmlformats.org/officeDocument/2006/relationships/notesMaster" Target="/ppt/notesMasters/notesMaster1.xml" Id="Rd4c1c367967247c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9ca7540e1314f23" /><Relationship Type="http://schemas.openxmlformats.org/officeDocument/2006/relationships/notesMaster" Target="/ppt/notesMasters/notesMaster1.xml" Id="R5f3dd40f992f4a0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d671febcf4f4242" /><Relationship Type="http://schemas.openxmlformats.org/officeDocument/2006/relationships/notesMaster" Target="/ppt/notesMasters/notesMaster1.xml" Id="R66a18445d9f941d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ffa4e7b61dd4d77" /><Relationship Type="http://schemas.openxmlformats.org/officeDocument/2006/relationships/notesMaster" Target="/ppt/notesMasters/notesMaster1.xml" Id="Re4a5bc456ea0494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4ff7a2672d3489b" /><Relationship Type="http://schemas.openxmlformats.org/officeDocument/2006/relationships/notesMaster" Target="/ppt/notesMasters/notesMaster1.xml" Id="R68d364919f38445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048015e582945d1" /><Relationship Type="http://schemas.openxmlformats.org/officeDocument/2006/relationships/notesMaster" Target="/ppt/notesMasters/notesMaster1.xml" Id="R27145c2abd364d2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6de7096ec8a4048" /><Relationship Type="http://schemas.openxmlformats.org/officeDocument/2006/relationships/notesMaster" Target="/ppt/notesMasters/notesMaster1.xml" Id="R492e77b96be5473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ef3a9ba6bf746c4" /><Relationship Type="http://schemas.openxmlformats.org/officeDocument/2006/relationships/notesMaster" Target="/ppt/notesMasters/notesMaster1.xml" Id="Rd5a07716c47a4b9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46d54131c574a40" /><Relationship Type="http://schemas.openxmlformats.org/officeDocument/2006/relationships/notesMaster" Target="/ppt/notesMasters/notesMaster1.xml" Id="R01d67c7b25b7458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a833a3bc6394250" /><Relationship Type="http://schemas.openxmlformats.org/officeDocument/2006/relationships/notesMaster" Target="/ppt/notesMasters/notesMaster1.xml" Id="Re34d178718aa4ac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a6d972b2c154244" /><Relationship Type="http://schemas.openxmlformats.org/officeDocument/2006/relationships/notesMaster" Target="/ppt/notesMasters/notesMaster1.xml" Id="Rcb60b8624b2a41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operational question: should this failed cycle restart now, or stop for intervention? The deck has two parts: the runtime product, then the harness that makes it tunable rather than black-box.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L1 receives decision_evidence and the bounded evidence_bundle, together with attempt_execution_context and restart_environment_context. Optional read-only function schemas are advertised separately in the provider tools field; route identity and tool-loop limits remain client/profile metadata. L1 returns the raw semantic assessment. Grounding audit, history, scores, and STOP or RESTART remain client-owned.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physical line order is approximate because ranks interleave and output is buffered. The product must reason about compatible progress and coherent failure episodes, not just the final error string.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deck contains two systems. A is loop engineering: it searches and qualifies declared tunables offline. B is the production runtime: it consumes a fixed versioned profile and returns a decision. Production traces and outcomes flow back into A; A does not mutate B 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L0A scans and structures the current log once, then freezes DecisionEvidence. The default product path runs deterministic L3/L4 and publishes a recommendation without any model dependency. When enrichment is explicitly enabled, L0B prepares the initial model view and L1/L2 produce independent enriched candidates. NVRx may use the deterministic recommendation as its fallback if an enriched candidate is late, unavailable, or unusable.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harness constructs the product by assembling a profile over declared tunables. It does not generate arbitrary runtime code or mutate the deployed analyzer 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Terminal-first is the production default. The cycle-start request registers the attempt, but L0A work begins at terminal submission unless progressive mode is explicitly enabled. During the bounded drain, the same chunk accumulator ingests late rank output and can prepare an exact-boundary checkpoint. Convergence releases final L0A assembly and the deterministic path; optional model enrichment starts only when explicitly enabled. Progressive mode reuses the same accumulator and finalizer and should be enabled only when target-scale measurements justify shifting more L0A work before cycle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preserves earlier no-LLM L0A measurements: 4.6 seconds for the CUDA-code log, 8.2 seconds for the bad-token log, and 23.5 seconds for the checkpoint log. Those measurements predate recent terminal-path optimizations and are not a current production latency claim. The qualification step is to measure terminal request-to-result p50, p90, and p99 at target scale. Progressive mode remains available as an explicit optimization if terminal latency misses the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Registries are deterministic L0 inputs, not a root-cause or action lookup table. A raw line may produce no registry match, one match, multiple candidate matches, or a non-registry structural fact. L0A combines those observations into occurrence groups, progress state, incidents, and failure episodes.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Evidence is not another numbered stage and it is not the whole L0A output. L0A retains the complete structured collections. Decision Evidence selects canonical policy-relevant facts and references once, so the deterministic path and optional enriched path start from the same facts without rescanning the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 Evidence is not another numbered stage and it is not the whole L0A output. L0A retains the complete structured collections. Decision Evidence selects canonical policy-relevant facts and references once, so the deterministic path and optional enriched path start from the same facts without rescanning the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L0B owns deterministic model-facing selection, not semantic reasoning. Its goal is attention efficiency: maximize decision-relevant evidence per unit of initial context. A useful L0B makes first-turn completion more likely, but tools remain an escape hatch. Tool calls that only reread L0B are model/profile inefficiency; shared retrieval of new decision evidence suggests an L0B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L0B owns deterministic model-facing selection, not semantic reasoning. Its goal is attention efficiency: maximize decision-relevant evidence per unit of initial context. A useful L0B makes first-turn completion more likely, but tools remain an escape hatch. Tool calls that only reread L0B are model/profile inefficiency; shared retrieval of new decision evidence suggests an L0B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L1 receives decision_evidence and the bounded evidence_bundle, together with attempt_execution_context and restart_environment_context. Optional read-only function schemas are advertised separately in the provider tools field; route identity and tool-loop limits remain client/profile metadata. L1 returns the raw semantic assessment. Grounding audit, history, scores, and STOP or RESTART remain client-owned.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Declared restart context is deterministic input from NVRx and the analyzer. It tells L1 that the workload and configuration remain fixed, process-local state is recreated after normal teardown and delay, and hardware allocation or mutable external-service state may change. These are transition conditions, not evidence that recovery will happen and not an action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tool-enabled profile advertises overview, grep_log, and read_window. Their schemas are sent to the provider, and every request and result is traced. get_evidence_objects is implemented but not advertised by default; it can be enabled through a route profile for controlled A/B evaluation. Tools fill a specific evidence gap rather than replace L0B.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L1 emits an immutable raw semantic assessment. Likelihood confidence applies only to the selected next-attempt same-failure category. Overall recovery-assessment confidence covers the domain and all three recovery concepts. These values are retained for observability and corpus calibration, but L4 does not use them to choose an action. Declared restart context remains input, not model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should distinguish mechanism from recoverability. A UnicodeDecodeError while loading metadata is real evidence of a checkpoint read/decode failure. One occurrence does not prove that persisted bytes are permanently bad. L1 therefore reports likelihood, cross-attempt persistence evidence, and recovery path rather than an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system message is SYSTEM_PROMPT from prompts.py. It is shared by every log at one prompt version and defines generic causal, recovery-assessment, evidence, and uncertainty semantics. The per-attempt user message is facts-only JSON with five top-level sections: response_schema, decision_evidence, attempt_execution_context, restart_environment_context, and evidence_bundle. Optional function schemas are sent separately in the provider tools field. Route settings, tool-loop limits, and request budgets remain client/profile and trace metadata rather than model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tuning is offline loop engineering. A candidate changes one generic behavior in the stable system contract, while the harness holds the evidence construction and route profiles constant. It is promoted only when corpus and unrelated-holdout results improve without tool, token, latency, or anti-pattern regressions. Per-attempt evidence is input data, not a prompt-tuning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these four views separate. Do not collapse them into one opaque score.</a:t>
            </a:r>
          </a:p>
          <a:p xmlns:a="http://schemas.openxmlformats.org/drawingml/2006/main">
            <a:r>
              <a:t>Semantic quality is conditional on a delivered response; endpoint-only failures are not_observed.</a:t>
            </a:r>
          </a:p>
          <a:p xmlns:a="http://schemas.openxmlformats.org/drawingml/2006/main">
            <a:r>
              <a:t>Route outcome combines the three diagnostic views for production gating.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checkpoint case; values demonstrate KPI separation rather than measured production percentiles.</a:t>
            </a:r>
          </a:p>
          <a:p xmlns:a="http://schemas.openxmlformats.org/drawingml/2006/main">
            <a:r>
              <a:t>Gold accepts primary line 12083, checkpoint load metadata deserialization, UnicodeDecodeError, plausible next-attempt recurrence, no persistence evidence, and ordinary retry.</a:t>
            </a:r>
          </a:p>
          <a:p xmlns:a="http://schemas.openxmlformats.org/drawingml/2006/main">
            <a:r>
              <a:t>Routes A and B can be equally correct while differing substantially in behavioral efficiency.</a:t>
            </a:r>
          </a:p>
          <a:p xmlns:a="http://schemas.openxmlformats.org/drawingml/2006/main">
            <a:r>
              <a:t>Route C has no semantic score because the endpoint produced no model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L2 is a forgiving grounding audit. It accepts credible nearby-line references and does not reject a semantic assessment merely because wording or an exact anchor differs. It surfaces demonstrably unsupported claims and records any policy-material adjustment without overwriting the raw L1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shows why L2 is an audit rather than a replacement classifier. Rank fanout and repeated traceback lines within one attempt can support that the event was distributed, but they cannot prove that the same failure persisted across cycles. L2 weakens only that unsupported policy-active field and preserves the checkpoint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L2 quality needs audit-focused gold: which citations should resolve, which claims are actually supported, and which findings would be false positives or false negatives. Operationally, L2 is local and should be fast; its latency and adjustment count are reported separately from semantic model quality.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History is useful when a single cycle is genuinely ambiguous. The client derives the policy-active root fingerprint from the grounded primary using registry-stable fields or an observed exception and normalized stable signal, then removes volatile occurrence data. L3 compares only distinct compatible cycles and requires no qualifying progress. Richer family and concrete identities are emitted for evaluation but remain policy-inactive until false merges and false splits are measured over a 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history key is built by client code from structured observed facts, not from an LLM-authored prose label. A family identity groups the mechanism. A concrete identity adds artifact, callsite, and named position when grounded. Volatile occurrence fields are excluded. L3 then performs exact matching within compatible job and configuration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L3 needs multi-cycle gold. A correct recurrence match requires a distinct compatible cycle, the same deterministic root fingerprint, and no qualifying progress. Same rank is not the same GPU unless an explicit mapping exists. A later attempt that advances farther is evidence against terminal persistence.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L4 is the only stage that owns STOP or RESTART. It receives current-attempt facts and compatible history, applies a versioned deterministic mapping, and emits the retry rule, budget state, action, and decision basis. The same inputs must replay to the same result. L1 enrichment is optional; L4 always supports the deterministic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worked example explains why the product does not equate workload attribution with STOP. A port collision belongs to the workload, yet a restart delay may clear a stale listener. L4 chooses RESTART on the first ambiguous attempt. If the exact compatible failure recurs without progress, L3 history strengthens persistence and L4 can make STOP eligible.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L4 evaluation uses action gold and approved decision reasons. STOP precision is emphasized because a false STOP discards a recoverable job. The harness also checks deterministic replay, deadline eligibility, degraded provenance, and whether exemptions such as time limits were applied for the documented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walkthrough. The prompt does not contain a special STOP rule for this CUDA string. L1 returns an observed failure and RCA plus domain, repeatability, persistence strength, retry outlook, retry precondition, and durable remediation. L2 audits grounding; L3 contributes compatible history facts when available; L4 owns the final action and does not consume repeatability confidence in MVP.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respectful about LogSage: the limitation is operational coupling, not absence of useful logic. The desired outcome is explainable tuning ownership.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Parallel routes are a latency/quality strategy, not a voting scheme.</a:t>
            </a:r>
          </a:p>
          <a:p xmlns:a="http://schemas.openxmlformats.org/drawingml/2006/main">
            <a:r>
              <a:t>The fast route supplies a provisional deadline candidate; the preferred heavyweight route supersedes it only when valid before the caller deadline.</a:t>
            </a:r>
          </a:p>
          <a:p xmlns:a="http://schemas.openxmlformats.org/drawingml/2006/main">
            <a:r>
              <a:t>A valid late heavyweight assessment may enrich future history but cannot revise the closed-cycle action or the deterministic client fingerprint.</a:t>
            </a:r>
          </a:p>
          <a:p xmlns:a="http://schemas.openxmlformats.org/drawingml/2006/main">
            <a:r>
              <a:t>Current collect_all preserves all route results; priority_select arbitration remains future implementation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harness constructs the product by assembling a profile over declared tunables. It does not generate arbitrary runtime code or mutate the deployed analyzer 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Metrics mature in stages: mechanical now, attribution proxies next, human-gold quality, controlled causal experiments, then progressive and longitudinal production metrics. For L0, gold-primary-visible means the approved initiating failure is present in the initial model-facing evidence. Cross-model missing context means multiple models retrieved the same relevant evidence that L0 omitted; raw tool count alone is not an L0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from the prototype: remove injected-test-specific patterns, generalize specific CUDA patterns, and remove an overly broad Python-exception shortcut that promoted downstream checkpoint symptoms.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collapse model selection into one opaque score. Accuracy is measured against human gold over a corpus. Efficiency describes model behavior such as turns, tools, and tokens. Endpoint performance is route behavior such as latency, retries, and availability. A good model behind an unreliable route is not inaccurate; it is operationally unqualified.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Latency is terminal/manual L1 wall-clock time, not post-progressive-end production latency. The case is feasibility evidence only and had no human-approved gold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the architecture can produce useful, auditable decisions, but the next investment should build the harness into a disciplined qualification system rather than adding ad hoc patterns.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cc3c9cdfc34a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16eb16bb0d4349" /><Relationship Type="http://schemas.openxmlformats.org/officeDocument/2006/relationships/slideLayout" Target="/ppt/slideLayouts/slideLayout1.xml" Id="R55ccc192809042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ccc192809042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6ddecd9bd645de" /><Relationship Type="http://schemas.openxmlformats.org/officeDocument/2006/relationships/notesSlide" Target="/ppt/notesSlides/notesSlide1.xml" Id="R9f7ae8b02da949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af1ed811294757" /><Relationship Type="http://schemas.openxmlformats.org/officeDocument/2006/relationships/notesSlide" Target="/ppt/notesSlides/notesSlide2.xml" Id="R3ad92aa5613349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95b185797f49cf" /><Relationship Type="http://schemas.openxmlformats.org/officeDocument/2006/relationships/notesSlide" Target="/ppt/notesSlides/notesSlide3.xml" Id="R3888d12f5ea049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98089c236546e3" /><Relationship Type="http://schemas.openxmlformats.org/officeDocument/2006/relationships/notesSlide" Target="/ppt/notesSlides/notesSlide4.xml" Id="Rc05c115a3c4c438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faa0c491344775" /><Relationship Type="http://schemas.openxmlformats.org/officeDocument/2006/relationships/notesSlide" Target="/ppt/notesSlides/notesSlide5.xml" Id="Re4b8bef6715642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e332a7031e4381" /><Relationship Type="http://schemas.openxmlformats.org/officeDocument/2006/relationships/notesSlide" Target="/ppt/notesSlides/notesSlide6.xml" Id="Rd84927a02d6e4e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d9d20668a4478a" /><Relationship Type="http://schemas.openxmlformats.org/officeDocument/2006/relationships/notesSlide" Target="/ppt/notesSlides/notesSlide7.xml" Id="R2c88b1542d814d7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497f74165604630" /><Relationship Type="http://schemas.openxmlformats.org/officeDocument/2006/relationships/notesSlide" Target="/ppt/notesSlides/notesSlide8.xml" Id="R756ec06cb2664a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fd49e376d47477c" /><Relationship Type="http://schemas.openxmlformats.org/officeDocument/2006/relationships/chart" Target="/ppt/slides/charts/chart1.xml" Id="Rc6e7a519130f4415" /><Relationship Type="http://schemas.openxmlformats.org/officeDocument/2006/relationships/notesSlide" Target="/ppt/notesSlides/notesSlide9.xml" Id="R5a094d444bba4c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9e345fcddc642be" /><Relationship Type="http://schemas.openxmlformats.org/officeDocument/2006/relationships/notesSlide" Target="/ppt/notesSlides/notesSlide10.xml" Id="Rc2efc7e5941b48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15057b74b4f49a3" /><Relationship Type="http://schemas.openxmlformats.org/officeDocument/2006/relationships/notesSlide" Target="/ppt/notesSlides/notesSlide11.xml" Id="R6149e065d79a4e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a06bcf089849db" /><Relationship Type="http://schemas.openxmlformats.org/officeDocument/2006/relationships/notesSlide" Target="/ppt/notesSlides/notesSlide12.xml" Id="R42b2f9e318a44a8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b066cc7f2d44d70" /><Relationship Type="http://schemas.openxmlformats.org/officeDocument/2006/relationships/notesSlide" Target="/ppt/notesSlides/notesSlide13.xml" Id="R5ddbe53f5f1c44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574e27db3d24d8e" /><Relationship Type="http://schemas.openxmlformats.org/officeDocument/2006/relationships/notesSlide" Target="/ppt/notesSlides/notesSlide14.xml" Id="R63c7c7f811b549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22aa5172cb346bf" /><Relationship Type="http://schemas.openxmlformats.org/officeDocument/2006/relationships/notesSlide" Target="/ppt/notesSlides/notesSlide15.xml" Id="R300ac6ef232a4c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4e99b39cacb4775" /><Relationship Type="http://schemas.openxmlformats.org/officeDocument/2006/relationships/notesSlide" Target="/ppt/notesSlides/notesSlide16.xml" Id="Rfc83e03d0a3f44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4f988c93b741d1" /><Relationship Type="http://schemas.openxmlformats.org/officeDocument/2006/relationships/notesSlide" Target="/ppt/notesSlides/notesSlide17.xml" Id="R4fcf864e682041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b721dc62f1542fa" /><Relationship Type="http://schemas.openxmlformats.org/officeDocument/2006/relationships/notesSlide" Target="/ppt/notesSlides/notesSlide18.xml" Id="R5fed20960e854ad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ba0b7c2b09e4a8c" /><Relationship Type="http://schemas.openxmlformats.org/officeDocument/2006/relationships/notesSlide" Target="/ppt/notesSlides/notesSlide19.xml" Id="R62de18fb8038434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e75577c7b664871" /><Relationship Type="http://schemas.openxmlformats.org/officeDocument/2006/relationships/notesSlide" Target="/ppt/notesSlides/notesSlide20.xml" Id="R6526292634d34b4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958c11d42f24248" /><Relationship Type="http://schemas.openxmlformats.org/officeDocument/2006/relationships/notesSlide" Target="/ppt/notesSlides/notesSlide21.xml" Id="R521114c9fe1040b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bac9baf294b46dd" /><Relationship Type="http://schemas.openxmlformats.org/officeDocument/2006/relationships/notesSlide" Target="/ppt/notesSlides/notesSlide22.xml" Id="R2eef379467ef4e8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bc09d38bfd64530" /><Relationship Type="http://schemas.openxmlformats.org/officeDocument/2006/relationships/notesSlide" Target="/ppt/notesSlides/notesSlide23.xml" Id="R5b8b1e3f64a3407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f9956def46c4e16" /><Relationship Type="http://schemas.openxmlformats.org/officeDocument/2006/relationships/notesSlide" Target="/ppt/notesSlides/notesSlide24.xml" Id="R2b4dba6a137649a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ef7bf624e5d4c1a" /><Relationship Type="http://schemas.openxmlformats.org/officeDocument/2006/relationships/notesSlide" Target="/ppt/notesSlides/notesSlide25.xml" Id="Re2ef896e948541a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2478d01062c4f81" /><Relationship Type="http://schemas.openxmlformats.org/officeDocument/2006/relationships/notesSlide" Target="/ppt/notesSlides/notesSlide26.xml" Id="R58bc8499552d46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2cd5bae32184bc1" /><Relationship Type="http://schemas.openxmlformats.org/officeDocument/2006/relationships/notesSlide" Target="/ppt/notesSlides/notesSlide27.xml" Id="R9b76c620d0d345f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6e3adffcca94591" /><Relationship Type="http://schemas.openxmlformats.org/officeDocument/2006/relationships/notesSlide" Target="/ppt/notesSlides/notesSlide28.xml" Id="Re257cf1cd4fd41b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4d4dfa107f540c4" /><Relationship Type="http://schemas.openxmlformats.org/officeDocument/2006/relationships/notesSlide" Target="/ppt/notesSlides/notesSlide29.xml" Id="Rf77e69857b5d4e5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a66a1f9e3e04214" /><Relationship Type="http://schemas.openxmlformats.org/officeDocument/2006/relationships/notesSlide" Target="/ppt/notesSlides/notesSlide30.xml" Id="R01be78ab3aa8487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f60281a3c424d8d" /><Relationship Type="http://schemas.openxmlformats.org/officeDocument/2006/relationships/notesSlide" Target="/ppt/notesSlides/notesSlide31.xml" Id="R8d66ce3e9e604a1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b5707eadfce74d16" /><Relationship Type="http://schemas.openxmlformats.org/officeDocument/2006/relationships/notesSlide" Target="/ppt/notesSlides/notesSlide32.xml" Id="R29befe32d4ee4ea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33c1c3cf491420f" /><Relationship Type="http://schemas.openxmlformats.org/officeDocument/2006/relationships/notesSlide" Target="/ppt/notesSlides/notesSlide33.xml" Id="Ra0a2bef8cbba46b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ea88a4e38664eda" /><Relationship Type="http://schemas.openxmlformats.org/officeDocument/2006/relationships/notesSlide" Target="/ppt/notesSlides/notesSlide34.xml" Id="R927e69b71227439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ab1dd2b2d204dbc" /><Relationship Type="http://schemas.openxmlformats.org/officeDocument/2006/relationships/notesSlide" Target="/ppt/notesSlides/notesSlide35.xml" Id="Rb5a508a6cece484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b8ba838494844b9" /><Relationship Type="http://schemas.openxmlformats.org/officeDocument/2006/relationships/notesSlide" Target="/ppt/notesSlides/notesSlide36.xml" Id="R25f73c3683f2411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4b03ba1f914484f" /><Relationship Type="http://schemas.openxmlformats.org/officeDocument/2006/relationships/notesSlide" Target="/ppt/notesSlides/notesSlide37.xml" Id="Rf647acd30bbc4b5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f268faeffe143b7" /><Relationship Type="http://schemas.openxmlformats.org/officeDocument/2006/relationships/notesSlide" Target="/ppt/notesSlides/notesSlide38.xml" Id="Rdd8ab78a31ab489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b2e67b8b77c4dff" /><Relationship Type="http://schemas.openxmlformats.org/officeDocument/2006/relationships/notesSlide" Target="/ppt/notesSlides/notesSlide39.xml" Id="R6ae7a6c203f6411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b275aa18c874535" /><Relationship Type="http://schemas.openxmlformats.org/officeDocument/2006/relationships/notesSlide" Target="/ppt/notesSlides/notesSlide40.xml" Id="Rdf5d1f934c914a0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432e5f9cde243ed" /><Relationship Type="http://schemas.openxmlformats.org/officeDocument/2006/relationships/notesSlide" Target="/ppt/notesSlides/notesSlide41.xml" Id="R42d7a491be554ab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8d21b4bef334eff" /><Relationship Type="http://schemas.openxmlformats.org/officeDocument/2006/relationships/notesSlide" Target="/ppt/notesSlides/notesSlide42.xml" Id="R0921bb0b7c2b475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195d70d22d9414b" /><Relationship Type="http://schemas.openxmlformats.org/officeDocument/2006/relationships/notesSlide" Target="/ppt/notesSlides/notesSlide43.xml" Id="Rbdc177e305f443d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c276b2d3445448c" /><Relationship Type="http://schemas.openxmlformats.org/officeDocument/2006/relationships/chart" Target="/ppt/slides/charts/chart2.xml" Id="R40a4b7322da44ba0" /><Relationship Type="http://schemas.openxmlformats.org/officeDocument/2006/relationships/notesSlide" Target="/ppt/notesSlides/notesSlide44.xml" Id="R0742e9fca264419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5cfc3e855f7457e" /><Relationship Type="http://schemas.openxmlformats.org/officeDocument/2006/relationships/notesSlide" Target="/ppt/notesSlides/notesSlide45.xml" Id="R70db7b6f1e8e4adb" /></Relationships>
</file>

<file path=ppt/slides/charts/chart1.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L0A assembly</c:v>
          </c:tx>
          <c:spPr>
            <a:solidFill xmlns:a="http://schemas.openxmlformats.org/drawingml/2006/main">
              <a:srgbClr val="3D8DFF"/>
            </a:solidFill>
          </c:spPr>
          <c:dLbls>
            <c:spPr>
              <a:noFill xmlns:a="http://schemas.openxmlformats.org/drawingml/2006/main"/>
              <a:ln xmlns:a="http://schemas.openxmlformats.org/drawingml/2006/main">
                <a:noFill/>
              </a:ln>
            </c:spPr>
            <c:dLblPos val="outEnd"/>
            <c:showLegendKey val="0"/>
            <c:showVal val="1"/>
            <c:showCatName val="0"/>
            <c:showSerName val="0"/>
            <c:showPercent val="0"/>
            <c:showBubbleSize val="0"/>
            <c:showLeaderLines val="0"/>
          </c:dLbls>
          <c:cat>
            <c:strLit>
              <c:ptCount val="3"/>
              <c:pt idx="0">
                <c:v>CUDA code</c:v>
              </c:pt>
              <c:pt idx="1">
                <c:v>Bad token</c:v>
              </c:pt>
              <c:pt idx="2">
                <c:v>Checkpoint</c:v>
              </c:pt>
            </c:strLit>
          </c:cat>
          <c:val>
            <c:numLit>
              <c:formatCode>General</c:formatCode>
              <c:ptCount val="3"/>
              <c:pt idx="0">
                <c:v>4.6</c:v>
              </c:pt>
              <c:pt idx="1">
                <c:v>8.2</c:v>
              </c:pt>
              <c:pt idx="2">
                <c:v>23.5</c:v>
              </c:pt>
            </c:numLit>
          </c:val>
        </c:ser>
        <c:ser>
          <c:idx val="1"/>
          <c:order val="1"/>
          <c:tx>
            <c:v>Median L1</c:v>
          </c:tx>
          <c:spPr>
            <a:solidFill xmlns:a="http://schemas.openxmlformats.org/drawingml/2006/main">
              <a:srgbClr val="B8BCC4"/>
            </a:solidFill>
          </c:spPr>
          <c:dLbls>
            <c:spPr>
              <a:noFill xmlns:a="http://schemas.openxmlformats.org/drawingml/2006/main"/>
              <a:ln xmlns:a="http://schemas.openxmlformats.org/drawingml/2006/main">
                <a:noFill/>
              </a:ln>
            </c:spPr>
            <c:dLblPos val="outEnd"/>
            <c:showLegendKey val="0"/>
            <c:showVal val="1"/>
            <c:showCatName val="0"/>
            <c:showSerName val="0"/>
            <c:showPercent val="0"/>
            <c:showBubbleSize val="0"/>
            <c:showLeaderLines val="0"/>
          </c:dLbls>
          <c:cat>
            <c:strLit>
              <c:ptCount val="3"/>
              <c:pt idx="0">
                <c:v>CUDA code</c:v>
              </c:pt>
              <c:pt idx="1">
                <c:v>Bad token</c:v>
              </c:pt>
              <c:pt idx="2">
                <c:v>Checkpoint</c:v>
              </c:pt>
            </c:strLit>
          </c:cat>
          <c:val>
            <c:numLit>
              <c:formatCode>General</c:formatCode>
              <c:ptCount val="3"/>
              <c:pt idx="0">
                <c:v>31.4</c:v>
              </c:pt>
              <c:pt idx="1">
                <c:v>26</c:v>
              </c:pt>
              <c:pt idx="2">
                <c:v>24.9</c:v>
              </c:pt>
            </c:numLit>
          </c:val>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majorGridlines>
          <c:spPr>
            <a:ln xmlns:a="http://schemas.openxmlformats.org/drawingml/2006/main" w="9525">
              <a:solidFill>
                <a:srgbClr val="D9DCE1"/>
              </a:solidFill>
              <a:prstDash val="solid"/>
            </a:ln>
          </c:spPr>
        </c:majorGridlines>
        <c:title>
          <c:tx>
            <c:rich>
              <a:bodyPr xmlns:a="http://schemas.openxmlformats.org/drawingml/2006/main"/>
              <a:lstStyle xmlns:a="http://schemas.openxmlformats.org/drawingml/2006/main"/>
              <a:p xmlns:a="http://schemas.openxmlformats.org/drawingml/2006/main">
                <a:r>
                  <a:t>seconds</a:t>
                </a:r>
              </a:p>
            </c:rich>
          </c:tx>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l"/>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legend>
      <c:legendPos val="b"/>
      <c:overlay val="0"/>
    </c:legend>
    <c:plotVisOnly val="1"/>
  </c:chart>
</c:chartSpace>
</file>

<file path=ppt/slides/charts/chart2.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L1 seconds</c:v>
          </c:tx>
          <c:spPr>
            <a:solidFill xmlns:a="http://schemas.openxmlformats.org/drawingml/2006/main">
              <a:srgbClr val="3D8DFF"/>
            </a:solidFill>
          </c:spPr>
          <c:dLbls>
            <c:spPr>
              <a:noFill xmlns:a="http://schemas.openxmlformats.org/drawingml/2006/main"/>
              <a:ln xmlns:a="http://schemas.openxmlformats.org/drawingml/2006/main">
                <a:noFill/>
              </a:ln>
            </c:spPr>
            <c:dLblPos val="outEnd"/>
            <c:showLegendKey val="0"/>
            <c:showVal val="1"/>
            <c:showCatName val="0"/>
            <c:showSerName val="0"/>
            <c:showPercent val="0"/>
            <c:showBubbleSize val="0"/>
            <c:showLeaderLines val="0"/>
          </c:dLbls>
          <c:cat>
            <c:strLit>
              <c:ptCount val="5"/>
              <c:pt idx="0">
                <c:v>Gemini</c:v>
              </c:pt>
              <c:pt idx="1">
                <c:v>Nemotron</c:v>
              </c:pt>
              <c:pt idx="2">
                <c:v>GPT</c:v>
              </c:pt>
              <c:pt idx="3">
                <c:v>Qwen 235B</c:v>
              </c:pt>
              <c:pt idx="4">
                <c:v>Claude</c:v>
              </c:pt>
            </c:strLit>
          </c:cat>
          <c:val>
            <c:numLit>
              <c:formatCode>General</c:formatCode>
              <c:ptCount val="5"/>
              <c:pt idx="0">
                <c:v>6.4</c:v>
              </c:pt>
              <c:pt idx="1">
                <c:v>11.9</c:v>
              </c:pt>
              <c:pt idx="2">
                <c:v>31.4</c:v>
              </c:pt>
              <c:pt idx="3">
                <c:v>36.9</c:v>
              </c:pt>
              <c:pt idx="4">
                <c:v>64.1</c:v>
              </c:pt>
            </c:numLit>
          </c:val>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majorGridlines>
          <c:spPr>
            <a:ln xmlns:a="http://schemas.openxmlformats.org/drawingml/2006/main" w="9525">
              <a:solidFill>
                <a:srgbClr val="D9DCE1"/>
              </a:solidFill>
              <a:prstDash val="solid"/>
            </a:ln>
          </c:spPr>
        </c:majorGridlines>
        <c:title>
          <c:tx>
            <c:rich>
              <a:bodyPr xmlns:a="http://schemas.openxmlformats.org/drawingml/2006/main"/>
              <a:lstStyle xmlns:a="http://schemas.openxmlformats.org/drawingml/2006/main"/>
              <a:p xmlns:a="http://schemas.openxmlformats.org/drawingml/2006/main">
                <a:r>
                  <a:t>seconds</a:t>
                </a:r>
              </a:p>
            </c:rich>
          </c:tx>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l"/>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42-42">
            <a:extLst xmlns:a="http://schemas.openxmlformats.org/drawingml/2006/main">
              <a:ext uri="{FF2B5EF4-FFF2-40B4-BE49-F238E27FC236}">
                <a16:creationId xmlns:a16="http://schemas.microsoft.com/office/drawing/2014/main" id="{4D737A3D-E18B-4978-9CDA-C584E14CE8D8}"/>
              </a:ext>
            </a:extLst>
          </p:cNvPr>
          <p:cNvSpPr>
            <a:spLocks xmlns:a="http://schemas.openxmlformats.org/drawingml/2006/main" noGrp="1"/>
          </p:cNvSpPr>
          <p:nvPr/>
        </p:nvSpPr>
        <p:spPr>
          <a:xfrm xmlns:a="http://schemas.openxmlformats.org/drawingml/2006/main">
            <a:off x="400050" y="400050"/>
            <a:ext cx="59055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NVRx / RESTART LOG ANALYZER</a:t>
            </a:r>
          </a:p>
        </p:txBody>
      </p:sp>
      <p:sp>
        <p:nvSpPr>
          <p:cNvPr id="2" name="text-42-176">
            <a:extLst xmlns:a="http://schemas.openxmlformats.org/drawingml/2006/main">
              <a:ext uri="{FF2B5EF4-FFF2-40B4-BE49-F238E27FC236}">
                <a16:creationId xmlns:a16="http://schemas.microsoft.com/office/drawing/2014/main" id="{7891205A-AC8D-4C65-AA4C-08D658F12317}"/>
              </a:ext>
            </a:extLst>
          </p:cNvPr>
          <p:cNvSpPr>
            <a:spLocks xmlns:a="http://schemas.openxmlformats.org/drawingml/2006/main" noGrp="1"/>
          </p:cNvSpPr>
          <p:nvPr/>
        </p:nvSpPr>
        <p:spPr>
          <a:xfrm xmlns:a="http://schemas.openxmlformats.org/drawingml/2006/main">
            <a:off x="400050" y="1676400"/>
            <a:ext cx="9620250" cy="1790700"/>
          </a:xfrm>
          <a:prstGeom xmlns:a="http://schemas.openxmlformats.org/drawingml/2006/main" prst="rect">
            <a:avLst/>
          </a:prstGeom>
        </p:spPr>
        <p:txBody>
          <a:bodyPr xmlns:a="http://schemas.openxmlformats.org/drawingml/2006/main" wrap="square" lIns="0" tIns="0" rIns="0" bIns="0" anchor="b">
            <a:normAutofit/>
          </a:bodyPr>
          <a:lstStyle xmlns:a="http://schemas.openxmlformats.org/drawingml/2006/main"/>
          <a:p xmlns:a="http://schemas.openxmlformats.org/drawingml/2006/main">
            <a:pPr algn="l">
              <a:buNone/>
              <a:defRPr sz="5400" b="1">
                <a:solidFill>
                  <a:srgbClr val="000000"/>
                </a:solidFill>
                <a:latin typeface="Helvetica Neue"/>
                <a:ea typeface="Helvetica Neue"/>
                <a:cs typeface="Helvetica Neue"/>
              </a:defRPr>
            </a:pPr>
            <a:r>
              <a:t>A tunable pipeline for restart decisions</a:t>
            </a:r>
          </a:p>
        </p:txBody>
      </p:sp>
      <p:sp>
        <p:nvSpPr>
          <p:cNvPr id="3" name="text-42-422">
            <a:extLst xmlns:a="http://schemas.openxmlformats.org/drawingml/2006/main">
              <a:ext uri="{FF2B5EF4-FFF2-40B4-BE49-F238E27FC236}">
                <a16:creationId xmlns:a16="http://schemas.microsoft.com/office/drawing/2014/main" id="{5BB2048F-679B-470D-8E0B-C45F8377685F}"/>
              </a:ext>
            </a:extLst>
          </p:cNvPr>
          <p:cNvSpPr>
            <a:spLocks xmlns:a="http://schemas.openxmlformats.org/drawingml/2006/main" noGrp="1"/>
          </p:cNvSpPr>
          <p:nvPr/>
        </p:nvSpPr>
        <p:spPr>
          <a:xfrm xmlns:a="http://schemas.openxmlformats.org/drawingml/2006/main">
            <a:off x="400050" y="4019550"/>
            <a:ext cx="7239000" cy="4762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250" b="0">
                <a:solidFill>
                  <a:srgbClr val="5D6470"/>
                </a:solidFill>
                <a:latin typeface="Helvetica Neue"/>
                <a:ea typeface="Helvetica Neue"/>
                <a:cs typeface="Helvetica Neue"/>
              </a:defRPr>
            </a:pPr>
            <a:r>
              <a:t>Runtime product + eval and tuning harness</a:t>
            </a:r>
          </a:p>
        </p:txBody>
      </p:sp>
      <p:sp>
        <p:nvSpPr>
          <p:cNvPr id="4" name="box-42-520">
            <a:extLst xmlns:a="http://schemas.openxmlformats.org/drawingml/2006/main">
              <a:ext uri="{FF2B5EF4-FFF2-40B4-BE49-F238E27FC236}">
                <a16:creationId xmlns:a16="http://schemas.microsoft.com/office/drawing/2014/main" id="{05E708CA-ACB0-4A2F-951E-75331A3FBE14}"/>
              </a:ext>
            </a:extLst>
          </p:cNvPr>
          <p:cNvSpPr>
            <a:spLocks xmlns:a="http://schemas.openxmlformats.org/drawingml/2006/main" noGrp="1"/>
          </p:cNvSpPr>
          <p:nvPr/>
        </p:nvSpPr>
        <p:spPr>
          <a:xfrm xmlns:a="http://schemas.openxmlformats.org/drawingml/2006/main">
            <a:off x="400050" y="4953000"/>
            <a:ext cx="3714750" cy="762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 name="text-42-555">
            <a:extLst xmlns:a="http://schemas.openxmlformats.org/drawingml/2006/main">
              <a:ext uri="{FF2B5EF4-FFF2-40B4-BE49-F238E27FC236}">
                <a16:creationId xmlns:a16="http://schemas.microsoft.com/office/drawing/2014/main" id="{0DAD44AA-76A9-4B06-BC1D-452F78F1AADD}"/>
              </a:ext>
            </a:extLst>
          </p:cNvPr>
          <p:cNvSpPr>
            <a:spLocks xmlns:a="http://schemas.openxmlformats.org/drawingml/2006/main" noGrp="1"/>
          </p:cNvSpPr>
          <p:nvPr/>
        </p:nvSpPr>
        <p:spPr>
          <a:xfrm xmlns:a="http://schemas.openxmlformats.org/drawingml/2006/main">
            <a:off x="400050" y="5286375"/>
            <a:ext cx="68580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t>Feasibility demonstrated. Qualification ahead.</a:t>
            </a:r>
          </a:p>
        </p:txBody>
      </p:sp>
      <p:sp>
        <p:nvSpPr>
          <p:cNvPr id="6" name="text-42-626">
            <a:extLst xmlns:a="http://schemas.openxmlformats.org/drawingml/2006/main">
              <a:ext uri="{FF2B5EF4-FFF2-40B4-BE49-F238E27FC236}">
                <a16:creationId xmlns:a16="http://schemas.microsoft.com/office/drawing/2014/main" id="{F0D4F7F9-C031-4342-BD49-D537056F8C24}"/>
              </a:ext>
            </a:extLst>
          </p:cNvPr>
          <p:cNvSpPr>
            <a:spLocks xmlns:a="http://schemas.openxmlformats.org/drawingml/2006/main" noGrp="1"/>
          </p:cNvSpPr>
          <p:nvPr/>
        </p:nvSpPr>
        <p:spPr>
          <a:xfrm xmlns:a="http://schemas.openxmlformats.org/drawingml/2006/main">
            <a:off x="400050" y="5962650"/>
            <a:ext cx="43815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Technical architecture review</a:t>
            </a:r>
          </a:p>
        </p:txBody>
      </p:sp>
    </p:spTree>
    <p:extLst>
      <p:ext uri="{BB962C8B-B14F-4D97-AF65-F5344CB8AC3E}">
        <p14:creationId xmlns:p14="http://schemas.microsoft.com/office/powerpoint/2010/main" val="7451281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42-26">
            <a:extLst xmlns:a="http://schemas.openxmlformats.org/drawingml/2006/main">
              <a:ext uri="{FF2B5EF4-FFF2-40B4-BE49-F238E27FC236}">
                <a16:creationId xmlns:a16="http://schemas.microsoft.com/office/drawing/2014/main" id="{2E8F24E5-5740-41D5-B242-3068F26B0941}"/>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SYSTEM INTEGRATION</a:t>
            </a:r>
          </a:p>
        </p:txBody>
      </p:sp>
      <p:sp>
        <p:nvSpPr>
          <p:cNvPr id="2" name="text-42-54">
            <a:extLst xmlns:a="http://schemas.openxmlformats.org/drawingml/2006/main">
              <a:ext uri="{FF2B5EF4-FFF2-40B4-BE49-F238E27FC236}">
                <a16:creationId xmlns:a16="http://schemas.microsoft.com/office/drawing/2014/main" id="{15E178E7-8FEA-40C1-A1BD-5B7AF32A7B5F}"/>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94477"/>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NVRx delegates log analysis without giving up restart control</a:t>
            </a:r>
          </a:p>
        </p:txBody>
      </p:sp>
      <p:sp>
        <p:nvSpPr>
          <p:cNvPr id="3" name="line-42-133">
            <a:extLst xmlns:a="http://schemas.openxmlformats.org/drawingml/2006/main">
              <a:ext uri="{FF2B5EF4-FFF2-40B4-BE49-F238E27FC236}">
                <a16:creationId xmlns:a16="http://schemas.microsoft.com/office/drawing/2014/main" id="{35E6AFDC-0A28-4A7A-9F85-9F537488B8ED}"/>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2-168">
            <a:extLst xmlns:a="http://schemas.openxmlformats.org/drawingml/2006/main">
              <a:ext uri="{FF2B5EF4-FFF2-40B4-BE49-F238E27FC236}">
                <a16:creationId xmlns:a16="http://schemas.microsoft.com/office/drawing/2014/main" id="{3EE8BA63-C352-4D93-B5D8-E4175EE848CA}"/>
              </a:ext>
            </a:extLst>
          </p:cNvPr>
          <p:cNvSpPr>
            <a:spLocks xmlns:a="http://schemas.openxmlformats.org/drawingml/2006/main" noGrp="1"/>
          </p:cNvSpPr>
          <p:nvPr/>
        </p:nvSpPr>
        <p:spPr>
          <a:xfrm xmlns:a="http://schemas.openxmlformats.org/drawingml/2006/main">
            <a:off x="590550" y="1600200"/>
            <a:ext cx="16954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NVRx</a:t>
            </a:r>
          </a:p>
        </p:txBody>
      </p:sp>
      <p:sp>
        <p:nvSpPr>
          <p:cNvPr id="5" name="arrow-244-170">
            <a:extLst xmlns:a="http://schemas.openxmlformats.org/drawingml/2006/main">
              <a:ext uri="{FF2B5EF4-FFF2-40B4-BE49-F238E27FC236}">
                <a16:creationId xmlns:a16="http://schemas.microsoft.com/office/drawing/2014/main" id="{C9DF21FA-F5C4-4127-9271-052ABE07877F}"/>
              </a:ext>
            </a:extLst>
          </p:cNvPr>
          <p:cNvSpPr>
            <a:spLocks xmlns:a="http://schemas.openxmlformats.org/drawingml/2006/main" noGrp="1"/>
          </p:cNvSpPr>
          <p:nvPr/>
        </p:nvSpPr>
        <p:spPr>
          <a:xfrm xmlns:a="http://schemas.openxmlformats.org/drawingml/2006/main">
            <a:off x="23241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text-288-168">
            <a:extLst xmlns:a="http://schemas.openxmlformats.org/drawingml/2006/main">
              <a:ext uri="{FF2B5EF4-FFF2-40B4-BE49-F238E27FC236}">
                <a16:creationId xmlns:a16="http://schemas.microsoft.com/office/drawing/2014/main" id="{78F62E56-55F0-4BF5-B0A6-43A27CBEDF83}"/>
              </a:ext>
            </a:extLst>
          </p:cNvPr>
          <p:cNvSpPr>
            <a:spLocks xmlns:a="http://schemas.openxmlformats.org/drawingml/2006/main" noGrp="1"/>
          </p:cNvSpPr>
          <p:nvPr/>
        </p:nvSpPr>
        <p:spPr>
          <a:xfrm xmlns:a="http://schemas.openxmlformats.org/drawingml/2006/main">
            <a:off x="2743200" y="1600200"/>
            <a:ext cx="209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ATTRSVC</a:t>
            </a:r>
          </a:p>
        </p:txBody>
      </p:sp>
      <p:sp>
        <p:nvSpPr>
          <p:cNvPr id="7" name="arrow-514-170">
            <a:extLst xmlns:a="http://schemas.openxmlformats.org/drawingml/2006/main">
              <a:ext uri="{FF2B5EF4-FFF2-40B4-BE49-F238E27FC236}">
                <a16:creationId xmlns:a16="http://schemas.microsoft.com/office/drawing/2014/main" id="{0DC265A1-9463-4855-873D-E309B86EA660}"/>
              </a:ext>
            </a:extLst>
          </p:cNvPr>
          <p:cNvSpPr>
            <a:spLocks xmlns:a="http://schemas.openxmlformats.org/drawingml/2006/main" noGrp="1"/>
          </p:cNvSpPr>
          <p:nvPr/>
        </p:nvSpPr>
        <p:spPr>
          <a:xfrm xmlns:a="http://schemas.openxmlformats.org/drawingml/2006/main">
            <a:off x="489585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558-168">
            <a:extLst xmlns:a="http://schemas.openxmlformats.org/drawingml/2006/main">
              <a:ext uri="{FF2B5EF4-FFF2-40B4-BE49-F238E27FC236}">
                <a16:creationId xmlns:a16="http://schemas.microsoft.com/office/drawing/2014/main" id="{82FBAFBB-1CEB-4A73-83B6-BFE4F4A233EE}"/>
              </a:ext>
            </a:extLst>
          </p:cNvPr>
          <p:cNvSpPr>
            <a:spLocks xmlns:a="http://schemas.openxmlformats.org/drawingml/2006/main" noGrp="1"/>
          </p:cNvSpPr>
          <p:nvPr/>
        </p:nvSpPr>
        <p:spPr>
          <a:xfrm xmlns:a="http://schemas.openxmlformats.org/drawingml/2006/main">
            <a:off x="5314950" y="1600200"/>
            <a:ext cx="21336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MCP: LOG ANALYSIS</a:t>
            </a:r>
          </a:p>
        </p:txBody>
      </p:sp>
      <p:sp>
        <p:nvSpPr>
          <p:cNvPr id="9" name="arrow-788-170">
            <a:extLst xmlns:a="http://schemas.openxmlformats.org/drawingml/2006/main">
              <a:ext uri="{FF2B5EF4-FFF2-40B4-BE49-F238E27FC236}">
                <a16:creationId xmlns:a16="http://schemas.microsoft.com/office/drawing/2014/main" id="{27BAD463-5A42-44D2-AA51-FA4C1F11166A}"/>
              </a:ext>
            </a:extLst>
          </p:cNvPr>
          <p:cNvSpPr>
            <a:spLocks xmlns:a="http://schemas.openxmlformats.org/drawingml/2006/main" noGrp="1"/>
          </p:cNvSpPr>
          <p:nvPr/>
        </p:nvSpPr>
        <p:spPr>
          <a:xfrm xmlns:a="http://schemas.openxmlformats.org/drawingml/2006/main">
            <a:off x="75057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832-168">
            <a:extLst xmlns:a="http://schemas.openxmlformats.org/drawingml/2006/main">
              <a:ext uri="{FF2B5EF4-FFF2-40B4-BE49-F238E27FC236}">
                <a16:creationId xmlns:a16="http://schemas.microsoft.com/office/drawing/2014/main" id="{09A1E003-46A4-4B36-91C7-95414EDE0162}"/>
              </a:ext>
            </a:extLst>
          </p:cNvPr>
          <p:cNvSpPr>
            <a:spLocks xmlns:a="http://schemas.openxmlformats.org/drawingml/2006/main" noGrp="1"/>
          </p:cNvSpPr>
          <p:nvPr/>
        </p:nvSpPr>
        <p:spPr>
          <a:xfrm xmlns:a="http://schemas.openxmlformats.org/drawingml/2006/main">
            <a:off x="7924800" y="1600200"/>
            <a:ext cx="3429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NVRx DECISION</a:t>
            </a:r>
          </a:p>
        </p:txBody>
      </p:sp>
      <p:sp>
        <p:nvSpPr>
          <p:cNvPr id="11" name="box-62-228">
            <a:extLst xmlns:a="http://schemas.openxmlformats.org/drawingml/2006/main">
              <a:ext uri="{FF2B5EF4-FFF2-40B4-BE49-F238E27FC236}">
                <a16:creationId xmlns:a16="http://schemas.microsoft.com/office/drawing/2014/main" id="{395A74B4-5D3B-4EDE-A24B-5D70C0961FA6}"/>
              </a:ext>
            </a:extLst>
          </p:cNvPr>
          <p:cNvSpPr>
            <a:spLocks xmlns:a="http://schemas.openxmlformats.org/drawingml/2006/main" noGrp="1"/>
          </p:cNvSpPr>
          <p:nvPr/>
        </p:nvSpPr>
        <p:spPr>
          <a:xfrm xmlns:a="http://schemas.openxmlformats.org/drawingml/2006/main">
            <a:off x="590550" y="2171700"/>
            <a:ext cx="31623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2" name="text-82-250">
            <a:extLst xmlns:a="http://schemas.openxmlformats.org/drawingml/2006/main">
              <a:ext uri="{FF2B5EF4-FFF2-40B4-BE49-F238E27FC236}">
                <a16:creationId xmlns:a16="http://schemas.microsoft.com/office/drawing/2014/main" id="{1DF51230-E9D0-4ECB-AD5E-FF3619A866E6}"/>
              </a:ext>
            </a:extLst>
          </p:cNvPr>
          <p:cNvSpPr>
            <a:spLocks xmlns:a="http://schemas.openxmlformats.org/drawingml/2006/main" noGrp="1"/>
          </p:cNvSpPr>
          <p:nvPr/>
        </p:nvSpPr>
        <p:spPr>
          <a:xfrm xmlns:a="http://schemas.openxmlformats.org/drawingml/2006/main">
            <a:off x="781050" y="2381250"/>
            <a:ext cx="27813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NVRx sends</a:t>
            </a:r>
          </a:p>
        </p:txBody>
      </p:sp>
      <p:sp>
        <p:nvSpPr>
          <p:cNvPr id="13" name="text-82-310">
            <a:extLst xmlns:a="http://schemas.openxmlformats.org/drawingml/2006/main">
              <a:ext uri="{FF2B5EF4-FFF2-40B4-BE49-F238E27FC236}">
                <a16:creationId xmlns:a16="http://schemas.microsoft.com/office/drawing/2014/main" id="{5E1B19B2-D558-4267-9A43-328298658A0B}"/>
              </a:ext>
            </a:extLst>
          </p:cNvPr>
          <p:cNvSpPr>
            <a:spLocks xmlns:a="http://schemas.openxmlformats.org/drawingml/2006/main" noGrp="1"/>
          </p:cNvSpPr>
          <p:nvPr/>
        </p:nvSpPr>
        <p:spPr>
          <a:xfrm xmlns:a="http://schemas.openxmlformats.org/drawingml/2006/main">
            <a:off x="7810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Cycle lifecycle + restart context</a:t>
            </a:r>
          </a:p>
        </p:txBody>
      </p:sp>
      <p:sp>
        <p:nvSpPr>
          <p:cNvPr id="14" name="dot-82-362">
            <a:extLst xmlns:a="http://schemas.openxmlformats.org/drawingml/2006/main">
              <a:ext uri="{FF2B5EF4-FFF2-40B4-BE49-F238E27FC236}">
                <a16:creationId xmlns:a16="http://schemas.microsoft.com/office/drawing/2014/main" id="{68AAB549-B5B2-42FD-A23C-B5D2D4337F38}"/>
              </a:ext>
            </a:extLst>
          </p:cNvPr>
          <p:cNvSpPr>
            <a:spLocks xmlns:a="http://schemas.openxmlformats.org/drawingml/2006/main" noGrp="1"/>
          </p:cNvSpPr>
          <p:nvPr/>
        </p:nvSpPr>
        <p:spPr>
          <a:xfrm xmlns:a="http://schemas.openxmlformats.org/drawingml/2006/main">
            <a:off x="7810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2-354">
            <a:extLst xmlns:a="http://schemas.openxmlformats.org/drawingml/2006/main">
              <a:ext uri="{FF2B5EF4-FFF2-40B4-BE49-F238E27FC236}">
                <a16:creationId xmlns:a16="http://schemas.microsoft.com/office/drawing/2014/main" id="{9CA6E212-9295-476D-BFD7-D28BF629A025}"/>
              </a:ext>
            </a:extLst>
          </p:cNvPr>
          <p:cNvSpPr>
            <a:spLocks xmlns:a="http://schemas.openxmlformats.org/drawingml/2006/main" noGrp="1"/>
          </p:cNvSpPr>
          <p:nvPr/>
        </p:nvSpPr>
        <p:spPr>
          <a:xfrm xmlns:a="http://schemas.openxmlformats.org/drawingml/2006/main">
            <a:off x="9715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Cycle start/end + result probes</a:t>
            </a:r>
          </a:p>
        </p:txBody>
      </p:sp>
      <p:sp>
        <p:nvSpPr>
          <p:cNvPr id="16" name="dot-82-416">
            <a:extLst xmlns:a="http://schemas.openxmlformats.org/drawingml/2006/main">
              <a:ext uri="{FF2B5EF4-FFF2-40B4-BE49-F238E27FC236}">
                <a16:creationId xmlns:a16="http://schemas.microsoft.com/office/drawing/2014/main" id="{3729A78D-A319-40E0-B9DF-A3E8F5CE4AE7}"/>
              </a:ext>
            </a:extLst>
          </p:cNvPr>
          <p:cNvSpPr>
            <a:spLocks xmlns:a="http://schemas.openxmlformats.org/drawingml/2006/main" noGrp="1"/>
          </p:cNvSpPr>
          <p:nvPr/>
        </p:nvSpPr>
        <p:spPr>
          <a:xfrm xmlns:a="http://schemas.openxmlformats.org/drawingml/2006/main">
            <a:off x="7810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102-408">
            <a:extLst xmlns:a="http://schemas.openxmlformats.org/drawingml/2006/main">
              <a:ext uri="{FF2B5EF4-FFF2-40B4-BE49-F238E27FC236}">
                <a16:creationId xmlns:a16="http://schemas.microsoft.com/office/drawing/2014/main" id="{A6477598-51D1-4C66-B090-A033E20E4995}"/>
              </a:ext>
            </a:extLst>
          </p:cNvPr>
          <p:cNvSpPr>
            <a:spLocks xmlns:a="http://schemas.openxmlformats.org/drawingml/2006/main" noGrp="1"/>
          </p:cNvSpPr>
          <p:nvPr/>
        </p:nvSpPr>
        <p:spPr>
          <a:xfrm xmlns:a="http://schemas.openxmlformats.org/drawingml/2006/main">
            <a:off x="9715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Unique log path + job/cycle identity</a:t>
            </a:r>
          </a:p>
        </p:txBody>
      </p:sp>
      <p:sp>
        <p:nvSpPr>
          <p:cNvPr id="18" name="dot-82-470">
            <a:extLst xmlns:a="http://schemas.openxmlformats.org/drawingml/2006/main">
              <a:ext uri="{FF2B5EF4-FFF2-40B4-BE49-F238E27FC236}">
                <a16:creationId xmlns:a16="http://schemas.microsoft.com/office/drawing/2014/main" id="{97C62568-0B41-452D-B123-73FCC3FE3E0C}"/>
              </a:ext>
            </a:extLst>
          </p:cNvPr>
          <p:cNvSpPr>
            <a:spLocks xmlns:a="http://schemas.openxmlformats.org/drawingml/2006/main" noGrp="1"/>
          </p:cNvSpPr>
          <p:nvPr/>
        </p:nvSpPr>
        <p:spPr>
          <a:xfrm xmlns:a="http://schemas.openxmlformats.org/drawingml/2006/main">
            <a:off x="7810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102-462">
            <a:extLst xmlns:a="http://schemas.openxmlformats.org/drawingml/2006/main">
              <a:ext uri="{FF2B5EF4-FFF2-40B4-BE49-F238E27FC236}">
                <a16:creationId xmlns:a16="http://schemas.microsoft.com/office/drawing/2014/main" id="{1AE84897-7006-4F8C-BBFA-7B87792648E5}"/>
              </a:ext>
            </a:extLst>
          </p:cNvPr>
          <p:cNvSpPr>
            <a:spLocks xmlns:a="http://schemas.openxmlformats.org/drawingml/2006/main" noGrp="1"/>
          </p:cNvSpPr>
          <p:nvPr/>
        </p:nvSpPr>
        <p:spPr>
          <a:xfrm xmlns:a="http://schemas.openxmlformats.org/drawingml/2006/main">
            <a:off x="9715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Caller-owned decision deadline</a:t>
            </a:r>
          </a:p>
        </p:txBody>
      </p:sp>
      <p:sp>
        <p:nvSpPr>
          <p:cNvPr id="20" name="box-434-228">
            <a:extLst xmlns:a="http://schemas.openxmlformats.org/drawingml/2006/main">
              <a:ext uri="{FF2B5EF4-FFF2-40B4-BE49-F238E27FC236}">
                <a16:creationId xmlns:a16="http://schemas.microsoft.com/office/drawing/2014/main" id="{C18E8717-5015-47D5-A0C5-8927B47AD929}"/>
              </a:ext>
            </a:extLst>
          </p:cNvPr>
          <p:cNvSpPr>
            <a:spLocks xmlns:a="http://schemas.openxmlformats.org/drawingml/2006/main" noGrp="1"/>
          </p:cNvSpPr>
          <p:nvPr/>
        </p:nvSpPr>
        <p:spPr>
          <a:xfrm xmlns:a="http://schemas.openxmlformats.org/drawingml/2006/main">
            <a:off x="41338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454-250">
            <a:extLst xmlns:a="http://schemas.openxmlformats.org/drawingml/2006/main">
              <a:ext uri="{FF2B5EF4-FFF2-40B4-BE49-F238E27FC236}">
                <a16:creationId xmlns:a16="http://schemas.microsoft.com/office/drawing/2014/main" id="{4A64CE5D-113E-4D9E-9862-3E8BAC75122A}"/>
              </a:ext>
            </a:extLst>
          </p:cNvPr>
          <p:cNvSpPr>
            <a:spLocks xmlns:a="http://schemas.openxmlformats.org/drawingml/2006/main" noGrp="1"/>
          </p:cNvSpPr>
          <p:nvPr/>
        </p:nvSpPr>
        <p:spPr>
          <a:xfrm xmlns:a="http://schemas.openxmlformats.org/drawingml/2006/main">
            <a:off x="4324350" y="2381250"/>
            <a:ext cx="2781300" cy="514350"/>
          </a:xfrm>
          <a:prstGeom xmlns:a="http://schemas.openxmlformats.org/drawingml/2006/main" prst="rect">
            <a:avLst/>
          </a:prstGeom>
        </p:spPr>
        <p:txBody>
          <a:bodyPr xmlns:a="http://schemas.openxmlformats.org/drawingml/2006/main" wrap="square" lIns="0" tIns="0" rIns="0" bIns="0" anchor="t">
            <a:normAutofit fontScale="100000" lnSpcReduction="1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attrsvc coordinates</a:t>
            </a:r>
          </a:p>
        </p:txBody>
      </p:sp>
      <p:sp>
        <p:nvSpPr>
          <p:cNvPr id="22" name="text-454-310">
            <a:extLst xmlns:a="http://schemas.openxmlformats.org/drawingml/2006/main">
              <a:ext uri="{FF2B5EF4-FFF2-40B4-BE49-F238E27FC236}">
                <a16:creationId xmlns:a16="http://schemas.microsoft.com/office/drawing/2014/main" id="{FD2180B6-9D2C-4A94-BB6F-3360EEADD78E}"/>
              </a:ext>
            </a:extLst>
          </p:cNvPr>
          <p:cNvSpPr>
            <a:spLocks xmlns:a="http://schemas.openxmlformats.org/drawingml/2006/main" noGrp="1"/>
          </p:cNvSpPr>
          <p:nvPr/>
        </p:nvSpPr>
        <p:spPr>
          <a:xfrm xmlns:a="http://schemas.openxmlformats.org/drawingml/2006/main">
            <a:off x="43243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Service lifecycle around the analyzer</a:t>
            </a:r>
          </a:p>
        </p:txBody>
      </p:sp>
      <p:sp>
        <p:nvSpPr>
          <p:cNvPr id="23" name="dot-454-362">
            <a:extLst xmlns:a="http://schemas.openxmlformats.org/drawingml/2006/main">
              <a:ext uri="{FF2B5EF4-FFF2-40B4-BE49-F238E27FC236}">
                <a16:creationId xmlns:a16="http://schemas.microsoft.com/office/drawing/2014/main" id="{2B5ABAAE-328B-43DB-BB67-B19F6355BBF4}"/>
              </a:ext>
            </a:extLst>
          </p:cNvPr>
          <p:cNvSpPr>
            <a:spLocks xmlns:a="http://schemas.openxmlformats.org/drawingml/2006/main" noGrp="1"/>
          </p:cNvSpPr>
          <p:nvPr/>
        </p:nvSpPr>
        <p:spPr>
          <a:xfrm xmlns:a="http://schemas.openxmlformats.org/drawingml/2006/main">
            <a:off x="43243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text-474-354">
            <a:extLst xmlns:a="http://schemas.openxmlformats.org/drawingml/2006/main">
              <a:ext uri="{FF2B5EF4-FFF2-40B4-BE49-F238E27FC236}">
                <a16:creationId xmlns:a16="http://schemas.microsoft.com/office/drawing/2014/main" id="{9CC8E4EF-4C62-4E65-A043-4EB6C61778AB}"/>
              </a:ext>
            </a:extLst>
          </p:cNvPr>
          <p:cNvSpPr>
            <a:spLocks xmlns:a="http://schemas.openxmlformats.org/drawingml/2006/main" noGrp="1"/>
          </p:cNvSpPr>
          <p:nvPr/>
        </p:nvSpPr>
        <p:spPr>
          <a:xfrm xmlns:a="http://schemas.openxmlformats.org/drawingml/2006/main">
            <a:off x="45148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Per-cycle readiness + retained state</a:t>
            </a:r>
          </a:p>
        </p:txBody>
      </p:sp>
      <p:sp>
        <p:nvSpPr>
          <p:cNvPr id="25" name="dot-454-416">
            <a:extLst xmlns:a="http://schemas.openxmlformats.org/drawingml/2006/main">
              <a:ext uri="{FF2B5EF4-FFF2-40B4-BE49-F238E27FC236}">
                <a16:creationId xmlns:a16="http://schemas.microsoft.com/office/drawing/2014/main" id="{CBBD01F2-9E0B-4739-BF76-7F02F9DB340D}"/>
              </a:ext>
            </a:extLst>
          </p:cNvPr>
          <p:cNvSpPr>
            <a:spLocks xmlns:a="http://schemas.openxmlformats.org/drawingml/2006/main" noGrp="1"/>
          </p:cNvSpPr>
          <p:nvPr/>
        </p:nvSpPr>
        <p:spPr>
          <a:xfrm xmlns:a="http://schemas.openxmlformats.org/drawingml/2006/main">
            <a:off x="43243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474-408">
            <a:extLst xmlns:a="http://schemas.openxmlformats.org/drawingml/2006/main">
              <a:ext uri="{FF2B5EF4-FFF2-40B4-BE49-F238E27FC236}">
                <a16:creationId xmlns:a16="http://schemas.microsoft.com/office/drawing/2014/main" id="{1494D069-AB8A-4A24-9766-4E838433FEEA}"/>
              </a:ext>
            </a:extLst>
          </p:cNvPr>
          <p:cNvSpPr>
            <a:spLocks xmlns:a="http://schemas.openxmlformats.org/drawingml/2006/main" noGrp="1"/>
          </p:cNvSpPr>
          <p:nvPr/>
        </p:nvSpPr>
        <p:spPr>
          <a:xfrm xmlns:a="http://schemas.openxmlformats.org/drawingml/2006/main">
            <a:off x="45148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Compact prior-attempt history</a:t>
            </a:r>
          </a:p>
        </p:txBody>
      </p:sp>
      <p:sp>
        <p:nvSpPr>
          <p:cNvPr id="27" name="dot-454-470">
            <a:extLst xmlns:a="http://schemas.openxmlformats.org/drawingml/2006/main">
              <a:ext uri="{FF2B5EF4-FFF2-40B4-BE49-F238E27FC236}">
                <a16:creationId xmlns:a16="http://schemas.microsoft.com/office/drawing/2014/main" id="{EDCB2778-EADA-461E-973D-2465A5F347BF}"/>
              </a:ext>
            </a:extLst>
          </p:cNvPr>
          <p:cNvSpPr>
            <a:spLocks xmlns:a="http://schemas.openxmlformats.org/drawingml/2006/main" noGrp="1"/>
          </p:cNvSpPr>
          <p:nvPr/>
        </p:nvSpPr>
        <p:spPr>
          <a:xfrm xmlns:a="http://schemas.openxmlformats.org/drawingml/2006/main">
            <a:off x="43243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474-462">
            <a:extLst xmlns:a="http://schemas.openxmlformats.org/drawingml/2006/main">
              <a:ext uri="{FF2B5EF4-FFF2-40B4-BE49-F238E27FC236}">
                <a16:creationId xmlns:a16="http://schemas.microsoft.com/office/drawing/2014/main" id="{D2FDBF89-79F2-4F08-8459-5343202244D4}"/>
              </a:ext>
            </a:extLst>
          </p:cNvPr>
          <p:cNvSpPr>
            <a:spLocks xmlns:a="http://schemas.openxmlformats.org/drawingml/2006/main" noGrp="1"/>
          </p:cNvSpPr>
          <p:nvPr/>
        </p:nvSpPr>
        <p:spPr>
          <a:xfrm xmlns:a="http://schemas.openxmlformats.org/drawingml/2006/main">
            <a:off x="45148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Deadline-aware result publication</a:t>
            </a:r>
          </a:p>
        </p:txBody>
      </p:sp>
      <p:sp>
        <p:nvSpPr>
          <p:cNvPr id="29" name="box-806-228">
            <a:extLst xmlns:a="http://schemas.openxmlformats.org/drawingml/2006/main">
              <a:ext uri="{FF2B5EF4-FFF2-40B4-BE49-F238E27FC236}">
                <a16:creationId xmlns:a16="http://schemas.microsoft.com/office/drawing/2014/main" id="{16EC43A0-C165-4FC1-8943-192E174D1BBC}"/>
              </a:ext>
            </a:extLst>
          </p:cNvPr>
          <p:cNvSpPr>
            <a:spLocks xmlns:a="http://schemas.openxmlformats.org/drawingml/2006/main" noGrp="1"/>
          </p:cNvSpPr>
          <p:nvPr/>
        </p:nvSpPr>
        <p:spPr>
          <a:xfrm xmlns:a="http://schemas.openxmlformats.org/drawingml/2006/main">
            <a:off x="76771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30" name="text-826-250">
            <a:extLst xmlns:a="http://schemas.openxmlformats.org/drawingml/2006/main">
              <a:ext uri="{FF2B5EF4-FFF2-40B4-BE49-F238E27FC236}">
                <a16:creationId xmlns:a16="http://schemas.microsoft.com/office/drawing/2014/main" id="{63C996DE-9285-43D2-877E-E4A36953608D}"/>
              </a:ext>
            </a:extLst>
          </p:cNvPr>
          <p:cNvSpPr>
            <a:spLocks xmlns:a="http://schemas.openxmlformats.org/drawingml/2006/main" noGrp="1"/>
          </p:cNvSpPr>
          <p:nvPr/>
        </p:nvSpPr>
        <p:spPr>
          <a:xfrm xmlns:a="http://schemas.openxmlformats.org/drawingml/2006/main">
            <a:off x="7867650" y="2381250"/>
            <a:ext cx="2781300" cy="514350"/>
          </a:xfrm>
          <a:prstGeom xmlns:a="http://schemas.openxmlformats.org/drawingml/2006/main" prst="rect">
            <a:avLst/>
          </a:prstGeom>
        </p:spPr>
        <p:txBody>
          <a:bodyPr xmlns:a="http://schemas.openxmlformats.org/drawingml/2006/main" wrap="square" lIns="0" tIns="0" rIns="0" bIns="0" anchor="t">
            <a:normAutofit fontScale="97826"/>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MCP log analysis returns</a:t>
            </a:r>
          </a:p>
        </p:txBody>
      </p:sp>
      <p:sp>
        <p:nvSpPr>
          <p:cNvPr id="31" name="text-826-310">
            <a:extLst xmlns:a="http://schemas.openxmlformats.org/drawingml/2006/main">
              <a:ext uri="{FF2B5EF4-FFF2-40B4-BE49-F238E27FC236}">
                <a16:creationId xmlns:a16="http://schemas.microsoft.com/office/drawing/2014/main" id="{B9CD621D-79C4-4765-99E5-90F20A1E69EB}"/>
              </a:ext>
            </a:extLst>
          </p:cNvPr>
          <p:cNvSpPr>
            <a:spLocks xmlns:a="http://schemas.openxmlformats.org/drawingml/2006/main" noGrp="1"/>
          </p:cNvSpPr>
          <p:nvPr/>
        </p:nvSpPr>
        <p:spPr>
          <a:xfrm xmlns:a="http://schemas.openxmlformats.org/drawingml/2006/main">
            <a:off x="7867650" y="2952750"/>
            <a:ext cx="2781300" cy="228600"/>
          </a:xfrm>
          <a:prstGeom xmlns:a="http://schemas.openxmlformats.org/drawingml/2006/main" prst="rect">
            <a:avLst/>
          </a:prstGeom>
        </p:spPr>
        <p:txBody>
          <a:bodyPr xmlns:a="http://schemas.openxmlformats.org/drawingml/2006/main" wrap="square" lIns="0" tIns="0" rIns="0" bIns="0" anchor="t">
            <a:normAutofit fontScale="99634"/>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Same restart-agent core and schemas</a:t>
            </a:r>
          </a:p>
        </p:txBody>
      </p:sp>
      <p:sp>
        <p:nvSpPr>
          <p:cNvPr id="32" name="dot-826-362">
            <a:extLst xmlns:a="http://schemas.openxmlformats.org/drawingml/2006/main">
              <a:ext uri="{FF2B5EF4-FFF2-40B4-BE49-F238E27FC236}">
                <a16:creationId xmlns:a16="http://schemas.microsoft.com/office/drawing/2014/main" id="{A4D5F9F5-806C-4E86-98D8-634E9E9775D5}"/>
              </a:ext>
            </a:extLst>
          </p:cNvPr>
          <p:cNvSpPr>
            <a:spLocks xmlns:a="http://schemas.openxmlformats.org/drawingml/2006/main" noGrp="1"/>
          </p:cNvSpPr>
          <p:nvPr/>
        </p:nvSpPr>
        <p:spPr>
          <a:xfrm xmlns:a="http://schemas.openxmlformats.org/drawingml/2006/main">
            <a:off x="78676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46-354">
            <a:extLst xmlns:a="http://schemas.openxmlformats.org/drawingml/2006/main">
              <a:ext uri="{FF2B5EF4-FFF2-40B4-BE49-F238E27FC236}">
                <a16:creationId xmlns:a16="http://schemas.microsoft.com/office/drawing/2014/main" id="{E36A2BDA-007D-4045-81D4-1FA5081557E8}"/>
              </a:ext>
            </a:extLst>
          </p:cNvPr>
          <p:cNvSpPr>
            <a:spLocks xmlns:a="http://schemas.openxmlformats.org/drawingml/2006/main" noGrp="1"/>
          </p:cNvSpPr>
          <p:nvPr/>
        </p:nvSpPr>
        <p:spPr>
          <a:xfrm xmlns:a="http://schemas.openxmlformats.org/drawingml/2006/main">
            <a:off x="80581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Deterministic recommendation available first</a:t>
            </a:r>
          </a:p>
        </p:txBody>
      </p:sp>
      <p:sp>
        <p:nvSpPr>
          <p:cNvPr id="34" name="dot-826-416">
            <a:extLst xmlns:a="http://schemas.openxmlformats.org/drawingml/2006/main">
              <a:ext uri="{FF2B5EF4-FFF2-40B4-BE49-F238E27FC236}">
                <a16:creationId xmlns:a16="http://schemas.microsoft.com/office/drawing/2014/main" id="{7C380AC4-4795-4BB2-A3F8-72DE52309B59}"/>
              </a:ext>
            </a:extLst>
          </p:cNvPr>
          <p:cNvSpPr>
            <a:spLocks xmlns:a="http://schemas.openxmlformats.org/drawingml/2006/main" noGrp="1"/>
          </p:cNvSpPr>
          <p:nvPr/>
        </p:nvSpPr>
        <p:spPr>
          <a:xfrm xmlns:a="http://schemas.openxmlformats.org/drawingml/2006/main">
            <a:off x="78676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5" name="text-846-408">
            <a:extLst xmlns:a="http://schemas.openxmlformats.org/drawingml/2006/main">
              <a:ext uri="{FF2B5EF4-FFF2-40B4-BE49-F238E27FC236}">
                <a16:creationId xmlns:a16="http://schemas.microsoft.com/office/drawing/2014/main" id="{DA96D7C3-76CD-420D-8F07-1CE7E8D23ED5}"/>
              </a:ext>
            </a:extLst>
          </p:cNvPr>
          <p:cNvSpPr>
            <a:spLocks xmlns:a="http://schemas.openxmlformats.org/drawingml/2006/main" noGrp="1"/>
          </p:cNvSpPr>
          <p:nvPr/>
        </p:nvSpPr>
        <p:spPr>
          <a:xfrm xmlns:a="http://schemas.openxmlformats.org/drawingml/2006/main">
            <a:off x="80581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Optional model-enriched result</a:t>
            </a:r>
          </a:p>
        </p:txBody>
      </p:sp>
      <p:sp>
        <p:nvSpPr>
          <p:cNvPr id="36" name="dot-826-470">
            <a:extLst xmlns:a="http://schemas.openxmlformats.org/drawingml/2006/main">
              <a:ext uri="{FF2B5EF4-FFF2-40B4-BE49-F238E27FC236}">
                <a16:creationId xmlns:a16="http://schemas.microsoft.com/office/drawing/2014/main" id="{62124110-26B5-4CA7-BC5C-5D09491EA52E}"/>
              </a:ext>
            </a:extLst>
          </p:cNvPr>
          <p:cNvSpPr>
            <a:spLocks xmlns:a="http://schemas.openxmlformats.org/drawingml/2006/main" noGrp="1"/>
          </p:cNvSpPr>
          <p:nvPr/>
        </p:nvSpPr>
        <p:spPr>
          <a:xfrm xmlns:a="http://schemas.openxmlformats.org/drawingml/2006/main">
            <a:off x="78676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7" name="text-846-462">
            <a:extLst xmlns:a="http://schemas.openxmlformats.org/drawingml/2006/main">
              <a:ext uri="{FF2B5EF4-FFF2-40B4-BE49-F238E27FC236}">
                <a16:creationId xmlns:a16="http://schemas.microsoft.com/office/drawing/2014/main" id="{A6111747-2FEB-4B1F-BDD8-3A25F23F4533}"/>
              </a:ext>
            </a:extLst>
          </p:cNvPr>
          <p:cNvSpPr>
            <a:spLocks xmlns:a="http://schemas.openxmlformats.org/drawingml/2006/main" noGrp="1"/>
          </p:cNvSpPr>
          <p:nvPr/>
        </p:nvSpPr>
        <p:spPr>
          <a:xfrm xmlns:a="http://schemas.openxmlformats.org/drawingml/2006/main">
            <a:off x="80581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STOP / RESTART + provenance + trace</a:t>
            </a:r>
          </a:p>
        </p:txBody>
      </p:sp>
      <p:sp>
        <p:nvSpPr>
          <p:cNvPr id="38" name="box-62-574">
            <a:extLst xmlns:a="http://schemas.openxmlformats.org/drawingml/2006/main">
              <a:ext uri="{FF2B5EF4-FFF2-40B4-BE49-F238E27FC236}">
                <a16:creationId xmlns:a16="http://schemas.microsoft.com/office/drawing/2014/main" id="{6F8D4551-C523-45BB-B880-9B0BCB4F2A00}"/>
              </a:ext>
            </a:extLst>
          </p:cNvPr>
          <p:cNvSpPr>
            <a:spLocks xmlns:a="http://schemas.openxmlformats.org/drawingml/2006/main" noGrp="1"/>
          </p:cNvSpPr>
          <p:nvPr/>
        </p:nvSpPr>
        <p:spPr>
          <a:xfrm xmlns:a="http://schemas.openxmlformats.org/drawingml/2006/main">
            <a:off x="590550" y="5467350"/>
            <a:ext cx="1097280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9" name="text-86-593">
            <a:extLst xmlns:a="http://schemas.openxmlformats.org/drawingml/2006/main">
              <a:ext uri="{FF2B5EF4-FFF2-40B4-BE49-F238E27FC236}">
                <a16:creationId xmlns:a16="http://schemas.microsoft.com/office/drawing/2014/main" id="{6A5F2A43-1399-44A9-9BCD-5851656455F4}"/>
              </a:ext>
            </a:extLst>
          </p:cNvPr>
          <p:cNvSpPr>
            <a:spLocks xmlns:a="http://schemas.openxmlformats.org/drawingml/2006/main" noGrp="1"/>
          </p:cNvSpPr>
          <p:nvPr/>
        </p:nvSpPr>
        <p:spPr>
          <a:xfrm xmlns:a="http://schemas.openxmlformats.org/drawingml/2006/main">
            <a:off x="819150" y="5648325"/>
            <a:ext cx="8763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D7A5B"/>
                </a:solidFill>
                <a:latin typeface="Helvetica Neue"/>
                <a:ea typeface="Helvetica Neue"/>
                <a:cs typeface="Helvetica Neue"/>
              </a:defRPr>
            </a:pPr>
            <a:r>
              <a:t>OUTPUT</a:t>
            </a:r>
          </a:p>
        </p:txBody>
      </p:sp>
      <p:sp>
        <p:nvSpPr>
          <p:cNvPr id="40" name="text-176-593">
            <a:extLst xmlns:a="http://schemas.openxmlformats.org/drawingml/2006/main">
              <a:ext uri="{FF2B5EF4-FFF2-40B4-BE49-F238E27FC236}">
                <a16:creationId xmlns:a16="http://schemas.microsoft.com/office/drawing/2014/main" id="{1390676A-746F-425B-9CB4-2FF15446570C}"/>
              </a:ext>
            </a:extLst>
          </p:cNvPr>
          <p:cNvSpPr>
            <a:spLocks xmlns:a="http://schemas.openxmlformats.org/drawingml/2006/main" noGrp="1"/>
          </p:cNvSpPr>
          <p:nvPr/>
        </p:nvSpPr>
        <p:spPr>
          <a:xfrm xmlns:a="http://schemas.openxmlformats.org/drawingml/2006/main">
            <a:off x="1676400" y="5648325"/>
            <a:ext cx="3905250" cy="228600"/>
          </a:xfrm>
          <a:prstGeom xmlns:a="http://schemas.openxmlformats.org/drawingml/2006/main" prst="rect">
            <a:avLst/>
          </a:prstGeom>
        </p:spPr>
        <p:txBody>
          <a:bodyPr xmlns:a="http://schemas.openxmlformats.org/drawingml/2006/main" wrap="square" lIns="0" tIns="0" rIns="0" bIns="0" anchor="t">
            <a:normAutofit fontScale="81091"/>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Analyzer result is ready for deadline-aware NVRx consumption</a:t>
            </a:r>
          </a:p>
        </p:txBody>
      </p:sp>
      <p:sp>
        <p:nvSpPr>
          <p:cNvPr id="41" name="text-650-593">
            <a:extLst xmlns:a="http://schemas.openxmlformats.org/drawingml/2006/main">
              <a:ext uri="{FF2B5EF4-FFF2-40B4-BE49-F238E27FC236}">
                <a16:creationId xmlns:a16="http://schemas.microsoft.com/office/drawing/2014/main" id="{78B230B8-BCC1-4534-8E62-AD12DE0FCB0D}"/>
              </a:ext>
            </a:extLst>
          </p:cNvPr>
          <p:cNvSpPr>
            <a:spLocks xmlns:a="http://schemas.openxmlformats.org/drawingml/2006/main" noGrp="1"/>
          </p:cNvSpPr>
          <p:nvPr/>
        </p:nvSpPr>
        <p:spPr>
          <a:xfrm xmlns:a="http://schemas.openxmlformats.org/drawingml/2006/main">
            <a:off x="6191250" y="5648325"/>
            <a:ext cx="10668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B25D00"/>
                </a:solidFill>
                <a:latin typeface="Helvetica Neue"/>
                <a:ea typeface="Helvetica Neue"/>
                <a:cs typeface="Helvetica Neue"/>
              </a:defRPr>
            </a:pPr>
            <a:r>
              <a:t>NOT OWNED</a:t>
            </a:r>
          </a:p>
        </p:txBody>
      </p:sp>
      <p:sp>
        <p:nvSpPr>
          <p:cNvPr id="42" name="text-760-593">
            <a:extLst xmlns:a="http://schemas.openxmlformats.org/drawingml/2006/main">
              <a:ext uri="{FF2B5EF4-FFF2-40B4-BE49-F238E27FC236}">
                <a16:creationId xmlns:a16="http://schemas.microsoft.com/office/drawing/2014/main" id="{D6461CE0-5651-4641-A5AC-13692A7A746A}"/>
              </a:ext>
            </a:extLst>
          </p:cNvPr>
          <p:cNvSpPr>
            <a:spLocks xmlns:a="http://schemas.openxmlformats.org/drawingml/2006/main" noGrp="1"/>
          </p:cNvSpPr>
          <p:nvPr/>
        </p:nvSpPr>
        <p:spPr>
          <a:xfrm xmlns:a="http://schemas.openxmlformats.org/drawingml/2006/main">
            <a:off x="7239000" y="5648325"/>
            <a:ext cx="40576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00000"/>
                </a:solidFill>
                <a:latin typeface="Helvetica Neue"/>
                <a:ea typeface="Helvetica Neue"/>
                <a:cs typeface="Helvetica Neue"/>
              </a:defRPr>
            </a:pPr>
            <a:r>
              <a:t>Restart execution and cycle closure remain in NVRx</a:t>
            </a:r>
          </a:p>
        </p:txBody>
      </p:sp>
    </p:spTree>
    <p:extLst>
      <p:ext uri="{BB962C8B-B14F-4D97-AF65-F5344CB8AC3E}">
        <p14:creationId xmlns:p14="http://schemas.microsoft.com/office/powerpoint/2010/main" val="15235058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42-26">
            <a:extLst xmlns:a="http://schemas.openxmlformats.org/drawingml/2006/main">
              <a:ext uri="{FF2B5EF4-FFF2-40B4-BE49-F238E27FC236}">
                <a16:creationId xmlns:a16="http://schemas.microsoft.com/office/drawing/2014/main" id="{4FC3E6C8-B298-4DAE-91A1-A158AE942B0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RUNTIME PRODUCT</a:t>
            </a:r>
          </a:p>
        </p:txBody>
      </p:sp>
      <p:sp>
        <p:nvSpPr>
          <p:cNvPr id="2" name="text-42-54">
            <a:extLst xmlns:a="http://schemas.openxmlformats.org/drawingml/2006/main">
              <a:ext uri="{FF2B5EF4-FFF2-40B4-BE49-F238E27FC236}">
                <a16:creationId xmlns:a16="http://schemas.microsoft.com/office/drawing/2014/main" id="{7BF29FF6-DBD1-4B0C-86BA-BEEA5D588FA2}"/>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A failure signal is not yet a restart decision</a:t>
            </a:r>
          </a:p>
        </p:txBody>
      </p:sp>
      <p:sp>
        <p:nvSpPr>
          <p:cNvPr id="3" name="line-42-133">
            <a:extLst xmlns:a="http://schemas.openxmlformats.org/drawingml/2006/main">
              <a:ext uri="{FF2B5EF4-FFF2-40B4-BE49-F238E27FC236}">
                <a16:creationId xmlns:a16="http://schemas.microsoft.com/office/drawing/2014/main" id="{D094CF87-A2A1-4974-A6E8-AA4F08789507}"/>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line-86-356">
            <a:extLst xmlns:a="http://schemas.openxmlformats.org/drawingml/2006/main">
              <a:ext uri="{FF2B5EF4-FFF2-40B4-BE49-F238E27FC236}">
                <a16:creationId xmlns:a16="http://schemas.microsoft.com/office/drawing/2014/main" id="{06AD810C-431A-4732-87B7-5066A8E69446}"/>
              </a:ext>
            </a:extLst>
          </p:cNvPr>
          <p:cNvSpPr>
            <a:spLocks xmlns:a="http://schemas.openxmlformats.org/drawingml/2006/main" noGrp="1"/>
          </p:cNvSpPr>
          <p:nvPr/>
        </p:nvSpPr>
        <p:spPr>
          <a:xfrm xmlns:a="http://schemas.openxmlformats.org/drawingml/2006/main">
            <a:off x="819150" y="3390900"/>
            <a:ext cx="9620250" cy="190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5" name="dot-96-348">
            <a:extLst xmlns:a="http://schemas.openxmlformats.org/drawingml/2006/main">
              <a:ext uri="{FF2B5EF4-FFF2-40B4-BE49-F238E27FC236}">
                <a16:creationId xmlns:a16="http://schemas.microsoft.com/office/drawing/2014/main" id="{5926DD11-ED05-422C-8763-48B60D23E8D0}"/>
              </a:ext>
            </a:extLst>
          </p:cNvPr>
          <p:cNvSpPr>
            <a:spLocks xmlns:a="http://schemas.openxmlformats.org/drawingml/2006/main" noGrp="1"/>
          </p:cNvSpPr>
          <p:nvPr/>
        </p:nvSpPr>
        <p:spPr>
          <a:xfrm xmlns:a="http://schemas.openxmlformats.org/drawingml/2006/main">
            <a:off x="914400" y="3314700"/>
            <a:ext cx="114300" cy="1143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6" name="text-88-285">
            <a:extLst xmlns:a="http://schemas.openxmlformats.org/drawingml/2006/main">
              <a:ext uri="{FF2B5EF4-FFF2-40B4-BE49-F238E27FC236}">
                <a16:creationId xmlns:a16="http://schemas.microsoft.com/office/drawing/2014/main" id="{0F9407DE-6BAE-4CE8-AB96-E9C7DCB866F4}"/>
              </a:ext>
            </a:extLst>
          </p:cNvPr>
          <p:cNvSpPr>
            <a:spLocks xmlns:a="http://schemas.openxmlformats.org/drawingml/2006/main" noGrp="1"/>
          </p:cNvSpPr>
          <p:nvPr/>
        </p:nvSpPr>
        <p:spPr>
          <a:xfrm xmlns:a="http://schemas.openxmlformats.org/drawingml/2006/main">
            <a:off x="838200" y="2714625"/>
            <a:ext cx="17145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Progress</a:t>
            </a:r>
          </a:p>
        </p:txBody>
      </p:sp>
      <p:sp>
        <p:nvSpPr>
          <p:cNvPr id="7" name="text-88-392">
            <a:extLst xmlns:a="http://schemas.openxmlformats.org/drawingml/2006/main">
              <a:ext uri="{FF2B5EF4-FFF2-40B4-BE49-F238E27FC236}">
                <a16:creationId xmlns:a16="http://schemas.microsoft.com/office/drawing/2014/main" id="{3A6CED4B-9B93-413F-BF59-9212DCD113B0}"/>
              </a:ext>
            </a:extLst>
          </p:cNvPr>
          <p:cNvSpPr>
            <a:spLocks xmlns:a="http://schemas.openxmlformats.org/drawingml/2006/main" noGrp="1"/>
          </p:cNvSpPr>
          <p:nvPr/>
        </p:nvSpPr>
        <p:spPr>
          <a:xfrm xmlns:a="http://schemas.openxmlformats.org/drawingml/2006/main">
            <a:off x="838200" y="3733800"/>
            <a:ext cx="1828800" cy="685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Iterations and checkpoints advance</a:t>
            </a:r>
          </a:p>
        </p:txBody>
      </p:sp>
      <p:sp>
        <p:nvSpPr>
          <p:cNvPr id="8" name="dot-344-348">
            <a:extLst xmlns:a="http://schemas.openxmlformats.org/drawingml/2006/main">
              <a:ext uri="{FF2B5EF4-FFF2-40B4-BE49-F238E27FC236}">
                <a16:creationId xmlns:a16="http://schemas.microsoft.com/office/drawing/2014/main" id="{A7D6BA5C-8B72-45DD-BE95-726E49F6E854}"/>
              </a:ext>
            </a:extLst>
          </p:cNvPr>
          <p:cNvSpPr>
            <a:spLocks xmlns:a="http://schemas.openxmlformats.org/drawingml/2006/main" noGrp="1"/>
          </p:cNvSpPr>
          <p:nvPr/>
        </p:nvSpPr>
        <p:spPr>
          <a:xfrm xmlns:a="http://schemas.openxmlformats.org/drawingml/2006/main">
            <a:off x="3276600" y="3314700"/>
            <a:ext cx="114300" cy="1143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9" name="text-336-285">
            <a:extLst xmlns:a="http://schemas.openxmlformats.org/drawingml/2006/main">
              <a:ext uri="{FF2B5EF4-FFF2-40B4-BE49-F238E27FC236}">
                <a16:creationId xmlns:a16="http://schemas.microsoft.com/office/drawing/2014/main" id="{AA77D311-EE5E-4073-9724-9D5E400B5E8B}"/>
              </a:ext>
            </a:extLst>
          </p:cNvPr>
          <p:cNvSpPr>
            <a:spLocks xmlns:a="http://schemas.openxmlformats.org/drawingml/2006/main" noGrp="1"/>
          </p:cNvSpPr>
          <p:nvPr/>
        </p:nvSpPr>
        <p:spPr>
          <a:xfrm xmlns:a="http://schemas.openxmlformats.org/drawingml/2006/main">
            <a:off x="3200400" y="2714625"/>
            <a:ext cx="17145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First fault</a:t>
            </a:r>
          </a:p>
        </p:txBody>
      </p:sp>
      <p:sp>
        <p:nvSpPr>
          <p:cNvPr id="10" name="text-336-392">
            <a:extLst xmlns:a="http://schemas.openxmlformats.org/drawingml/2006/main">
              <a:ext uri="{FF2B5EF4-FFF2-40B4-BE49-F238E27FC236}">
                <a16:creationId xmlns:a16="http://schemas.microsoft.com/office/drawing/2014/main" id="{2AD2E245-55F7-4A0B-86BF-67E48315BDDB}"/>
              </a:ext>
            </a:extLst>
          </p:cNvPr>
          <p:cNvSpPr>
            <a:spLocks xmlns:a="http://schemas.openxmlformats.org/drawingml/2006/main" noGrp="1"/>
          </p:cNvSpPr>
          <p:nvPr/>
        </p:nvSpPr>
        <p:spPr>
          <a:xfrm xmlns:a="http://schemas.openxmlformats.org/drawingml/2006/main">
            <a:off x="3200400" y="3733800"/>
            <a:ext cx="1828800" cy="685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May recover or may be initiating</a:t>
            </a:r>
          </a:p>
        </p:txBody>
      </p:sp>
      <p:sp>
        <p:nvSpPr>
          <p:cNvPr id="11" name="dot-598-348">
            <a:extLst xmlns:a="http://schemas.openxmlformats.org/drawingml/2006/main">
              <a:ext uri="{FF2B5EF4-FFF2-40B4-BE49-F238E27FC236}">
                <a16:creationId xmlns:a16="http://schemas.microsoft.com/office/drawing/2014/main" id="{4B3C0EAF-A7FE-4FA2-8B42-11834A0CEA20}"/>
              </a:ext>
            </a:extLst>
          </p:cNvPr>
          <p:cNvSpPr>
            <a:spLocks xmlns:a="http://schemas.openxmlformats.org/drawingml/2006/main" noGrp="1"/>
          </p:cNvSpPr>
          <p:nvPr/>
        </p:nvSpPr>
        <p:spPr>
          <a:xfrm xmlns:a="http://schemas.openxmlformats.org/drawingml/2006/main">
            <a:off x="5695950" y="3314700"/>
            <a:ext cx="114300" cy="1143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12" name="text-590-285">
            <a:extLst xmlns:a="http://schemas.openxmlformats.org/drawingml/2006/main">
              <a:ext uri="{FF2B5EF4-FFF2-40B4-BE49-F238E27FC236}">
                <a16:creationId xmlns:a16="http://schemas.microsoft.com/office/drawing/2014/main" id="{95E9C616-7D98-4E13-B248-A2CEFF5B3C64}"/>
              </a:ext>
            </a:extLst>
          </p:cNvPr>
          <p:cNvSpPr>
            <a:spLocks xmlns:a="http://schemas.openxmlformats.org/drawingml/2006/main" noGrp="1"/>
          </p:cNvSpPr>
          <p:nvPr/>
        </p:nvSpPr>
        <p:spPr>
          <a:xfrm xmlns:a="http://schemas.openxmlformats.org/drawingml/2006/main">
            <a:off x="5619750" y="2714625"/>
            <a:ext cx="17145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Rank cascades</a:t>
            </a:r>
          </a:p>
        </p:txBody>
      </p:sp>
      <p:sp>
        <p:nvSpPr>
          <p:cNvPr id="13" name="text-590-392">
            <a:extLst xmlns:a="http://schemas.openxmlformats.org/drawingml/2006/main">
              <a:ext uri="{FF2B5EF4-FFF2-40B4-BE49-F238E27FC236}">
                <a16:creationId xmlns:a16="http://schemas.microsoft.com/office/drawing/2014/main" id="{02B58A2B-FC5D-4624-830B-D0677139B171}"/>
              </a:ext>
            </a:extLst>
          </p:cNvPr>
          <p:cNvSpPr>
            <a:spLocks xmlns:a="http://schemas.openxmlformats.org/drawingml/2006/main" noGrp="1"/>
          </p:cNvSpPr>
          <p:nvPr/>
        </p:nvSpPr>
        <p:spPr>
          <a:xfrm xmlns:a="http://schemas.openxmlformats.org/drawingml/2006/main">
            <a:off x="5619750" y="3733800"/>
            <a:ext cx="1828800" cy="685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CUDA / NCCL / teardown repeat</a:t>
            </a:r>
          </a:p>
        </p:txBody>
      </p:sp>
      <p:sp>
        <p:nvSpPr>
          <p:cNvPr id="14" name="dot-844-348">
            <a:extLst xmlns:a="http://schemas.openxmlformats.org/drawingml/2006/main">
              <a:ext uri="{FF2B5EF4-FFF2-40B4-BE49-F238E27FC236}">
                <a16:creationId xmlns:a16="http://schemas.microsoft.com/office/drawing/2014/main" id="{E7488FE7-F87E-466F-871C-3714F13D826A}"/>
              </a:ext>
            </a:extLst>
          </p:cNvPr>
          <p:cNvSpPr>
            <a:spLocks xmlns:a="http://schemas.openxmlformats.org/drawingml/2006/main" noGrp="1"/>
          </p:cNvSpPr>
          <p:nvPr/>
        </p:nvSpPr>
        <p:spPr>
          <a:xfrm xmlns:a="http://schemas.openxmlformats.org/drawingml/2006/main">
            <a:off x="8039100" y="3314700"/>
            <a:ext cx="114300" cy="1143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15" name="text-836-285">
            <a:extLst xmlns:a="http://schemas.openxmlformats.org/drawingml/2006/main">
              <a:ext uri="{FF2B5EF4-FFF2-40B4-BE49-F238E27FC236}">
                <a16:creationId xmlns:a16="http://schemas.microsoft.com/office/drawing/2014/main" id="{175B9EA9-D71B-4C8A-8A46-7A56B78D1579}"/>
              </a:ext>
            </a:extLst>
          </p:cNvPr>
          <p:cNvSpPr>
            <a:spLocks xmlns:a="http://schemas.openxmlformats.org/drawingml/2006/main" noGrp="1"/>
          </p:cNvSpPr>
          <p:nvPr/>
        </p:nvSpPr>
        <p:spPr>
          <a:xfrm xmlns:a="http://schemas.openxmlformats.org/drawingml/2006/main">
            <a:off x="7962900" y="2714625"/>
            <a:ext cx="17145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Cycle ends</a:t>
            </a:r>
          </a:p>
        </p:txBody>
      </p:sp>
      <p:sp>
        <p:nvSpPr>
          <p:cNvPr id="16" name="text-836-392">
            <a:extLst xmlns:a="http://schemas.openxmlformats.org/drawingml/2006/main">
              <a:ext uri="{FF2B5EF4-FFF2-40B4-BE49-F238E27FC236}">
                <a16:creationId xmlns:a16="http://schemas.microsoft.com/office/drawing/2014/main" id="{A4BC7549-AC7B-43E9-91CD-80BB4DBB2F12}"/>
              </a:ext>
            </a:extLst>
          </p:cNvPr>
          <p:cNvSpPr>
            <a:spLocks xmlns:a="http://schemas.openxmlformats.org/drawingml/2006/main" noGrp="1"/>
          </p:cNvSpPr>
          <p:nvPr/>
        </p:nvSpPr>
        <p:spPr>
          <a:xfrm xmlns:a="http://schemas.openxmlformats.org/drawingml/2006/main">
            <a:off x="7962900" y="3733800"/>
            <a:ext cx="1828800" cy="685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Final tail and cancellation arrive</a:t>
            </a:r>
          </a:p>
        </p:txBody>
      </p:sp>
      <p:sp>
        <p:nvSpPr>
          <p:cNvPr id="17" name="dot-1084-348">
            <a:extLst xmlns:a="http://schemas.openxmlformats.org/drawingml/2006/main">
              <a:ext uri="{FF2B5EF4-FFF2-40B4-BE49-F238E27FC236}">
                <a16:creationId xmlns:a16="http://schemas.microsoft.com/office/drawing/2014/main" id="{7E8C6044-B443-4860-BFD9-A43691771D0D}"/>
              </a:ext>
            </a:extLst>
          </p:cNvPr>
          <p:cNvSpPr>
            <a:spLocks xmlns:a="http://schemas.openxmlformats.org/drawingml/2006/main" noGrp="1"/>
          </p:cNvSpPr>
          <p:nvPr/>
        </p:nvSpPr>
        <p:spPr>
          <a:xfrm xmlns:a="http://schemas.openxmlformats.org/drawingml/2006/main">
            <a:off x="10325100" y="3314700"/>
            <a:ext cx="152400" cy="1524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8" name="text-1076-285">
            <a:extLst xmlns:a="http://schemas.openxmlformats.org/drawingml/2006/main">
              <a:ext uri="{FF2B5EF4-FFF2-40B4-BE49-F238E27FC236}">
                <a16:creationId xmlns:a16="http://schemas.microsoft.com/office/drawing/2014/main" id="{8C025AF5-8FA1-41DB-A98C-E6D17AE265C4}"/>
              </a:ext>
            </a:extLst>
          </p:cNvPr>
          <p:cNvSpPr>
            <a:spLocks xmlns:a="http://schemas.openxmlformats.org/drawingml/2006/main" noGrp="1"/>
          </p:cNvSpPr>
          <p:nvPr/>
        </p:nvSpPr>
        <p:spPr>
          <a:xfrm xmlns:a="http://schemas.openxmlformats.org/drawingml/2006/main">
            <a:off x="10248900" y="2714625"/>
            <a:ext cx="17145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NVRx acts</a:t>
            </a:r>
          </a:p>
        </p:txBody>
      </p:sp>
      <p:sp>
        <p:nvSpPr>
          <p:cNvPr id="19" name="text-1076-392">
            <a:extLst xmlns:a="http://schemas.openxmlformats.org/drawingml/2006/main">
              <a:ext uri="{FF2B5EF4-FFF2-40B4-BE49-F238E27FC236}">
                <a16:creationId xmlns:a16="http://schemas.microsoft.com/office/drawing/2014/main" id="{143A69D3-A593-40E1-BA48-EA0F4D6C4753}"/>
              </a:ext>
            </a:extLst>
          </p:cNvPr>
          <p:cNvSpPr>
            <a:spLocks xmlns:a="http://schemas.openxmlformats.org/drawingml/2006/main" noGrp="1"/>
          </p:cNvSpPr>
          <p:nvPr/>
        </p:nvSpPr>
        <p:spPr>
          <a:xfrm xmlns:a="http://schemas.openxmlformats.org/drawingml/2006/main">
            <a:off x="10248900" y="3733800"/>
            <a:ext cx="1619250" cy="685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Use result or NVRx default</a:t>
            </a:r>
          </a:p>
        </p:txBody>
      </p:sp>
      <p:sp>
        <p:nvSpPr>
          <p:cNvPr id="20" name="box-828-486">
            <a:extLst xmlns:a="http://schemas.openxmlformats.org/drawingml/2006/main">
              <a:ext uri="{FF2B5EF4-FFF2-40B4-BE49-F238E27FC236}">
                <a16:creationId xmlns:a16="http://schemas.microsoft.com/office/drawing/2014/main" id="{A509C024-44F9-4D2C-9C50-B542A8730FC6}"/>
              </a:ext>
            </a:extLst>
          </p:cNvPr>
          <p:cNvSpPr>
            <a:spLocks xmlns:a="http://schemas.openxmlformats.org/drawingml/2006/main" noGrp="1"/>
          </p:cNvSpPr>
          <p:nvPr/>
        </p:nvSpPr>
        <p:spPr>
          <a:xfrm xmlns:a="http://schemas.openxmlformats.org/drawingml/2006/main">
            <a:off x="7886700" y="4629150"/>
            <a:ext cx="3676650" cy="8763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21" name="text-850-507">
            <a:extLst xmlns:a="http://schemas.openxmlformats.org/drawingml/2006/main">
              <a:ext uri="{FF2B5EF4-FFF2-40B4-BE49-F238E27FC236}">
                <a16:creationId xmlns:a16="http://schemas.microsoft.com/office/drawing/2014/main" id="{E0089004-28A7-4EA5-B9BF-C275C658E29F}"/>
              </a:ext>
            </a:extLst>
          </p:cNvPr>
          <p:cNvSpPr>
            <a:spLocks xmlns:a="http://schemas.openxmlformats.org/drawingml/2006/main" noGrp="1"/>
          </p:cNvSpPr>
          <p:nvPr/>
        </p:nvSpPr>
        <p:spPr>
          <a:xfrm xmlns:a="http://schemas.openxmlformats.org/drawingml/2006/main">
            <a:off x="8096250" y="4829175"/>
            <a:ext cx="3238500" cy="266700"/>
          </a:xfrm>
          <a:prstGeom xmlns:a="http://schemas.openxmlformats.org/drawingml/2006/main" prst="rect">
            <a:avLst/>
          </a:prstGeom>
        </p:spPr>
        <p:txBody>
          <a:bodyPr xmlns:a="http://schemas.openxmlformats.org/drawingml/2006/main" wrap="square" lIns="0" tIns="0" rIns="0" bIns="0" anchor="t">
            <a:normAutofit fontScale="77379" lnSpcReduction="20000"/>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The decision window starts after cycle end</a:t>
            </a:r>
          </a:p>
        </p:txBody>
      </p:sp>
      <p:sp>
        <p:nvSpPr>
          <p:cNvPr id="22" name="text-850-544">
            <a:extLst xmlns:a="http://schemas.openxmlformats.org/drawingml/2006/main">
              <a:ext uri="{FF2B5EF4-FFF2-40B4-BE49-F238E27FC236}">
                <a16:creationId xmlns:a16="http://schemas.microsoft.com/office/drawing/2014/main" id="{0D7F36EB-A12A-4CB6-BCE6-DCCE74A86C5F}"/>
              </a:ext>
            </a:extLst>
          </p:cNvPr>
          <p:cNvSpPr>
            <a:spLocks xmlns:a="http://schemas.openxmlformats.org/drawingml/2006/main" noGrp="1"/>
          </p:cNvSpPr>
          <p:nvPr/>
        </p:nvSpPr>
        <p:spPr>
          <a:xfrm xmlns:a="http://schemas.openxmlformats.org/drawingml/2006/main">
            <a:off x="8096250" y="5181600"/>
            <a:ext cx="3238500" cy="228600"/>
          </a:xfrm>
          <a:prstGeom xmlns:a="http://schemas.openxmlformats.org/drawingml/2006/main" prst="rect">
            <a:avLst/>
          </a:prstGeom>
        </p:spPr>
        <p:txBody>
          <a:bodyPr xmlns:a="http://schemas.openxmlformats.org/drawingml/2006/main" wrap="square" lIns="0" tIns="0" rIns="0" bIns="0" anchor="t">
            <a:normAutofit fontScale="90303" lnSpcReduction="2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A late answer may be operationally correct and still unusable.</a:t>
            </a:r>
          </a:p>
        </p:txBody>
      </p:sp>
      <p:sp>
        <p:nvSpPr>
          <p:cNvPr id="23" name="text-70-520">
            <a:extLst xmlns:a="http://schemas.openxmlformats.org/drawingml/2006/main">
              <a:ext uri="{FF2B5EF4-FFF2-40B4-BE49-F238E27FC236}">
                <a16:creationId xmlns:a16="http://schemas.microsoft.com/office/drawing/2014/main" id="{BE4E6445-065D-4AC3-AACE-3572CC12F689}"/>
              </a:ext>
            </a:extLst>
          </p:cNvPr>
          <p:cNvSpPr>
            <a:spLocks xmlns:a="http://schemas.openxmlformats.org/drawingml/2006/main" noGrp="1"/>
          </p:cNvSpPr>
          <p:nvPr/>
        </p:nvSpPr>
        <p:spPr>
          <a:xfrm xmlns:a="http://schemas.openxmlformats.org/drawingml/2006/main">
            <a:off x="666750" y="4953000"/>
            <a:ext cx="19812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Noise is expected</a:t>
            </a:r>
          </a:p>
        </p:txBody>
      </p:sp>
      <p:sp>
        <p:nvSpPr>
          <p:cNvPr id="24" name="text-70-558">
            <a:extLst xmlns:a="http://schemas.openxmlformats.org/drawingml/2006/main">
              <a:ext uri="{FF2B5EF4-FFF2-40B4-BE49-F238E27FC236}">
                <a16:creationId xmlns:a16="http://schemas.microsoft.com/office/drawing/2014/main" id="{8B9FB133-9F7C-4815-9D0A-10DFFED83374}"/>
              </a:ext>
            </a:extLst>
          </p:cNvPr>
          <p:cNvSpPr>
            <a:spLocks xmlns:a="http://schemas.openxmlformats.org/drawingml/2006/main" noGrp="1"/>
          </p:cNvSpPr>
          <p:nvPr/>
        </p:nvSpPr>
        <p:spPr>
          <a:xfrm xmlns:a="http://schemas.openxmlformats.org/drawingml/2006/main">
            <a:off x="666750" y="5314950"/>
            <a:ext cx="590550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0">
                <a:solidFill>
                  <a:srgbClr val="5D6470"/>
                </a:solidFill>
                <a:latin typeface="Helvetica Neue"/>
                <a:ea typeface="Helvetica Neue"/>
                <a:cs typeface="Helvetica Neue"/>
              </a:defRPr>
            </a:pPr>
            <a:r>
              <a:t>Progress after a fault is first-class evidence; not every error means the workload stopped.</a:t>
            </a:r>
          </a:p>
        </p:txBody>
      </p:sp>
    </p:spTree>
    <p:extLst>
      <p:ext uri="{BB962C8B-B14F-4D97-AF65-F5344CB8AC3E}">
        <p14:creationId xmlns:p14="http://schemas.microsoft.com/office/powerpoint/2010/main" val="21153622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42-26">
            <a:extLst xmlns:a="http://schemas.openxmlformats.org/drawingml/2006/main">
              <a:ext uri="{FF2B5EF4-FFF2-40B4-BE49-F238E27FC236}">
                <a16:creationId xmlns:a16="http://schemas.microsoft.com/office/drawing/2014/main" id="{EF8DE2B8-04BF-4167-BD79-BC6A039F4872}"/>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SYSTEM OVERVIEW</a:t>
            </a:r>
          </a:p>
        </p:txBody>
      </p:sp>
      <p:sp>
        <p:nvSpPr>
          <p:cNvPr id="2" name="text-42-54">
            <a:extLst xmlns:a="http://schemas.openxmlformats.org/drawingml/2006/main">
              <a:ext uri="{FF2B5EF4-FFF2-40B4-BE49-F238E27FC236}">
                <a16:creationId xmlns:a16="http://schemas.microsoft.com/office/drawing/2014/main" id="{8AD8AC3C-437F-4891-92B1-60E0536BCD28}"/>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Two systems: tune in A, act in B</a:t>
            </a:r>
          </a:p>
        </p:txBody>
      </p:sp>
      <p:sp>
        <p:nvSpPr>
          <p:cNvPr id="3" name="line-42-133">
            <a:extLst xmlns:a="http://schemas.openxmlformats.org/drawingml/2006/main">
              <a:ext uri="{FF2B5EF4-FFF2-40B4-BE49-F238E27FC236}">
                <a16:creationId xmlns:a16="http://schemas.microsoft.com/office/drawing/2014/main" id="{B700902B-B1E1-46A8-88EF-A9F4410F0B94}"/>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4-206">
            <a:extLst xmlns:a="http://schemas.openxmlformats.org/drawingml/2006/main">
              <a:ext uri="{FF2B5EF4-FFF2-40B4-BE49-F238E27FC236}">
                <a16:creationId xmlns:a16="http://schemas.microsoft.com/office/drawing/2014/main" id="{952B4B4D-730E-43C5-A491-1C82D204FDB4}"/>
              </a:ext>
            </a:extLst>
          </p:cNvPr>
          <p:cNvSpPr>
            <a:spLocks xmlns:a="http://schemas.openxmlformats.org/drawingml/2006/main" noGrp="1"/>
          </p:cNvSpPr>
          <p:nvPr/>
        </p:nvSpPr>
        <p:spPr>
          <a:xfrm xmlns:a="http://schemas.openxmlformats.org/drawingml/2006/main">
            <a:off x="609600" y="1962150"/>
            <a:ext cx="4762500" cy="32766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5" name="text-88-232">
            <a:extLst xmlns:a="http://schemas.openxmlformats.org/drawingml/2006/main">
              <a:ext uri="{FF2B5EF4-FFF2-40B4-BE49-F238E27FC236}">
                <a16:creationId xmlns:a16="http://schemas.microsoft.com/office/drawing/2014/main" id="{75737D55-4AF7-4397-AEB4-EC040B13017F}"/>
              </a:ext>
            </a:extLst>
          </p:cNvPr>
          <p:cNvSpPr>
            <a:spLocks xmlns:a="http://schemas.openxmlformats.org/drawingml/2006/main" noGrp="1"/>
          </p:cNvSpPr>
          <p:nvPr/>
        </p:nvSpPr>
        <p:spPr>
          <a:xfrm xmlns:a="http://schemas.openxmlformats.org/drawingml/2006/main">
            <a:off x="838200" y="2209800"/>
            <a:ext cx="2000250" cy="285750"/>
          </a:xfrm>
          <a:prstGeom xmlns:a="http://schemas.openxmlformats.org/drawingml/2006/main" prst="rect">
            <a:avLst/>
          </a:prstGeom>
        </p:spPr>
        <p:txBody>
          <a:bodyPr xmlns:a="http://schemas.openxmlformats.org/drawingml/2006/main" wrap="square" lIns="0" tIns="0" rIns="0" bIns="0" anchor="t">
            <a:normAutofit fontScale="92593" lnSpcReduction="10000"/>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A — TUNE</a:t>
            </a:r>
          </a:p>
        </p:txBody>
      </p:sp>
      <p:sp>
        <p:nvSpPr>
          <p:cNvPr id="6" name="text-88-278">
            <a:extLst xmlns:a="http://schemas.openxmlformats.org/drawingml/2006/main">
              <a:ext uri="{FF2B5EF4-FFF2-40B4-BE49-F238E27FC236}">
                <a16:creationId xmlns:a16="http://schemas.microsoft.com/office/drawing/2014/main" id="{86717EA7-A743-4FF5-AB6B-F58E77662DDF}"/>
              </a:ext>
            </a:extLst>
          </p:cNvPr>
          <p:cNvSpPr>
            <a:spLocks xmlns:a="http://schemas.openxmlformats.org/drawingml/2006/main" noGrp="1"/>
          </p:cNvSpPr>
          <p:nvPr/>
        </p:nvSpPr>
        <p:spPr>
          <a:xfrm xmlns:a="http://schemas.openxmlformats.org/drawingml/2006/main">
            <a:off x="838200" y="2647950"/>
            <a:ext cx="34290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Eval + tuning harness</a:t>
            </a:r>
          </a:p>
        </p:txBody>
      </p:sp>
      <p:sp>
        <p:nvSpPr>
          <p:cNvPr id="7" name="text-88-326">
            <a:extLst xmlns:a="http://schemas.openxmlformats.org/drawingml/2006/main">
              <a:ext uri="{FF2B5EF4-FFF2-40B4-BE49-F238E27FC236}">
                <a16:creationId xmlns:a16="http://schemas.microsoft.com/office/drawing/2014/main" id="{AAAEB0A1-FB1A-4EA8-8A89-A10824CF9E9F}"/>
              </a:ext>
            </a:extLst>
          </p:cNvPr>
          <p:cNvSpPr>
            <a:spLocks xmlns:a="http://schemas.openxmlformats.org/drawingml/2006/main" noGrp="1"/>
          </p:cNvSpPr>
          <p:nvPr/>
        </p:nvSpPr>
        <p:spPr>
          <a:xfrm xmlns:a="http://schemas.openxmlformats.org/drawingml/2006/main">
            <a:off x="838200" y="3105150"/>
            <a:ext cx="4095750" cy="4381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0">
                <a:solidFill>
                  <a:srgbClr val="5D6470"/>
                </a:solidFill>
                <a:latin typeface="Helvetica Neue"/>
                <a:ea typeface="Helvetica Neue"/>
                <a:cs typeface="Helvetica Neue"/>
              </a:defRPr>
            </a:pPr>
            <a:r>
              <a:t>Goal: produce a qualified, versioned product profile.</a:t>
            </a:r>
          </a:p>
        </p:txBody>
      </p:sp>
      <p:sp>
        <p:nvSpPr>
          <p:cNvPr id="8" name="text-88-392">
            <a:extLst xmlns:a="http://schemas.openxmlformats.org/drawingml/2006/main">
              <a:ext uri="{FF2B5EF4-FFF2-40B4-BE49-F238E27FC236}">
                <a16:creationId xmlns:a16="http://schemas.microsoft.com/office/drawing/2014/main" id="{DC65112C-833B-452C-B802-2585A736B410}"/>
              </a:ext>
            </a:extLst>
          </p:cNvPr>
          <p:cNvSpPr>
            <a:spLocks xmlns:a="http://schemas.openxmlformats.org/drawingml/2006/main" noGrp="1"/>
          </p:cNvSpPr>
          <p:nvPr/>
        </p:nvSpPr>
        <p:spPr>
          <a:xfrm xmlns:a="http://schemas.openxmlformats.org/drawingml/2006/main">
            <a:off x="838200" y="3733800"/>
            <a:ext cx="104775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EVIDENCE</a:t>
            </a:r>
          </a:p>
        </p:txBody>
      </p:sp>
      <p:sp>
        <p:nvSpPr>
          <p:cNvPr id="9" name="text-204-392">
            <a:extLst xmlns:a="http://schemas.openxmlformats.org/drawingml/2006/main">
              <a:ext uri="{FF2B5EF4-FFF2-40B4-BE49-F238E27FC236}">
                <a16:creationId xmlns:a16="http://schemas.microsoft.com/office/drawing/2014/main" id="{605A3D21-178A-4D93-A8E6-4BEA879C9A98}"/>
              </a:ext>
            </a:extLst>
          </p:cNvPr>
          <p:cNvSpPr>
            <a:spLocks xmlns:a="http://schemas.openxmlformats.org/drawingml/2006/main" noGrp="1"/>
          </p:cNvSpPr>
          <p:nvPr/>
        </p:nvSpPr>
        <p:spPr>
          <a:xfrm xmlns:a="http://schemas.openxmlformats.org/drawingml/2006/main">
            <a:off x="1943100" y="3733800"/>
            <a:ext cx="30099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Registry, selection, excerpt budgets</a:t>
            </a:r>
          </a:p>
        </p:txBody>
      </p:sp>
      <p:sp>
        <p:nvSpPr>
          <p:cNvPr id="10" name="text-88-432">
            <a:extLst xmlns:a="http://schemas.openxmlformats.org/drawingml/2006/main">
              <a:ext uri="{FF2B5EF4-FFF2-40B4-BE49-F238E27FC236}">
                <a16:creationId xmlns:a16="http://schemas.microsoft.com/office/drawing/2014/main" id="{1773611B-D765-49A7-88D3-011930A716E7}"/>
              </a:ext>
            </a:extLst>
          </p:cNvPr>
          <p:cNvSpPr>
            <a:spLocks xmlns:a="http://schemas.openxmlformats.org/drawingml/2006/main" noGrp="1"/>
          </p:cNvSpPr>
          <p:nvPr/>
        </p:nvSpPr>
        <p:spPr>
          <a:xfrm xmlns:a="http://schemas.openxmlformats.org/drawingml/2006/main">
            <a:off x="838200" y="4114800"/>
            <a:ext cx="104775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SEMANTICS</a:t>
            </a:r>
          </a:p>
        </p:txBody>
      </p:sp>
      <p:sp>
        <p:nvSpPr>
          <p:cNvPr id="11" name="text-204-432">
            <a:extLst xmlns:a="http://schemas.openxmlformats.org/drawingml/2006/main">
              <a:ext uri="{FF2B5EF4-FFF2-40B4-BE49-F238E27FC236}">
                <a16:creationId xmlns:a16="http://schemas.microsoft.com/office/drawing/2014/main" id="{6F937F7B-5881-40AC-A558-976A70BDB98C}"/>
              </a:ext>
            </a:extLst>
          </p:cNvPr>
          <p:cNvSpPr>
            <a:spLocks xmlns:a="http://schemas.openxmlformats.org/drawingml/2006/main" noGrp="1"/>
          </p:cNvSpPr>
          <p:nvPr/>
        </p:nvSpPr>
        <p:spPr>
          <a:xfrm xmlns:a="http://schemas.openxmlformats.org/drawingml/2006/main">
            <a:off x="1943100" y="4114800"/>
            <a:ext cx="30099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Prompt, model, thinking, tools</a:t>
            </a:r>
          </a:p>
        </p:txBody>
      </p:sp>
      <p:sp>
        <p:nvSpPr>
          <p:cNvPr id="12" name="text-88-472">
            <a:extLst xmlns:a="http://schemas.openxmlformats.org/drawingml/2006/main">
              <a:ext uri="{FF2B5EF4-FFF2-40B4-BE49-F238E27FC236}">
                <a16:creationId xmlns:a16="http://schemas.microsoft.com/office/drawing/2014/main" id="{49778592-E767-4695-A2D9-6117908FA872}"/>
              </a:ext>
            </a:extLst>
          </p:cNvPr>
          <p:cNvSpPr>
            <a:spLocks xmlns:a="http://schemas.openxmlformats.org/drawingml/2006/main" noGrp="1"/>
          </p:cNvSpPr>
          <p:nvPr/>
        </p:nvSpPr>
        <p:spPr>
          <a:xfrm xmlns:a="http://schemas.openxmlformats.org/drawingml/2006/main">
            <a:off x="838200" y="4495800"/>
            <a:ext cx="104775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DECISION</a:t>
            </a:r>
          </a:p>
        </p:txBody>
      </p:sp>
      <p:sp>
        <p:nvSpPr>
          <p:cNvPr id="13" name="text-204-472">
            <a:extLst xmlns:a="http://schemas.openxmlformats.org/drawingml/2006/main">
              <a:ext uri="{FF2B5EF4-FFF2-40B4-BE49-F238E27FC236}">
                <a16:creationId xmlns:a16="http://schemas.microsoft.com/office/drawing/2014/main" id="{A2704628-787E-4EDD-A018-02C1D51A67FC}"/>
              </a:ext>
            </a:extLst>
          </p:cNvPr>
          <p:cNvSpPr>
            <a:spLocks xmlns:a="http://schemas.openxmlformats.org/drawingml/2006/main" noGrp="1"/>
          </p:cNvSpPr>
          <p:nvPr/>
        </p:nvSpPr>
        <p:spPr>
          <a:xfrm xmlns:a="http://schemas.openxmlformats.org/drawingml/2006/main">
            <a:off x="1943100" y="4495800"/>
            <a:ext cx="30099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Audit, history, policy</a:t>
            </a:r>
          </a:p>
        </p:txBody>
      </p:sp>
      <p:sp>
        <p:nvSpPr>
          <p:cNvPr id="14" name="text-88-514">
            <a:extLst xmlns:a="http://schemas.openxmlformats.org/drawingml/2006/main">
              <a:ext uri="{FF2B5EF4-FFF2-40B4-BE49-F238E27FC236}">
                <a16:creationId xmlns:a16="http://schemas.microsoft.com/office/drawing/2014/main" id="{5F0AF7A5-E036-473E-9A45-37C40FB0A04A}"/>
              </a:ext>
            </a:extLst>
          </p:cNvPr>
          <p:cNvSpPr>
            <a:spLocks xmlns:a="http://schemas.openxmlformats.org/drawingml/2006/main" noGrp="1"/>
          </p:cNvSpPr>
          <p:nvPr/>
        </p:nvSpPr>
        <p:spPr>
          <a:xfrm xmlns:a="http://schemas.openxmlformats.org/drawingml/2006/main">
            <a:off x="838200" y="4895850"/>
            <a:ext cx="40957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3D8DFF"/>
                </a:solidFill>
                <a:latin typeface="Courier New"/>
                <a:ea typeface="Courier New"/>
                <a:cs typeface="Courier New"/>
              </a:defRPr>
            </a:pPr>
            <a:r>
              <a:t>propose → execute → score → qualify → promote</a:t>
            </a:r>
          </a:p>
        </p:txBody>
      </p:sp>
      <p:sp>
        <p:nvSpPr>
          <p:cNvPr id="15" name="box-716-206">
            <a:extLst xmlns:a="http://schemas.openxmlformats.org/drawingml/2006/main">
              <a:ext uri="{FF2B5EF4-FFF2-40B4-BE49-F238E27FC236}">
                <a16:creationId xmlns:a16="http://schemas.microsoft.com/office/drawing/2014/main" id="{6A2083AB-4BAB-44B8-A0C2-52824A0AE10C}"/>
              </a:ext>
            </a:extLst>
          </p:cNvPr>
          <p:cNvSpPr>
            <a:spLocks xmlns:a="http://schemas.openxmlformats.org/drawingml/2006/main" noGrp="1"/>
          </p:cNvSpPr>
          <p:nvPr/>
        </p:nvSpPr>
        <p:spPr>
          <a:xfrm xmlns:a="http://schemas.openxmlformats.org/drawingml/2006/main">
            <a:off x="6819900" y="1962150"/>
            <a:ext cx="4762500" cy="3276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6" name="text-740-232">
            <a:extLst xmlns:a="http://schemas.openxmlformats.org/drawingml/2006/main">
              <a:ext uri="{FF2B5EF4-FFF2-40B4-BE49-F238E27FC236}">
                <a16:creationId xmlns:a16="http://schemas.microsoft.com/office/drawing/2014/main" id="{740E9405-1BEF-4015-A5BC-8DE51005E134}"/>
              </a:ext>
            </a:extLst>
          </p:cNvPr>
          <p:cNvSpPr>
            <a:spLocks xmlns:a="http://schemas.openxmlformats.org/drawingml/2006/main" noGrp="1"/>
          </p:cNvSpPr>
          <p:nvPr/>
        </p:nvSpPr>
        <p:spPr>
          <a:xfrm xmlns:a="http://schemas.openxmlformats.org/drawingml/2006/main">
            <a:off x="7048500" y="2209800"/>
            <a:ext cx="2000250" cy="285750"/>
          </a:xfrm>
          <a:prstGeom xmlns:a="http://schemas.openxmlformats.org/drawingml/2006/main" prst="rect">
            <a:avLst/>
          </a:prstGeom>
        </p:spPr>
        <p:txBody>
          <a:bodyPr xmlns:a="http://schemas.openxmlformats.org/drawingml/2006/main" wrap="square" lIns="0" tIns="0" rIns="0" bIns="0" anchor="t">
            <a:normAutofit fontScale="92593" lnSpcReduction="10000"/>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t>B — ACT</a:t>
            </a:r>
          </a:p>
        </p:txBody>
      </p:sp>
      <p:sp>
        <p:nvSpPr>
          <p:cNvPr id="17" name="text-740-278">
            <a:extLst xmlns:a="http://schemas.openxmlformats.org/drawingml/2006/main">
              <a:ext uri="{FF2B5EF4-FFF2-40B4-BE49-F238E27FC236}">
                <a16:creationId xmlns:a16="http://schemas.microsoft.com/office/drawing/2014/main" id="{0C6D9CFC-B3FB-4D15-A8F6-5F7E467B98F8}"/>
              </a:ext>
            </a:extLst>
          </p:cNvPr>
          <p:cNvSpPr>
            <a:spLocks xmlns:a="http://schemas.openxmlformats.org/drawingml/2006/main" noGrp="1"/>
          </p:cNvSpPr>
          <p:nvPr/>
        </p:nvSpPr>
        <p:spPr>
          <a:xfrm xmlns:a="http://schemas.openxmlformats.org/drawingml/2006/main">
            <a:off x="7048500" y="2647950"/>
            <a:ext cx="34290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Restart Log Analyzer</a:t>
            </a:r>
          </a:p>
        </p:txBody>
      </p:sp>
      <p:sp>
        <p:nvSpPr>
          <p:cNvPr id="18" name="text-740-326">
            <a:extLst xmlns:a="http://schemas.openxmlformats.org/drawingml/2006/main">
              <a:ext uri="{FF2B5EF4-FFF2-40B4-BE49-F238E27FC236}">
                <a16:creationId xmlns:a16="http://schemas.microsoft.com/office/drawing/2014/main" id="{A5B7A29A-E91F-4158-8187-845D2FC8849F}"/>
              </a:ext>
            </a:extLst>
          </p:cNvPr>
          <p:cNvSpPr>
            <a:spLocks xmlns:a="http://schemas.openxmlformats.org/drawingml/2006/main" noGrp="1"/>
          </p:cNvSpPr>
          <p:nvPr/>
        </p:nvSpPr>
        <p:spPr>
          <a:xfrm xmlns:a="http://schemas.openxmlformats.org/drawingml/2006/main">
            <a:off x="7048500" y="3105150"/>
            <a:ext cx="409575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D6470"/>
                </a:solidFill>
                <a:latin typeface="Helvetica Neue"/>
                <a:ea typeface="Helvetica Neue"/>
                <a:cs typeface="Helvetica Neue"/>
              </a:defRPr>
            </a:pPr>
            <a:r>
              <a:t>Goal: return an auditable decision within the NVRx window.</a:t>
            </a:r>
          </a:p>
        </p:txBody>
      </p:sp>
      <p:sp>
        <p:nvSpPr>
          <p:cNvPr id="19" name="text-740-392">
            <a:extLst xmlns:a="http://schemas.openxmlformats.org/drawingml/2006/main">
              <a:ext uri="{FF2B5EF4-FFF2-40B4-BE49-F238E27FC236}">
                <a16:creationId xmlns:a16="http://schemas.microsoft.com/office/drawing/2014/main" id="{3C34F502-55AB-4AC3-B576-6793BB8270A5}"/>
              </a:ext>
            </a:extLst>
          </p:cNvPr>
          <p:cNvSpPr>
            <a:spLocks xmlns:a="http://schemas.openxmlformats.org/drawingml/2006/main" noGrp="1"/>
          </p:cNvSpPr>
          <p:nvPr/>
        </p:nvSpPr>
        <p:spPr>
          <a:xfrm xmlns:a="http://schemas.openxmlformats.org/drawingml/2006/main">
            <a:off x="7048500" y="3733800"/>
            <a:ext cx="104775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FIXED INPUT</a:t>
            </a:r>
          </a:p>
        </p:txBody>
      </p:sp>
      <p:sp>
        <p:nvSpPr>
          <p:cNvPr id="20" name="text-856-392">
            <a:extLst xmlns:a="http://schemas.openxmlformats.org/drawingml/2006/main">
              <a:ext uri="{FF2B5EF4-FFF2-40B4-BE49-F238E27FC236}">
                <a16:creationId xmlns:a16="http://schemas.microsoft.com/office/drawing/2014/main" id="{2840C058-295E-4798-AC8A-631EDA35D622}"/>
              </a:ext>
            </a:extLst>
          </p:cNvPr>
          <p:cNvSpPr>
            <a:spLocks xmlns:a="http://schemas.openxmlformats.org/drawingml/2006/main" noGrp="1"/>
          </p:cNvSpPr>
          <p:nvPr/>
        </p:nvSpPr>
        <p:spPr>
          <a:xfrm xmlns:a="http://schemas.openxmlformats.org/drawingml/2006/main">
            <a:off x="8153400" y="3733800"/>
            <a:ext cx="30099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Qualified profile from A</a:t>
            </a:r>
          </a:p>
        </p:txBody>
      </p:sp>
      <p:sp>
        <p:nvSpPr>
          <p:cNvPr id="21" name="text-740-432">
            <a:extLst xmlns:a="http://schemas.openxmlformats.org/drawingml/2006/main">
              <a:ext uri="{FF2B5EF4-FFF2-40B4-BE49-F238E27FC236}">
                <a16:creationId xmlns:a16="http://schemas.microsoft.com/office/drawing/2014/main" id="{D3F13C25-8851-4BCF-88F7-7789188E653C}"/>
              </a:ext>
            </a:extLst>
          </p:cNvPr>
          <p:cNvSpPr>
            <a:spLocks xmlns:a="http://schemas.openxmlformats.org/drawingml/2006/main" noGrp="1"/>
          </p:cNvSpPr>
          <p:nvPr/>
        </p:nvSpPr>
        <p:spPr>
          <a:xfrm xmlns:a="http://schemas.openxmlformats.org/drawingml/2006/main">
            <a:off x="7048500" y="4114800"/>
            <a:ext cx="104775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RUNTIME</a:t>
            </a:r>
          </a:p>
        </p:txBody>
      </p:sp>
      <p:sp>
        <p:nvSpPr>
          <p:cNvPr id="22" name="text-856-432">
            <a:extLst xmlns:a="http://schemas.openxmlformats.org/drawingml/2006/main">
              <a:ext uri="{FF2B5EF4-FFF2-40B4-BE49-F238E27FC236}">
                <a16:creationId xmlns:a16="http://schemas.microsoft.com/office/drawing/2014/main" id="{7CBA417F-D2C7-483F-86A9-63DD7EB83BDC}"/>
              </a:ext>
            </a:extLst>
          </p:cNvPr>
          <p:cNvSpPr>
            <a:spLocks xmlns:a="http://schemas.openxmlformats.org/drawingml/2006/main" noGrp="1"/>
          </p:cNvSpPr>
          <p:nvPr/>
        </p:nvSpPr>
        <p:spPr>
          <a:xfrm xmlns:a="http://schemas.openxmlformats.org/drawingml/2006/main">
            <a:off x="8153400" y="4114800"/>
            <a:ext cx="3009900" cy="4381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000000"/>
                </a:solidFill>
                <a:latin typeface="Helvetica Neue"/>
                <a:ea typeface="Helvetica Neue"/>
                <a:cs typeface="Helvetica Neue"/>
              </a:defRPr>
            </a:pPr>
            <a:r>
              <a:t>Log lifecycle → L0 → L1 → L2 → L3 → L4</a:t>
            </a:r>
          </a:p>
        </p:txBody>
      </p:sp>
      <p:sp>
        <p:nvSpPr>
          <p:cNvPr id="23" name="text-740-492">
            <a:extLst xmlns:a="http://schemas.openxmlformats.org/drawingml/2006/main">
              <a:ext uri="{FF2B5EF4-FFF2-40B4-BE49-F238E27FC236}">
                <a16:creationId xmlns:a16="http://schemas.microsoft.com/office/drawing/2014/main" id="{0546FF95-51DA-4DFF-8113-7803806C4AC2}"/>
              </a:ext>
            </a:extLst>
          </p:cNvPr>
          <p:cNvSpPr>
            <a:spLocks xmlns:a="http://schemas.openxmlformats.org/drawingml/2006/main" noGrp="1"/>
          </p:cNvSpPr>
          <p:nvPr/>
        </p:nvSpPr>
        <p:spPr>
          <a:xfrm xmlns:a="http://schemas.openxmlformats.org/drawingml/2006/main">
            <a:off x="7048500" y="4686300"/>
            <a:ext cx="104775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OUTPUT</a:t>
            </a:r>
          </a:p>
        </p:txBody>
      </p:sp>
      <p:sp>
        <p:nvSpPr>
          <p:cNvPr id="24" name="text-856-492">
            <a:extLst xmlns:a="http://schemas.openxmlformats.org/drawingml/2006/main">
              <a:ext uri="{FF2B5EF4-FFF2-40B4-BE49-F238E27FC236}">
                <a16:creationId xmlns:a16="http://schemas.microsoft.com/office/drawing/2014/main" id="{0B6E98C5-7184-4439-9F03-799EA903DDC6}"/>
              </a:ext>
            </a:extLst>
          </p:cNvPr>
          <p:cNvSpPr>
            <a:spLocks xmlns:a="http://schemas.openxmlformats.org/drawingml/2006/main" noGrp="1"/>
          </p:cNvSpPr>
          <p:nvPr/>
        </p:nvSpPr>
        <p:spPr>
          <a:xfrm xmlns:a="http://schemas.openxmlformats.org/drawingml/2006/main">
            <a:off x="8153400" y="4686300"/>
            <a:ext cx="30099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STOP / RESTART + provenance</a:t>
            </a:r>
          </a:p>
        </p:txBody>
      </p:sp>
      <p:sp>
        <p:nvSpPr>
          <p:cNvPr id="25" name="text-574-298">
            <a:extLst xmlns:a="http://schemas.openxmlformats.org/drawingml/2006/main">
              <a:ext uri="{FF2B5EF4-FFF2-40B4-BE49-F238E27FC236}">
                <a16:creationId xmlns:a16="http://schemas.microsoft.com/office/drawing/2014/main" id="{53D98BCB-A7DA-4C8D-89BF-F8A4822292D8}"/>
              </a:ext>
            </a:extLst>
          </p:cNvPr>
          <p:cNvSpPr>
            <a:spLocks xmlns:a="http://schemas.openxmlformats.org/drawingml/2006/main" noGrp="1"/>
          </p:cNvSpPr>
          <p:nvPr/>
        </p:nvSpPr>
        <p:spPr>
          <a:xfrm xmlns:a="http://schemas.openxmlformats.org/drawingml/2006/main">
            <a:off x="5467350" y="2838450"/>
            <a:ext cx="12573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050" b="1">
                <a:solidFill>
                  <a:srgbClr val="3D8DFF"/>
                </a:solidFill>
                <a:latin typeface="Helvetica Neue"/>
                <a:ea typeface="Helvetica Neue"/>
                <a:cs typeface="Helvetica Neue"/>
              </a:defRPr>
            </a:pPr>
            <a:r>
              <a:t>qualified profile →</a:t>
            </a:r>
          </a:p>
        </p:txBody>
      </p:sp>
      <p:sp>
        <p:nvSpPr>
          <p:cNvPr id="26" name="text-574-452">
            <a:extLst xmlns:a="http://schemas.openxmlformats.org/drawingml/2006/main">
              <a:ext uri="{FF2B5EF4-FFF2-40B4-BE49-F238E27FC236}">
                <a16:creationId xmlns:a16="http://schemas.microsoft.com/office/drawing/2014/main" id="{8B6BB21F-3AEF-424B-9CEF-FDB0B73CDA46}"/>
              </a:ext>
            </a:extLst>
          </p:cNvPr>
          <p:cNvSpPr>
            <a:spLocks xmlns:a="http://schemas.openxmlformats.org/drawingml/2006/main" noGrp="1"/>
          </p:cNvSpPr>
          <p:nvPr/>
        </p:nvSpPr>
        <p:spPr>
          <a:xfrm xmlns:a="http://schemas.openxmlformats.org/drawingml/2006/main">
            <a:off x="5467350" y="4305300"/>
            <a:ext cx="12573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050" b="1">
                <a:solidFill>
                  <a:srgbClr val="5D6470"/>
                </a:solidFill>
                <a:latin typeface="Helvetica Neue"/>
                <a:ea typeface="Helvetica Neue"/>
                <a:cs typeface="Helvetica Neue"/>
              </a:defRPr>
            </a:pPr>
            <a:r>
              <a:t>← traces + outcomes</a:t>
            </a:r>
          </a:p>
        </p:txBody>
      </p:sp>
      <p:sp>
        <p:nvSpPr>
          <p:cNvPr id="27" name="box-214-590">
            <a:extLst xmlns:a="http://schemas.openxmlformats.org/drawingml/2006/main">
              <a:ext uri="{FF2B5EF4-FFF2-40B4-BE49-F238E27FC236}">
                <a16:creationId xmlns:a16="http://schemas.microsoft.com/office/drawing/2014/main" id="{F6EC0D23-AFC2-4129-A113-E530E093F11C}"/>
              </a:ext>
            </a:extLst>
          </p:cNvPr>
          <p:cNvSpPr>
            <a:spLocks xmlns:a="http://schemas.openxmlformats.org/drawingml/2006/main" noGrp="1"/>
          </p:cNvSpPr>
          <p:nvPr/>
        </p:nvSpPr>
        <p:spPr>
          <a:xfrm xmlns:a="http://schemas.openxmlformats.org/drawingml/2006/main">
            <a:off x="2038350" y="5619750"/>
            <a:ext cx="8115300" cy="53340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28" name="text-242-607">
            <a:extLst xmlns:a="http://schemas.openxmlformats.org/drawingml/2006/main">
              <a:ext uri="{FF2B5EF4-FFF2-40B4-BE49-F238E27FC236}">
                <a16:creationId xmlns:a16="http://schemas.microsoft.com/office/drawing/2014/main" id="{F523570E-334C-4CDC-9D3D-111B0FC977D8}"/>
              </a:ext>
            </a:extLst>
          </p:cNvPr>
          <p:cNvSpPr>
            <a:spLocks xmlns:a="http://schemas.openxmlformats.org/drawingml/2006/main" noGrp="1"/>
          </p:cNvSpPr>
          <p:nvPr/>
        </p:nvSpPr>
        <p:spPr>
          <a:xfrm xmlns:a="http://schemas.openxmlformats.org/drawingml/2006/main">
            <a:off x="2305050" y="5781675"/>
            <a:ext cx="75819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A changes the profile offline. B executes a fixed, promoted version.</a:t>
            </a:r>
          </a:p>
        </p:txBody>
      </p:sp>
    </p:spTree>
    <p:extLst>
      <p:ext uri="{BB962C8B-B14F-4D97-AF65-F5344CB8AC3E}">
        <p14:creationId xmlns:p14="http://schemas.microsoft.com/office/powerpoint/2010/main" val="8300781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text-42-26">
            <a:extLst xmlns:a="http://schemas.openxmlformats.org/drawingml/2006/main">
              <a:ext uri="{FF2B5EF4-FFF2-40B4-BE49-F238E27FC236}">
                <a16:creationId xmlns:a16="http://schemas.microsoft.com/office/drawing/2014/main" id="{5E6CD6D4-05D2-4B81-AA52-B181C12D6D64}"/>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RUNTIME</a:t>
            </a:r>
          </a:p>
        </p:txBody>
      </p:sp>
      <p:sp>
        <p:nvSpPr>
          <p:cNvPr id="2" name="text-42-54">
            <a:extLst xmlns:a="http://schemas.openxmlformats.org/drawingml/2006/main">
              <a:ext uri="{FF2B5EF4-FFF2-40B4-BE49-F238E27FC236}">
                <a16:creationId xmlns:a16="http://schemas.microsoft.com/office/drawing/2014/main" id="{AE11870C-5A8A-44CD-AC0F-9CFC0E4816C3}"/>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Deterministic is default; model enrichment is opt-in</a:t>
            </a:r>
          </a:p>
        </p:txBody>
      </p:sp>
      <p:sp>
        <p:nvSpPr>
          <p:cNvPr id="3" name="line-42-133">
            <a:extLst xmlns:a="http://schemas.openxmlformats.org/drawingml/2006/main">
              <a:ext uri="{FF2B5EF4-FFF2-40B4-BE49-F238E27FC236}">
                <a16:creationId xmlns:a16="http://schemas.microsoft.com/office/drawing/2014/main" id="{2B6AB07E-C8DA-47E0-B38D-D3B83A5BD701}"/>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6" name="box-62-166">
            <a:extLst xmlns:a="http://schemas.openxmlformats.org/drawingml/2006/main">
              <a:ext uri="{FF2B5EF4-FFF2-40B4-BE49-F238E27FC236}">
                <a16:creationId xmlns:a16="http://schemas.microsoft.com/office/drawing/2014/main" id="{68CC3215-99BB-4BB7-B3F8-2B254B83DA08}"/>
              </a:ext>
            </a:extLst>
          </p:cNvPr>
          <p:cNvSpPr>
            <a:spLocks xmlns:a="http://schemas.openxmlformats.org/drawingml/2006/main" noGrp="1"/>
          </p:cNvSpPr>
          <p:nvPr/>
        </p:nvSpPr>
        <p:spPr>
          <a:xfrm xmlns:a="http://schemas.openxmlformats.org/drawingml/2006/main">
            <a:off x="590550" y="1581150"/>
            <a:ext cx="11010900" cy="7810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47" name="text-84-184">
            <a:extLst xmlns:a="http://schemas.openxmlformats.org/drawingml/2006/main">
              <a:ext uri="{FF2B5EF4-FFF2-40B4-BE49-F238E27FC236}">
                <a16:creationId xmlns:a16="http://schemas.microsoft.com/office/drawing/2014/main" id="{91120BDC-D848-4F5C-8193-15EC20A34E12}"/>
              </a:ext>
            </a:extLst>
          </p:cNvPr>
          <p:cNvSpPr>
            <a:spLocks xmlns:a="http://schemas.openxmlformats.org/drawingml/2006/main" noGrp="1"/>
          </p:cNvSpPr>
          <p:nvPr/>
        </p:nvSpPr>
        <p:spPr>
          <a:xfrm xmlns:a="http://schemas.openxmlformats.org/drawingml/2006/main">
            <a:off x="800100" y="1752600"/>
            <a:ext cx="31432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t>L0A COMPLETE EVIDENCE ASSEMBLY</a:t>
            </a:r>
          </a:p>
        </p:txBody>
      </p:sp>
      <p:sp>
        <p:nvSpPr>
          <p:cNvPr id="48" name="text-84-212">
            <a:extLst xmlns:a="http://schemas.openxmlformats.org/drawingml/2006/main">
              <a:ext uri="{FF2B5EF4-FFF2-40B4-BE49-F238E27FC236}">
                <a16:creationId xmlns:a16="http://schemas.microsoft.com/office/drawing/2014/main" id="{E43E8FD1-4CA5-40B8-8ABF-35B7B7417579}"/>
              </a:ext>
            </a:extLst>
          </p:cNvPr>
          <p:cNvSpPr>
            <a:spLocks xmlns:a="http://schemas.openxmlformats.org/drawingml/2006/main" noGrp="1"/>
          </p:cNvSpPr>
          <p:nvPr/>
        </p:nvSpPr>
        <p:spPr>
          <a:xfrm xmlns:a="http://schemas.openxmlformats.org/drawingml/2006/main">
            <a:off x="800100" y="2019300"/>
            <a:ext cx="2667000" cy="247650"/>
          </a:xfrm>
          <a:prstGeom xmlns:a="http://schemas.openxmlformats.org/drawingml/2006/main" prst="rect">
            <a:avLst/>
          </a:prstGeom>
        </p:spPr>
        <p:txBody>
          <a:bodyPr xmlns:a="http://schemas.openxmlformats.org/drawingml/2006/main" wrap="square" lIns="0" tIns="0" rIns="0" bIns="0" anchor="t">
            <a:normAutofit fontScale="98485"/>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t>Immutable L0A bundle</a:t>
            </a:r>
          </a:p>
        </p:txBody>
      </p:sp>
      <p:sp>
        <p:nvSpPr>
          <p:cNvPr id="49" name="text-392-210">
            <a:extLst xmlns:a="http://schemas.openxmlformats.org/drawingml/2006/main">
              <a:ext uri="{FF2B5EF4-FFF2-40B4-BE49-F238E27FC236}">
                <a16:creationId xmlns:a16="http://schemas.microsoft.com/office/drawing/2014/main" id="{D61976AC-2EF7-4879-853F-8972C0C38325}"/>
              </a:ext>
            </a:extLst>
          </p:cNvPr>
          <p:cNvSpPr>
            <a:spLocks xmlns:a="http://schemas.openxmlformats.org/drawingml/2006/main" noGrp="1"/>
          </p:cNvSpPr>
          <p:nvPr/>
        </p:nvSpPr>
        <p:spPr>
          <a:xfrm xmlns:a="http://schemas.openxmlformats.org/drawingml/2006/main">
            <a:off x="3733800" y="2000250"/>
            <a:ext cx="75247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One scan; complete structured evidence and lossiness accounting</a:t>
            </a:r>
          </a:p>
        </p:txBody>
      </p:sp>
      <p:sp>
        <p:nvSpPr>
          <p:cNvPr id="50" name="arrow-620-251">
            <a:extLst xmlns:a="http://schemas.openxmlformats.org/drawingml/2006/main">
              <a:ext uri="{FF2B5EF4-FFF2-40B4-BE49-F238E27FC236}">
                <a16:creationId xmlns:a16="http://schemas.microsoft.com/office/drawing/2014/main" id="{84B66214-B95A-44D5-89F4-D9D8572A2784}"/>
              </a:ext>
            </a:extLst>
          </p:cNvPr>
          <p:cNvSpPr>
            <a:spLocks xmlns:a="http://schemas.openxmlformats.org/drawingml/2006/main" noGrp="1"/>
          </p:cNvSpPr>
          <p:nvPr/>
        </p:nvSpPr>
        <p:spPr>
          <a:xfrm xmlns:a="http://schemas.openxmlformats.org/drawingml/2006/main">
            <a:off x="5905500" y="2390775"/>
            <a:ext cx="304800" cy="26670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1" name="box-410-276">
            <a:extLst xmlns:a="http://schemas.openxmlformats.org/drawingml/2006/main">
              <a:ext uri="{FF2B5EF4-FFF2-40B4-BE49-F238E27FC236}">
                <a16:creationId xmlns:a16="http://schemas.microsoft.com/office/drawing/2014/main" id="{51D58BB1-74BC-4294-82FD-61F889A5E15D}"/>
              </a:ext>
            </a:extLst>
          </p:cNvPr>
          <p:cNvSpPr>
            <a:spLocks xmlns:a="http://schemas.openxmlformats.org/drawingml/2006/main" noGrp="1"/>
          </p:cNvSpPr>
          <p:nvPr/>
        </p:nvSpPr>
        <p:spPr>
          <a:xfrm xmlns:a="http://schemas.openxmlformats.org/drawingml/2006/main">
            <a:off x="1997858" y="2628900"/>
            <a:ext cx="4381500" cy="647700"/>
          </a:xfrm>
          <a:prstGeom xmlns:a="http://schemas.openxmlformats.org/drawingml/2006/main" prst="rect">
            <a:avLst/>
          </a:prstGeom>
          <a:solidFill xmlns:a="http://schemas.openxmlformats.org/drawingml/2006/main">
            <a:srgbClr val="DDF3FD"/>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2" name="text-432-291">
            <a:extLst xmlns:a="http://schemas.openxmlformats.org/drawingml/2006/main">
              <a:ext uri="{FF2B5EF4-FFF2-40B4-BE49-F238E27FC236}">
                <a16:creationId xmlns:a16="http://schemas.microsoft.com/office/drawing/2014/main" id="{B9810DB5-5128-4C89-BC2A-83EFAEDA4238}"/>
              </a:ext>
            </a:extLst>
          </p:cNvPr>
          <p:cNvSpPr>
            <a:spLocks xmlns:a="http://schemas.openxmlformats.org/drawingml/2006/main" noGrp="1"/>
          </p:cNvSpPr>
          <p:nvPr/>
        </p:nvSpPr>
        <p:spPr>
          <a:xfrm xmlns:a="http://schemas.openxmlformats.org/drawingml/2006/main">
            <a:off x="2273394" y="2771775"/>
            <a:ext cx="20002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DecisionEvidence</a:t>
            </a:r>
          </a:p>
        </p:txBody>
      </p:sp>
      <p:sp>
        <p:nvSpPr>
          <p:cNvPr id="53" name="text-650-296">
            <a:extLst xmlns:a="http://schemas.openxmlformats.org/drawingml/2006/main">
              <a:ext uri="{FF2B5EF4-FFF2-40B4-BE49-F238E27FC236}">
                <a16:creationId xmlns:a16="http://schemas.microsoft.com/office/drawing/2014/main" id="{2C443ECB-AEBF-498B-9EFE-AFD20C7A1BD5}"/>
              </a:ext>
            </a:extLst>
          </p:cNvPr>
          <p:cNvSpPr>
            <a:spLocks xmlns:a="http://schemas.openxmlformats.org/drawingml/2006/main" noGrp="1"/>
          </p:cNvSpPr>
          <p:nvPr/>
        </p:nvSpPr>
        <p:spPr>
          <a:xfrm xmlns:a="http://schemas.openxmlformats.org/drawingml/2006/main">
            <a:off x="4349844" y="2819400"/>
            <a:ext cx="18478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125" b="1">
                <a:solidFill>
                  <a:srgbClr val="3D8DFF"/>
                </a:solidFill>
                <a:latin typeface="Helvetica Neue"/>
                <a:ea typeface="Helvetica Neue"/>
                <a:cs typeface="Helvetica Neue"/>
              </a:defRPr>
            </a:pPr>
            <a:r>
              <a:t>shared canonical facts</a:t>
            </a:r>
          </a:p>
        </p:txBody>
      </p:sp>
      <p:cxnSp>
        <p:nvCxnSpPr>
          <p:cNvPr id="615" name="connector-640-344"/>
          <p:cNvCxnSpPr/>
          <p:nvPr/>
        </p:nvCxnSpPr>
        <p:spPr>
          <a:xfrm xmlns:a="http://schemas.openxmlformats.org/drawingml/2006/main">
            <a:off x="2952750" y="3276600"/>
            <a:ext cx="990600" cy="209158"/>
          </a:xfrm>
          <a:prstGeom xmlns:a="http://schemas.openxmlformats.org/drawingml/2006/main" prst="straightConnector1">
            <a:avLst/>
          </a:prstGeom>
          <a:ln xmlns:a="http://schemas.openxmlformats.org/drawingml/2006/main" w="19050">
            <a:solidFill>
              <a:srgbClr val="3D8DFF"/>
            </a:solidFill>
            <a:prstDash val="solid"/>
          </a:ln>
        </p:spPr>
      </p:cxnSp>
      <p:cxnSp>
        <p:nvCxnSpPr>
          <p:cNvPr id="616" name="connector-640-344"/>
          <p:cNvCxnSpPr/>
          <p:nvPr/>
        </p:nvCxnSpPr>
        <p:spPr>
          <a:xfrm xmlns:a="http://schemas.openxmlformats.org/drawingml/2006/main">
            <a:off x="6096000" y="3276600"/>
            <a:ext cx="3143250" cy="266700"/>
          </a:xfrm>
          <a:prstGeom xmlns:a="http://schemas.openxmlformats.org/drawingml/2006/main" prst="straightConnector1">
            <a:avLst/>
          </a:prstGeom>
          <a:ln xmlns:a="http://schemas.openxmlformats.org/drawingml/2006/main" w="19050">
            <a:solidFill>
              <a:srgbClr val="3D8DFF"/>
            </a:solidFill>
            <a:prstDash val="solid"/>
          </a:ln>
        </p:spPr>
      </p:cxnSp>
      <p:sp>
        <p:nvSpPr>
          <p:cNvPr id="56" name="arrow-295-362">
            <a:extLst xmlns:a="http://schemas.openxmlformats.org/drawingml/2006/main">
              <a:ext uri="{FF2B5EF4-FFF2-40B4-BE49-F238E27FC236}">
                <a16:creationId xmlns:a16="http://schemas.microsoft.com/office/drawing/2014/main" id="{D31C2263-3B7A-4D12-83EF-0FFE8F172404}"/>
              </a:ext>
            </a:extLst>
          </p:cNvPr>
          <p:cNvSpPr>
            <a:spLocks xmlns:a="http://schemas.openxmlformats.org/drawingml/2006/main" noGrp="1"/>
          </p:cNvSpPr>
          <p:nvPr/>
        </p:nvSpPr>
        <p:spPr>
          <a:xfrm xmlns:a="http://schemas.openxmlformats.org/drawingml/2006/main">
            <a:off x="3742939" y="3485758"/>
            <a:ext cx="266700" cy="2476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7" name="arrow-956-362">
            <a:extLst xmlns:a="http://schemas.openxmlformats.org/drawingml/2006/main">
              <a:ext uri="{FF2B5EF4-FFF2-40B4-BE49-F238E27FC236}">
                <a16:creationId xmlns:a16="http://schemas.microsoft.com/office/drawing/2014/main" id="{243FB377-8744-4477-B755-662786BDC1DE}"/>
              </a:ext>
            </a:extLst>
          </p:cNvPr>
          <p:cNvSpPr>
            <a:spLocks xmlns:a="http://schemas.openxmlformats.org/drawingml/2006/main" noGrp="1"/>
          </p:cNvSpPr>
          <p:nvPr/>
        </p:nvSpPr>
        <p:spPr>
          <a:xfrm xmlns:a="http://schemas.openxmlformats.org/drawingml/2006/main">
            <a:off x="9105900" y="3485758"/>
            <a:ext cx="266700" cy="247650"/>
          </a:xfrm>
          <a:prstGeom xmlns:a="http://schemas.openxmlformats.org/drawingml/2006/main" prst="down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8" name="box-62-394">
            <a:extLst xmlns:a="http://schemas.openxmlformats.org/drawingml/2006/main">
              <a:ext uri="{FF2B5EF4-FFF2-40B4-BE49-F238E27FC236}">
                <a16:creationId xmlns:a16="http://schemas.microsoft.com/office/drawing/2014/main" id="{D1F35B0C-E9DB-4F48-B42D-968255D80A28}"/>
              </a:ext>
            </a:extLst>
          </p:cNvPr>
          <p:cNvSpPr>
            <a:spLocks xmlns:a="http://schemas.openxmlformats.org/drawingml/2006/main" noGrp="1"/>
          </p:cNvSpPr>
          <p:nvPr/>
        </p:nvSpPr>
        <p:spPr>
          <a:xfrm xmlns:a="http://schemas.openxmlformats.org/drawingml/2006/main">
            <a:off x="590550" y="3752850"/>
            <a:ext cx="4953000" cy="16764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59" name="text-84-414">
            <a:extLst xmlns:a="http://schemas.openxmlformats.org/drawingml/2006/main">
              <a:ext uri="{FF2B5EF4-FFF2-40B4-BE49-F238E27FC236}">
                <a16:creationId xmlns:a16="http://schemas.microsoft.com/office/drawing/2014/main" id="{286DB831-2879-475A-B6F9-AEBAC3DC2558}"/>
              </a:ext>
            </a:extLst>
          </p:cNvPr>
          <p:cNvSpPr>
            <a:spLocks xmlns:a="http://schemas.openxmlformats.org/drawingml/2006/main" noGrp="1"/>
          </p:cNvSpPr>
          <p:nvPr/>
        </p:nvSpPr>
        <p:spPr>
          <a:xfrm xmlns:a="http://schemas.openxmlformats.org/drawingml/2006/main">
            <a:off x="800100" y="3943350"/>
            <a:ext cx="17907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t>DETERMINISTIC PATH</a:t>
            </a:r>
          </a:p>
        </p:txBody>
      </p:sp>
      <p:sp>
        <p:nvSpPr>
          <p:cNvPr id="60" name="text-84-448">
            <a:extLst xmlns:a="http://schemas.openxmlformats.org/drawingml/2006/main">
              <a:ext uri="{FF2B5EF4-FFF2-40B4-BE49-F238E27FC236}">
                <a16:creationId xmlns:a16="http://schemas.microsoft.com/office/drawing/2014/main" id="{85A5F767-B0CD-4DB7-9075-0B526D31C44A}"/>
              </a:ext>
            </a:extLst>
          </p:cNvPr>
          <p:cNvSpPr>
            <a:spLocks xmlns:a="http://schemas.openxmlformats.org/drawingml/2006/main" noGrp="1"/>
          </p:cNvSpPr>
          <p:nvPr/>
        </p:nvSpPr>
        <p:spPr>
          <a:xfrm xmlns:a="http://schemas.openxmlformats.org/drawingml/2006/main">
            <a:off x="800100" y="4267200"/>
            <a:ext cx="428625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00" b="1">
                <a:solidFill>
                  <a:srgbClr val="000000"/>
                </a:solidFill>
                <a:latin typeface="Courier New"/>
                <a:ea typeface="Courier New"/>
                <a:cs typeface="Courier New"/>
              </a:defRPr>
            </a:pPr>
            <a:r>
              <a:t>L3 history  -&gt;  L4 policy</a:t>
            </a:r>
          </a:p>
        </p:txBody>
      </p:sp>
      <p:sp>
        <p:nvSpPr>
          <p:cNvPr id="61" name="text-84-490">
            <a:extLst xmlns:a="http://schemas.openxmlformats.org/drawingml/2006/main">
              <a:ext uri="{FF2B5EF4-FFF2-40B4-BE49-F238E27FC236}">
                <a16:creationId xmlns:a16="http://schemas.microsoft.com/office/drawing/2014/main" id="{F7763C5C-60A7-437F-AED2-F914E5E3B10E}"/>
              </a:ext>
            </a:extLst>
          </p:cNvPr>
          <p:cNvSpPr>
            <a:spLocks xmlns:a="http://schemas.openxmlformats.org/drawingml/2006/main" noGrp="1"/>
          </p:cNvSpPr>
          <p:nvPr/>
        </p:nvSpPr>
        <p:spPr>
          <a:xfrm xmlns:a="http://schemas.openxmlformats.org/drawingml/2006/main">
            <a:off x="800100" y="4667250"/>
            <a:ext cx="4286250" cy="361950"/>
          </a:xfrm>
          <a:prstGeom xmlns:a="http://schemas.openxmlformats.org/drawingml/2006/main" prst="rect">
            <a:avLst/>
          </a:prstGeom>
        </p:spPr>
        <p:txBody>
          <a:bodyPr xmlns:a="http://schemas.openxmlformats.org/drawingml/2006/main" wrap="square" lIns="0" tIns="0" rIns="0" bIns="0" anchor="t">
            <a:normAutofit fontScale="93137"/>
          </a:bodyPr>
          <a:lstStyle xmlns:a="http://schemas.openxmlformats.org/drawingml/2006/main"/>
          <a:p xmlns:a="http://schemas.openxmlformats.org/drawingml/2006/main">
            <a:pPr algn="l">
              <a:buNone/>
              <a:defRPr sz="1275" b="0">
                <a:solidFill>
                  <a:srgbClr val="5D6470"/>
                </a:solidFill>
                <a:latin typeface="Helvetica Neue"/>
                <a:ea typeface="Helvetica Neue"/>
                <a:cs typeface="Helvetica Neue"/>
              </a:defRPr>
            </a:pPr>
            <a:r>
              <a:t>Default path from DecisionEvidence; no L0B/L1/L2 dependency.</a:t>
            </a:r>
          </a:p>
        </p:txBody>
      </p:sp>
      <p:sp>
        <p:nvSpPr>
          <p:cNvPr id="62" name="text-84-536">
            <a:extLst xmlns:a="http://schemas.openxmlformats.org/drawingml/2006/main">
              <a:ext uri="{FF2B5EF4-FFF2-40B4-BE49-F238E27FC236}">
                <a16:creationId xmlns:a16="http://schemas.microsoft.com/office/drawing/2014/main" id="{30D7C1A3-E16B-433B-B3C0-6888A2C8EFDD}"/>
              </a:ext>
            </a:extLst>
          </p:cNvPr>
          <p:cNvSpPr>
            <a:spLocks xmlns:a="http://schemas.openxmlformats.org/drawingml/2006/main" noGrp="1"/>
          </p:cNvSpPr>
          <p:nvPr/>
        </p:nvSpPr>
        <p:spPr>
          <a:xfrm xmlns:a="http://schemas.openxmlformats.org/drawingml/2006/main">
            <a:off x="800100" y="5105400"/>
            <a:ext cx="4286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deterministic candidate ready</a:t>
            </a:r>
          </a:p>
        </p:txBody>
      </p:sp>
      <p:sp>
        <p:nvSpPr>
          <p:cNvPr id="63" name="box-622-394">
            <a:extLst xmlns:a="http://schemas.openxmlformats.org/drawingml/2006/main">
              <a:ext uri="{FF2B5EF4-FFF2-40B4-BE49-F238E27FC236}">
                <a16:creationId xmlns:a16="http://schemas.microsoft.com/office/drawing/2014/main" id="{5809BC4A-E4AC-4ED6-A4D7-AA9D3811C5CF}"/>
              </a:ext>
            </a:extLst>
          </p:cNvPr>
          <p:cNvSpPr>
            <a:spLocks xmlns:a="http://schemas.openxmlformats.org/drawingml/2006/main" noGrp="1"/>
          </p:cNvSpPr>
          <p:nvPr/>
        </p:nvSpPr>
        <p:spPr>
          <a:xfrm xmlns:a="http://schemas.openxmlformats.org/drawingml/2006/main">
            <a:off x="5924550" y="3752850"/>
            <a:ext cx="5676900" cy="16764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64" name="text-644-414">
            <a:extLst xmlns:a="http://schemas.openxmlformats.org/drawingml/2006/main">
              <a:ext uri="{FF2B5EF4-FFF2-40B4-BE49-F238E27FC236}">
                <a16:creationId xmlns:a16="http://schemas.microsoft.com/office/drawing/2014/main" id="{327AA171-7B15-43E4-9DA1-C91F8D40A7E0}"/>
              </a:ext>
            </a:extLst>
          </p:cNvPr>
          <p:cNvSpPr>
            <a:spLocks xmlns:a="http://schemas.openxmlformats.org/drawingml/2006/main" noGrp="1"/>
          </p:cNvSpPr>
          <p:nvPr/>
        </p:nvSpPr>
        <p:spPr>
          <a:xfrm xmlns:a="http://schemas.openxmlformats.org/drawingml/2006/main">
            <a:off x="6134100" y="3943350"/>
            <a:ext cx="21907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t>MODEL ENRICHMENT (OPT-IN)</a:t>
            </a:r>
          </a:p>
        </p:txBody>
      </p:sp>
      <p:sp>
        <p:nvSpPr>
          <p:cNvPr id="65" name="text-644-448">
            <a:extLst xmlns:a="http://schemas.openxmlformats.org/drawingml/2006/main">
              <a:ext uri="{FF2B5EF4-FFF2-40B4-BE49-F238E27FC236}">
                <a16:creationId xmlns:a16="http://schemas.microsoft.com/office/drawing/2014/main" id="{C6F66D23-DFBD-4507-BCAE-43C00FB26E00}"/>
              </a:ext>
            </a:extLst>
          </p:cNvPr>
          <p:cNvSpPr>
            <a:spLocks xmlns:a="http://schemas.openxmlformats.org/drawingml/2006/main" noGrp="1"/>
          </p:cNvSpPr>
          <p:nvPr/>
        </p:nvSpPr>
        <p:spPr>
          <a:xfrm xmlns:a="http://schemas.openxmlformats.org/drawingml/2006/main">
            <a:off x="6134100" y="4267200"/>
            <a:ext cx="5219700" cy="285750"/>
          </a:xfrm>
          <a:prstGeom xmlns:a="http://schemas.openxmlformats.org/drawingml/2006/main" prst="rect">
            <a:avLst/>
          </a:prstGeom>
        </p:spPr>
        <p:txBody>
          <a:bodyPr xmlns:a="http://schemas.openxmlformats.org/drawingml/2006/main" wrap="square" lIns="0" tIns="0" rIns="0" bIns="0" anchor="t">
            <a:normAutofit fontScale="98441"/>
          </a:bodyPr>
          <a:lstStyle xmlns:a="http://schemas.openxmlformats.org/drawingml/2006/main"/>
          <a:p xmlns:a="http://schemas.openxmlformats.org/drawingml/2006/main">
            <a:pPr algn="l">
              <a:buNone/>
              <a:defRPr sz="1725" b="1">
                <a:solidFill>
                  <a:srgbClr val="000000"/>
                </a:solidFill>
                <a:latin typeface="Courier New"/>
                <a:ea typeface="Courier New"/>
                <a:cs typeface="Courier New"/>
              </a:defRPr>
            </a:pPr>
            <a:r>
              <a:t>L0B -&gt; parallel L1 routes -&gt; each L2-L4</a:t>
            </a:r>
          </a:p>
        </p:txBody>
      </p:sp>
      <p:sp>
        <p:nvSpPr>
          <p:cNvPr id="66" name="text-644-490">
            <a:extLst xmlns:a="http://schemas.openxmlformats.org/drawingml/2006/main">
              <a:ext uri="{FF2B5EF4-FFF2-40B4-BE49-F238E27FC236}">
                <a16:creationId xmlns:a16="http://schemas.microsoft.com/office/drawing/2014/main" id="{5A2550A6-8B0B-4016-B217-BB149E41D3F4}"/>
              </a:ext>
            </a:extLst>
          </p:cNvPr>
          <p:cNvSpPr>
            <a:spLocks xmlns:a="http://schemas.openxmlformats.org/drawingml/2006/main" noGrp="1"/>
          </p:cNvSpPr>
          <p:nvPr/>
        </p:nvSpPr>
        <p:spPr>
          <a:xfrm xmlns:a="http://schemas.openxmlformats.org/drawingml/2006/main">
            <a:off x="6134100" y="4667250"/>
            <a:ext cx="5067300" cy="361950"/>
          </a:xfrm>
          <a:prstGeom xmlns:a="http://schemas.openxmlformats.org/drawingml/2006/main" prst="rect">
            <a:avLst/>
          </a:prstGeom>
        </p:spPr>
        <p:txBody>
          <a:bodyPr xmlns:a="http://schemas.openxmlformats.org/drawingml/2006/main" wrap="square" lIns="0" tIns="0" rIns="0" bIns="0" anchor="t">
            <a:normAutofit fontScale="95079" lnSpcReduction="10000"/>
          </a:bodyPr>
          <a:lstStyle xmlns:a="http://schemas.openxmlformats.org/drawingml/2006/main"/>
          <a:p xmlns:a="http://schemas.openxmlformats.org/drawingml/2006/main">
            <a:pPr algn="l">
              <a:buNone/>
              <a:defRPr sz="1275" b="0">
                <a:solidFill>
                  <a:srgbClr val="5D6470"/>
                </a:solidFill>
                <a:latin typeface="Helvetica Neue"/>
                <a:ea typeface="Helvetica Neue"/>
                <a:cs typeface="Helvetica Neue"/>
              </a:defRPr>
            </a:pPr>
            <a:r>
              <a:t>Runs only when enrichment.enabled=true; routes continue independently.</a:t>
            </a:r>
          </a:p>
        </p:txBody>
      </p:sp>
      <p:sp>
        <p:nvSpPr>
          <p:cNvPr id="67" name="text-644-536">
            <a:extLst xmlns:a="http://schemas.openxmlformats.org/drawingml/2006/main">
              <a:ext uri="{FF2B5EF4-FFF2-40B4-BE49-F238E27FC236}">
                <a16:creationId xmlns:a16="http://schemas.microsoft.com/office/drawing/2014/main" id="{05005F5F-DFA1-4663-8EF4-77E64DAE7B7C}"/>
              </a:ext>
            </a:extLst>
          </p:cNvPr>
          <p:cNvSpPr>
            <a:spLocks xmlns:a="http://schemas.openxmlformats.org/drawingml/2006/main" noGrp="1"/>
          </p:cNvSpPr>
          <p:nvPr/>
        </p:nvSpPr>
        <p:spPr>
          <a:xfrm xmlns:a="http://schemas.openxmlformats.org/drawingml/2006/main">
            <a:off x="6134100" y="5105400"/>
            <a:ext cx="50673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all route candidates retained</a:t>
            </a:r>
          </a:p>
        </p:txBody>
      </p:sp>
      <p:sp>
        <p:nvSpPr>
          <p:cNvPr id="68" name="box-188-596">
            <a:extLst xmlns:a="http://schemas.openxmlformats.org/drawingml/2006/main">
              <a:ext uri="{FF2B5EF4-FFF2-40B4-BE49-F238E27FC236}">
                <a16:creationId xmlns:a16="http://schemas.microsoft.com/office/drawing/2014/main" id="{561247CB-1D35-472A-855E-A1443E8E5AA4}"/>
              </a:ext>
            </a:extLst>
          </p:cNvPr>
          <p:cNvSpPr>
            <a:spLocks xmlns:a="http://schemas.openxmlformats.org/drawingml/2006/main" noGrp="1"/>
          </p:cNvSpPr>
          <p:nvPr/>
        </p:nvSpPr>
        <p:spPr>
          <a:xfrm xmlns:a="http://schemas.openxmlformats.org/drawingml/2006/main">
            <a:off x="1790700" y="5676900"/>
            <a:ext cx="8610600" cy="5905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69" name="text-212-615">
            <a:extLst xmlns:a="http://schemas.openxmlformats.org/drawingml/2006/main">
              <a:ext uri="{FF2B5EF4-FFF2-40B4-BE49-F238E27FC236}">
                <a16:creationId xmlns:a16="http://schemas.microsoft.com/office/drawing/2014/main" id="{14D0A529-C4A6-40DD-9B1A-FF4A92C8BB8E}"/>
              </a:ext>
            </a:extLst>
          </p:cNvPr>
          <p:cNvSpPr>
            <a:spLocks xmlns:a="http://schemas.openxmlformats.org/drawingml/2006/main" noGrp="1"/>
          </p:cNvSpPr>
          <p:nvPr/>
        </p:nvSpPr>
        <p:spPr>
          <a:xfrm xmlns:a="http://schemas.openxmlformats.org/drawingml/2006/main">
            <a:off x="2019300" y="5857875"/>
            <a:ext cx="165735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t>DEADLINE SELECTION</a:t>
            </a:r>
          </a:p>
        </p:txBody>
      </p:sp>
      <p:sp>
        <p:nvSpPr>
          <p:cNvPr id="70" name="text-402-611">
            <a:extLst xmlns:a="http://schemas.openxmlformats.org/drawingml/2006/main">
              <a:ext uri="{FF2B5EF4-FFF2-40B4-BE49-F238E27FC236}">
                <a16:creationId xmlns:a16="http://schemas.microsoft.com/office/drawing/2014/main" id="{FEA70A17-B11A-4C13-8D42-C53CAC4665C3}"/>
              </a:ext>
            </a:extLst>
          </p:cNvPr>
          <p:cNvSpPr>
            <a:spLocks xmlns:a="http://schemas.openxmlformats.org/drawingml/2006/main" noGrp="1"/>
          </p:cNvSpPr>
          <p:nvPr/>
        </p:nvSpPr>
        <p:spPr>
          <a:xfrm xmlns:a="http://schemas.openxmlformats.org/drawingml/2006/main">
            <a:off x="3829050" y="5819775"/>
            <a:ext cx="6324600" cy="266700"/>
          </a:xfrm>
          <a:prstGeom xmlns:a="http://schemas.openxmlformats.org/drawingml/2006/main" prst="rect">
            <a:avLst/>
          </a:prstGeom>
        </p:spPr>
        <p:txBody>
          <a:bodyPr xmlns:a="http://schemas.openxmlformats.org/drawingml/2006/main" wrap="square" lIns="0" tIns="0" rIns="0" bIns="0" anchor="t">
            <a:normAutofit fontScale="93597"/>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Return deterministic plus ready enriched results; collect_all does not arbitrate.</a:t>
            </a:r>
          </a:p>
        </p:txBody>
      </p:sp>
    </p:spTree>
    <p:extLst>
      <p:ext uri="{BB962C8B-B14F-4D97-AF65-F5344CB8AC3E}">
        <p14:creationId xmlns:p14="http://schemas.microsoft.com/office/powerpoint/2010/main" val="1820179013"/>
      </p:ext>
    </p:extLst>
  </p:cSld>
</p:sld>
</file>

<file path=ppt/slides/slide6.xml><?xml version="1.0" encoding="utf-8"?>
<p:sld xmlns:p="http://schemas.openxmlformats.org/presentationml/2006/main">
  <p:cSld>
    <p:bg>
      <p:bgPr>
        <a:solidFill xmlns:a="http://schemas.openxmlformats.org/drawingml/2006/main">
          <a:srgbClr val="F2F7FF"/>
        </a:solidFill>
      </p:bgPr>
    </p:bg>
    <p:spTree>
      <p:nvGrpSpPr>
        <p:cNvPr id="1" name=""/>
        <p:cNvGrpSpPr/>
        <p:nvPr/>
      </p:nvGrpSpPr>
      <p:grpSpPr>
        <a:xfrm xmlns:a="http://schemas.openxmlformats.org/drawingml/2006/main"/>
      </p:grpSpPr>
      <p:sp>
        <p:nvSpPr>
          <p:cNvPr id="18" name="stage-left-rule">
            <a:extLst xmlns:a="http://schemas.openxmlformats.org/drawingml/2006/main">
              <a:ext uri="{FF2B5EF4-FFF2-40B4-BE49-F238E27FC236}">
                <a16:creationId xmlns:a16="http://schemas.microsoft.com/office/drawing/2014/main" id="{9D051102-FCBC-449D-85F6-9AB840044AF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tage-eyebrow">
            <a:extLst xmlns:a="http://schemas.openxmlformats.org/drawingml/2006/main">
              <a:ext uri="{FF2B5EF4-FFF2-40B4-BE49-F238E27FC236}">
                <a16:creationId xmlns:a16="http://schemas.microsoft.com/office/drawing/2014/main" id="{3BD3769D-5C22-471B-A089-DEA5F1B124C3}"/>
              </a:ext>
            </a:extLst>
          </p:cNvPr>
          <p:cNvSpPr>
            <a:spLocks xmlns:a="http://schemas.openxmlformats.org/drawingml/2006/main" noGrp="1"/>
          </p:cNvSpPr>
          <p:nvPr/>
        </p:nvSpPr>
        <p:spPr>
          <a:xfrm xmlns:a="http://schemas.openxmlformats.org/drawingml/2006/main">
            <a:off x="685800" y="8382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3B82F6"/>
                </a:solidFill>
                <a:latin typeface="Calibri"/>
                <a:ea typeface="Calibri"/>
                <a:cs typeface="Calibri"/>
              </a:defRPr>
            </a:pPr>
            <a:r>
              <a:rPr sz="975" b="1">
                <a:solidFill>
                  <a:srgbClr val="3B82F6"/>
                </a:solidFill>
                <a:latin typeface="Calibri"/>
                <a:ea typeface="Calibri"/>
                <a:cs typeface="Calibri"/>
              </a:rPr>
              <a:t>RUNTIME PIPELINE  /  STAGE 1 OF 5</a:t>
            </a:r>
          </a:p>
        </p:txBody>
      </p:sp>
      <p:sp>
        <p:nvSpPr>
          <p:cNvPr id="3" name="stage-code">
            <a:extLst xmlns:a="http://schemas.openxmlformats.org/drawingml/2006/main">
              <a:ext uri="{FF2B5EF4-FFF2-40B4-BE49-F238E27FC236}">
                <a16:creationId xmlns:a16="http://schemas.microsoft.com/office/drawing/2014/main" id="{1A855D04-4680-4266-BD96-F84CAEFBE2E4}"/>
              </a:ext>
            </a:extLst>
          </p:cNvPr>
          <p:cNvSpPr>
            <a:spLocks xmlns:a="http://schemas.openxmlformats.org/drawingml/2006/main" noGrp="1"/>
          </p:cNvSpPr>
          <p:nvPr/>
        </p:nvSpPr>
        <p:spPr>
          <a:xfrm xmlns:a="http://schemas.openxmlformats.org/drawingml/2006/main">
            <a:off x="685800" y="1790700"/>
            <a:ext cx="1428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700" b="1">
                <a:solidFill>
                  <a:srgbClr val="3B82F6"/>
                </a:solidFill>
                <a:latin typeface="Calibri"/>
                <a:ea typeface="Calibri"/>
                <a:cs typeface="Calibri"/>
              </a:defRPr>
            </a:pPr>
            <a:r>
              <a:rPr sz="5700" b="1">
                <a:solidFill>
                  <a:srgbClr val="3B82F6"/>
                </a:solidFill>
                <a:latin typeface="Calibri"/>
                <a:ea typeface="Calibri"/>
                <a:cs typeface="Calibri"/>
              </a:rPr>
              <a:t>L0</a:t>
            </a:r>
          </a:p>
        </p:txBody>
      </p:sp>
      <p:sp>
        <p:nvSpPr>
          <p:cNvPr id="4" name="stage-divider-rule">
            <a:extLst xmlns:a="http://schemas.openxmlformats.org/drawingml/2006/main">
              <a:ext uri="{FF2B5EF4-FFF2-40B4-BE49-F238E27FC236}">
                <a16:creationId xmlns:a16="http://schemas.microsoft.com/office/drawing/2014/main" id="{461FF9E9-6528-40D1-884B-56BB66BAC50E}"/>
              </a:ext>
            </a:extLst>
          </p:cNvPr>
          <p:cNvSpPr>
            <a:spLocks xmlns:a="http://schemas.openxmlformats.org/drawingml/2006/main" noGrp="1"/>
          </p:cNvSpPr>
          <p:nvPr/>
        </p:nvSpPr>
        <p:spPr>
          <a:xfrm xmlns:a="http://schemas.openxmlformats.org/drawingml/2006/main">
            <a:off x="2305050" y="1790700"/>
            <a:ext cx="19050" cy="1190625"/>
          </a:xfrm>
          <a:prstGeom xmlns:a="http://schemas.openxmlformats.org/drawingml/2006/main" prst="rect">
            <a:avLst/>
          </a:prstGeom>
          <a:solidFill xmlns:a="http://schemas.openxmlformats.org/drawingml/2006/main">
            <a:srgbClr val="B8D9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stage-title">
            <a:extLst xmlns:a="http://schemas.openxmlformats.org/drawingml/2006/main">
              <a:ext uri="{FF2B5EF4-FFF2-40B4-BE49-F238E27FC236}">
                <a16:creationId xmlns:a16="http://schemas.microsoft.com/office/drawing/2014/main" id="{53B1F52E-EA98-4ED5-B131-BC7642D07067}"/>
              </a:ext>
            </a:extLst>
          </p:cNvPr>
          <p:cNvSpPr>
            <a:spLocks xmlns:a="http://schemas.openxmlformats.org/drawingml/2006/main" noGrp="1"/>
          </p:cNvSpPr>
          <p:nvPr/>
        </p:nvSpPr>
        <p:spPr>
          <a:xfrm xmlns:a="http://schemas.openxmlformats.org/drawingml/2006/main">
            <a:off x="2686050" y="1790700"/>
            <a:ext cx="809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111111"/>
                </a:solidFill>
                <a:latin typeface="Calibri"/>
                <a:ea typeface="Calibri"/>
                <a:cs typeface="Calibri"/>
              </a:defRPr>
            </a:pPr>
            <a:r>
              <a:rPr sz="2850" b="1">
                <a:solidFill>
                  <a:srgbClr val="111111"/>
                </a:solidFill>
                <a:latin typeface="Calibri"/>
                <a:ea typeface="Calibri"/>
                <a:cs typeface="Calibri"/>
              </a:rPr>
              <a:t>Evidence Bundle</a:t>
            </a:r>
          </a:p>
        </p:txBody>
      </p:sp>
      <p:sp>
        <p:nvSpPr>
          <p:cNvPr id="6" name="stage-summary">
            <a:extLst xmlns:a="http://schemas.openxmlformats.org/drawingml/2006/main">
              <a:ext uri="{FF2B5EF4-FFF2-40B4-BE49-F238E27FC236}">
                <a16:creationId xmlns:a16="http://schemas.microsoft.com/office/drawing/2014/main" id="{778458B5-CD48-47F1-969B-64D5F7B0AB36}"/>
              </a:ext>
            </a:extLst>
          </p:cNvPr>
          <p:cNvSpPr>
            <a:spLocks xmlns:a="http://schemas.openxmlformats.org/drawingml/2006/main" noGrp="1"/>
          </p:cNvSpPr>
          <p:nvPr/>
        </p:nvSpPr>
        <p:spPr>
          <a:xfrm xmlns:a="http://schemas.openxmlformats.org/drawingml/2006/main">
            <a:off x="2686050" y="2476500"/>
            <a:ext cx="833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5F6673"/>
                </a:solidFill>
                <a:latin typeface="Calibri"/>
                <a:ea typeface="Calibri"/>
                <a:cs typeface="Calibri"/>
              </a:defRPr>
            </a:pPr>
            <a:r>
              <a:rPr sz="1575">
                <a:solidFill>
                  <a:srgbClr val="5F6673"/>
                </a:solidFill>
                <a:latin typeface="Calibri"/>
                <a:ea typeface="Calibri"/>
                <a:cs typeface="Calibri"/>
              </a:rPr>
              <a:t>Preserve all evidence; present only what deserves attention.</a:t>
            </a:r>
          </a:p>
        </p:txBody>
      </p:sp>
      <p:sp>
        <p:nvSpPr>
          <p:cNvPr id="7" name="stage-progress-rail">
            <a:extLst xmlns:a="http://schemas.openxmlformats.org/drawingml/2006/main">
              <a:ext uri="{FF2B5EF4-FFF2-40B4-BE49-F238E27FC236}">
                <a16:creationId xmlns:a16="http://schemas.microsoft.com/office/drawing/2014/main" id="{84F96BE8-7AAA-4190-94A4-9A7F7BDD3134}"/>
              </a:ext>
            </a:extLst>
          </p:cNvPr>
          <p:cNvSpPr>
            <a:spLocks xmlns:a="http://schemas.openxmlformats.org/drawingml/2006/main" noGrp="1"/>
          </p:cNvSpPr>
          <p:nvPr/>
        </p:nvSpPr>
        <p:spPr>
          <a:xfrm xmlns:a="http://schemas.openxmlformats.org/drawingml/2006/main">
            <a:off x="1066800" y="4762500"/>
            <a:ext cx="10058400" cy="2857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stage-progress-dot-0">
            <a:extLst xmlns:a="http://schemas.openxmlformats.org/drawingml/2006/main">
              <a:ext uri="{FF2B5EF4-FFF2-40B4-BE49-F238E27FC236}">
                <a16:creationId xmlns:a16="http://schemas.microsoft.com/office/drawing/2014/main" id="{00440A55-F6EA-46AC-AD5C-BFC6113FED23}"/>
              </a:ext>
            </a:extLst>
          </p:cNvPr>
          <p:cNvSpPr>
            <a:spLocks xmlns:a="http://schemas.openxmlformats.org/drawingml/2006/main" noGrp="1"/>
          </p:cNvSpPr>
          <p:nvPr/>
        </p:nvSpPr>
        <p:spPr>
          <a:xfrm xmlns:a="http://schemas.openxmlformats.org/drawingml/2006/main">
            <a:off x="971550" y="4681538"/>
            <a:ext cx="190500" cy="190500"/>
          </a:xfrm>
          <a:prstGeom xmlns:a="http://schemas.openxmlformats.org/drawingml/2006/main" prst="ellipse">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stage-progress-label-0">
            <a:extLst xmlns:a="http://schemas.openxmlformats.org/drawingml/2006/main">
              <a:ext uri="{FF2B5EF4-FFF2-40B4-BE49-F238E27FC236}">
                <a16:creationId xmlns:a16="http://schemas.microsoft.com/office/drawing/2014/main" id="{41297479-B140-4983-98EE-5820FCFFDE00}"/>
              </a:ext>
            </a:extLst>
          </p:cNvPr>
          <p:cNvSpPr>
            <a:spLocks xmlns:a="http://schemas.openxmlformats.org/drawingml/2006/main" noGrp="1"/>
          </p:cNvSpPr>
          <p:nvPr/>
        </p:nvSpPr>
        <p:spPr>
          <a:xfrm xmlns:a="http://schemas.openxmlformats.org/drawingml/2006/main">
            <a:off x="7810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3B82F6"/>
                </a:solidFill>
                <a:latin typeface="Calibri"/>
                <a:ea typeface="Calibri"/>
                <a:cs typeface="Calibri"/>
              </a:defRPr>
            </a:pPr>
            <a:r>
              <a:rPr sz="975" b="1">
                <a:solidFill>
                  <a:srgbClr val="3B82F6"/>
                </a:solidFill>
                <a:latin typeface="Calibri"/>
                <a:ea typeface="Calibri"/>
                <a:cs typeface="Calibri"/>
              </a:rPr>
              <a:t>L0</a:t>
            </a:r>
          </a:p>
        </p:txBody>
      </p:sp>
      <p:sp>
        <p:nvSpPr>
          <p:cNvPr id="10" name="stage-progress-dot-1">
            <a:extLst xmlns:a="http://schemas.openxmlformats.org/drawingml/2006/main">
              <a:ext uri="{FF2B5EF4-FFF2-40B4-BE49-F238E27FC236}">
                <a16:creationId xmlns:a16="http://schemas.microsoft.com/office/drawing/2014/main" id="{54627C0F-79B3-428C-8126-2BA3386A5FF9}"/>
              </a:ext>
            </a:extLst>
          </p:cNvPr>
          <p:cNvSpPr>
            <a:spLocks xmlns:a="http://schemas.openxmlformats.org/drawingml/2006/main" noGrp="1"/>
          </p:cNvSpPr>
          <p:nvPr/>
        </p:nvSpPr>
        <p:spPr>
          <a:xfrm xmlns:a="http://schemas.openxmlformats.org/drawingml/2006/main">
            <a:off x="35147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stage-progress-label-1">
            <a:extLst xmlns:a="http://schemas.openxmlformats.org/drawingml/2006/main">
              <a:ext uri="{FF2B5EF4-FFF2-40B4-BE49-F238E27FC236}">
                <a16:creationId xmlns:a16="http://schemas.microsoft.com/office/drawing/2014/main" id="{341ABEAD-A321-4550-AF38-6885D73397C5}"/>
              </a:ext>
            </a:extLst>
          </p:cNvPr>
          <p:cNvSpPr>
            <a:spLocks xmlns:a="http://schemas.openxmlformats.org/drawingml/2006/main" noGrp="1"/>
          </p:cNvSpPr>
          <p:nvPr/>
        </p:nvSpPr>
        <p:spPr>
          <a:xfrm xmlns:a="http://schemas.openxmlformats.org/drawingml/2006/main">
            <a:off x="32956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L1</a:t>
            </a:r>
          </a:p>
        </p:txBody>
      </p:sp>
      <p:sp>
        <p:nvSpPr>
          <p:cNvPr id="12" name="stage-progress-dot-2">
            <a:extLst xmlns:a="http://schemas.openxmlformats.org/drawingml/2006/main">
              <a:ext uri="{FF2B5EF4-FFF2-40B4-BE49-F238E27FC236}">
                <a16:creationId xmlns:a16="http://schemas.microsoft.com/office/drawing/2014/main" id="{47EC5C7A-83BB-49EB-BB6F-751E95722C49}"/>
              </a:ext>
            </a:extLst>
          </p:cNvPr>
          <p:cNvSpPr>
            <a:spLocks xmlns:a="http://schemas.openxmlformats.org/drawingml/2006/main" noGrp="1"/>
          </p:cNvSpPr>
          <p:nvPr/>
        </p:nvSpPr>
        <p:spPr>
          <a:xfrm xmlns:a="http://schemas.openxmlformats.org/drawingml/2006/main">
            <a:off x="60293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stage-progress-label-2">
            <a:extLst xmlns:a="http://schemas.openxmlformats.org/drawingml/2006/main">
              <a:ext uri="{FF2B5EF4-FFF2-40B4-BE49-F238E27FC236}">
                <a16:creationId xmlns:a16="http://schemas.microsoft.com/office/drawing/2014/main" id="{7A1B2E8A-117E-4F2B-BBCE-72B41B26C715}"/>
              </a:ext>
            </a:extLst>
          </p:cNvPr>
          <p:cNvSpPr>
            <a:spLocks xmlns:a="http://schemas.openxmlformats.org/drawingml/2006/main" noGrp="1"/>
          </p:cNvSpPr>
          <p:nvPr/>
        </p:nvSpPr>
        <p:spPr>
          <a:xfrm xmlns:a="http://schemas.openxmlformats.org/drawingml/2006/main">
            <a:off x="58102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L2</a:t>
            </a:r>
          </a:p>
        </p:txBody>
      </p:sp>
      <p:sp>
        <p:nvSpPr>
          <p:cNvPr id="14" name="stage-progress-dot-3">
            <a:extLst xmlns:a="http://schemas.openxmlformats.org/drawingml/2006/main">
              <a:ext uri="{FF2B5EF4-FFF2-40B4-BE49-F238E27FC236}">
                <a16:creationId xmlns:a16="http://schemas.microsoft.com/office/drawing/2014/main" id="{EA8E9469-E5DF-4F24-A597-6394367E89E9}"/>
              </a:ext>
            </a:extLst>
          </p:cNvPr>
          <p:cNvSpPr>
            <a:spLocks xmlns:a="http://schemas.openxmlformats.org/drawingml/2006/main" noGrp="1"/>
          </p:cNvSpPr>
          <p:nvPr/>
        </p:nvSpPr>
        <p:spPr>
          <a:xfrm xmlns:a="http://schemas.openxmlformats.org/drawingml/2006/main">
            <a:off x="85439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stage-progress-label-3">
            <a:extLst xmlns:a="http://schemas.openxmlformats.org/drawingml/2006/main">
              <a:ext uri="{FF2B5EF4-FFF2-40B4-BE49-F238E27FC236}">
                <a16:creationId xmlns:a16="http://schemas.microsoft.com/office/drawing/2014/main" id="{E9B3FD49-CCEC-4C3B-89F4-E410AB00C643}"/>
              </a:ext>
            </a:extLst>
          </p:cNvPr>
          <p:cNvSpPr>
            <a:spLocks xmlns:a="http://schemas.openxmlformats.org/drawingml/2006/main" noGrp="1"/>
          </p:cNvSpPr>
          <p:nvPr/>
        </p:nvSpPr>
        <p:spPr>
          <a:xfrm xmlns:a="http://schemas.openxmlformats.org/drawingml/2006/main">
            <a:off x="83248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L3</a:t>
            </a:r>
          </a:p>
        </p:txBody>
      </p:sp>
      <p:sp>
        <p:nvSpPr>
          <p:cNvPr id="16" name="stage-progress-dot-4">
            <a:extLst xmlns:a="http://schemas.openxmlformats.org/drawingml/2006/main">
              <a:ext uri="{FF2B5EF4-FFF2-40B4-BE49-F238E27FC236}">
                <a16:creationId xmlns:a16="http://schemas.microsoft.com/office/drawing/2014/main" id="{EF9CE64E-9026-4D4C-8A42-206D8F06DBC3}"/>
              </a:ext>
            </a:extLst>
          </p:cNvPr>
          <p:cNvSpPr>
            <a:spLocks xmlns:a="http://schemas.openxmlformats.org/drawingml/2006/main" noGrp="1"/>
          </p:cNvSpPr>
          <p:nvPr/>
        </p:nvSpPr>
        <p:spPr>
          <a:xfrm xmlns:a="http://schemas.openxmlformats.org/drawingml/2006/main">
            <a:off x="110585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stage-progress-label-4">
            <a:extLst xmlns:a="http://schemas.openxmlformats.org/drawingml/2006/main">
              <a:ext uri="{FF2B5EF4-FFF2-40B4-BE49-F238E27FC236}">
                <a16:creationId xmlns:a16="http://schemas.microsoft.com/office/drawing/2014/main" id="{3E7EC47A-6EBD-4935-BE14-F8B06A874CAA}"/>
              </a:ext>
            </a:extLst>
          </p:cNvPr>
          <p:cNvSpPr>
            <a:spLocks xmlns:a="http://schemas.openxmlformats.org/drawingml/2006/main" noGrp="1"/>
          </p:cNvSpPr>
          <p:nvPr/>
        </p:nvSpPr>
        <p:spPr>
          <a:xfrm xmlns:a="http://schemas.openxmlformats.org/drawingml/2006/main">
            <a:off x="108394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L4</a:t>
            </a:r>
          </a:p>
        </p:txBody>
      </p:sp>
    </p:spTree>
    <p:extLst>
      <p:ext uri="{BB962C8B-B14F-4D97-AF65-F5344CB8AC3E}">
        <p14:creationId xmlns:p14="http://schemas.microsoft.com/office/powerpoint/2010/main" val="38711664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42-26">
            <a:extLst xmlns:a="http://schemas.openxmlformats.org/drawingml/2006/main">
              <a:ext uri="{FF2B5EF4-FFF2-40B4-BE49-F238E27FC236}">
                <a16:creationId xmlns:a16="http://schemas.microsoft.com/office/drawing/2014/main" id="{1CFEA9F0-82CF-4B22-946C-20D9612D2108}"/>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L0 ARCHITECTURE</a:t>
            </a:r>
          </a:p>
        </p:txBody>
      </p:sp>
      <p:sp>
        <p:nvSpPr>
          <p:cNvPr id="2" name="text-42-54">
            <a:extLst xmlns:a="http://schemas.openxmlformats.org/drawingml/2006/main">
              <a:ext uri="{FF2B5EF4-FFF2-40B4-BE49-F238E27FC236}">
                <a16:creationId xmlns:a16="http://schemas.microsoft.com/office/drawing/2014/main" id="{5D53AD5A-C6F3-4783-B08D-E013BFD06569}"/>
              </a:ext>
            </a:extLst>
          </p:cNvPr>
          <p:cNvSpPr>
            <a:spLocks xmlns:a="http://schemas.openxmlformats.org/drawingml/2006/main" noGrp="1"/>
          </p:cNvSpPr>
          <p:nvPr/>
        </p:nvSpPr>
        <p:spPr>
          <a:xfrm xmlns:a="http://schemas.openxmlformats.org/drawingml/2006/main">
            <a:off x="400050" y="514350"/>
            <a:ext cx="11391900" cy="685800"/>
          </a:xfrm>
          <a:prstGeom xmlns:a="http://schemas.openxmlformats.org/drawingml/2006/main" prst="rect">
            <a:avLst/>
          </a:prstGeom>
        </p:spPr>
        <p:txBody>
          <a:bodyPr xmlns:a="http://schemas.openxmlformats.org/drawingml/2006/main" wrap="square" lIns="0" tIns="0" rIns="0" bIns="0" anchor="t">
            <a:normAutofit lnSpcReduction="20000"/>
          </a:bodyPr>
          <a:lstStyle xmlns:a="http://schemas.openxmlformats.org/drawingml/2006/main"/>
          <a:p xmlns:a="http://schemas.openxmlformats.org/drawingml/2006/main">
            <a:pPr algn="l">
              <a:buNone/>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L0 transforms raw logs into a model-ready attention view</a:t>
            </a:r>
          </a:p>
        </p:txBody>
      </p:sp>
      <p:sp>
        <p:nvSpPr>
          <p:cNvPr id="3" name="line-42-133">
            <a:extLst xmlns:a="http://schemas.openxmlformats.org/drawingml/2006/main">
              <a:ext uri="{FF2B5EF4-FFF2-40B4-BE49-F238E27FC236}">
                <a16:creationId xmlns:a16="http://schemas.microsoft.com/office/drawing/2014/main" id="{C87F2C13-C3DE-45C8-84B7-DADE63572B64}"/>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arrow-250-323">
            <a:extLst xmlns:a="http://schemas.openxmlformats.org/drawingml/2006/main">
              <a:ext uri="{FF2B5EF4-FFF2-40B4-BE49-F238E27FC236}">
                <a16:creationId xmlns:a16="http://schemas.microsoft.com/office/drawing/2014/main" id="{9490A96C-BBE7-43B9-9E6D-016A3D09FEE0}"/>
              </a:ext>
            </a:extLst>
          </p:cNvPr>
          <p:cNvSpPr>
            <a:spLocks xmlns:a="http://schemas.openxmlformats.org/drawingml/2006/main" noGrp="1"/>
          </p:cNvSpPr>
          <p:nvPr/>
        </p:nvSpPr>
        <p:spPr>
          <a:xfrm xmlns:a="http://schemas.openxmlformats.org/drawingml/2006/main">
            <a:off x="2381250" y="3076575"/>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 name="arrow-504-323">
            <a:extLst xmlns:a="http://schemas.openxmlformats.org/drawingml/2006/main">
              <a:ext uri="{FF2B5EF4-FFF2-40B4-BE49-F238E27FC236}">
                <a16:creationId xmlns:a16="http://schemas.microsoft.com/office/drawing/2014/main" id="{5F7D20A3-4832-4886-9D43-116D266217C5}"/>
              </a:ext>
            </a:extLst>
          </p:cNvPr>
          <p:cNvSpPr>
            <a:spLocks xmlns:a="http://schemas.openxmlformats.org/drawingml/2006/main" noGrp="1"/>
          </p:cNvSpPr>
          <p:nvPr/>
        </p:nvSpPr>
        <p:spPr>
          <a:xfrm xmlns:a="http://schemas.openxmlformats.org/drawingml/2006/main">
            <a:off x="4800600" y="3076575"/>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arrow-752-323">
            <a:extLst xmlns:a="http://schemas.openxmlformats.org/drawingml/2006/main">
              <a:ext uri="{FF2B5EF4-FFF2-40B4-BE49-F238E27FC236}">
                <a16:creationId xmlns:a16="http://schemas.microsoft.com/office/drawing/2014/main" id="{C1EA770F-8DA4-4157-9D2D-5029F9C4BE43}"/>
              </a:ext>
            </a:extLst>
          </p:cNvPr>
          <p:cNvSpPr>
            <a:spLocks xmlns:a="http://schemas.openxmlformats.org/drawingml/2006/main" noGrp="1"/>
          </p:cNvSpPr>
          <p:nvPr/>
        </p:nvSpPr>
        <p:spPr>
          <a:xfrm xmlns:a="http://schemas.openxmlformats.org/drawingml/2006/main">
            <a:off x="7162800" y="3076575"/>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7" name="arrow-1004-323">
            <a:extLst xmlns:a="http://schemas.openxmlformats.org/drawingml/2006/main">
              <a:ext uri="{FF2B5EF4-FFF2-40B4-BE49-F238E27FC236}">
                <a16:creationId xmlns:a16="http://schemas.microsoft.com/office/drawing/2014/main" id="{EC404579-D1BB-4A22-A0EC-9CAF5396677E}"/>
              </a:ext>
            </a:extLst>
          </p:cNvPr>
          <p:cNvSpPr>
            <a:spLocks xmlns:a="http://schemas.openxmlformats.org/drawingml/2006/main" noGrp="1"/>
          </p:cNvSpPr>
          <p:nvPr/>
        </p:nvSpPr>
        <p:spPr>
          <a:xfrm xmlns:a="http://schemas.openxmlformats.org/drawingml/2006/main">
            <a:off x="9563100" y="3076575"/>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box-58-258">
            <a:extLst xmlns:a="http://schemas.openxmlformats.org/drawingml/2006/main">
              <a:ext uri="{FF2B5EF4-FFF2-40B4-BE49-F238E27FC236}">
                <a16:creationId xmlns:a16="http://schemas.microsoft.com/office/drawing/2014/main" id="{84771B81-1BD8-4404-940F-EA1048CB4F8B}"/>
              </a:ext>
            </a:extLst>
          </p:cNvPr>
          <p:cNvSpPr>
            <a:spLocks xmlns:a="http://schemas.openxmlformats.org/drawingml/2006/main" noGrp="1"/>
          </p:cNvSpPr>
          <p:nvPr/>
        </p:nvSpPr>
        <p:spPr>
          <a:xfrm xmlns:a="http://schemas.openxmlformats.org/drawingml/2006/main">
            <a:off x="552450" y="2457450"/>
            <a:ext cx="1714500" cy="14668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9" name="text-72-278">
            <a:extLst xmlns:a="http://schemas.openxmlformats.org/drawingml/2006/main">
              <a:ext uri="{FF2B5EF4-FFF2-40B4-BE49-F238E27FC236}">
                <a16:creationId xmlns:a16="http://schemas.microsoft.com/office/drawing/2014/main" id="{39822359-6C91-4DD2-8D4B-45AA3B602DEB}"/>
              </a:ext>
            </a:extLst>
          </p:cNvPr>
          <p:cNvSpPr>
            <a:spLocks xmlns:a="http://schemas.openxmlformats.org/drawingml/2006/main" noGrp="1"/>
          </p:cNvSpPr>
          <p:nvPr/>
        </p:nvSpPr>
        <p:spPr>
          <a:xfrm xmlns:a="http://schemas.openxmlformats.org/drawingml/2006/main">
            <a:off x="685800" y="2647950"/>
            <a:ext cx="14478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RAW LOG</a:t>
            </a:r>
          </a:p>
        </p:txBody>
      </p:sp>
      <p:sp>
        <p:nvSpPr>
          <p:cNvPr id="10" name="text-72-334">
            <a:extLst xmlns:a="http://schemas.openxmlformats.org/drawingml/2006/main">
              <a:ext uri="{FF2B5EF4-FFF2-40B4-BE49-F238E27FC236}">
                <a16:creationId xmlns:a16="http://schemas.microsoft.com/office/drawing/2014/main" id="{AD780260-0BF8-48EA-B87E-7B1443BFC52B}"/>
              </a:ext>
            </a:extLst>
          </p:cNvPr>
          <p:cNvSpPr>
            <a:spLocks xmlns:a="http://schemas.openxmlformats.org/drawingml/2006/main" noGrp="1"/>
          </p:cNvSpPr>
          <p:nvPr/>
        </p:nvSpPr>
        <p:spPr>
          <a:xfrm xmlns:a="http://schemas.openxmlformats.org/drawingml/2006/main">
            <a:off x="685800" y="3181350"/>
            <a:ext cx="144780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Unbounded text
Many ranks</a:t>
            </a:r>
          </a:p>
        </p:txBody>
      </p:sp>
      <p:sp>
        <p:nvSpPr>
          <p:cNvPr id="11" name="box-294-258">
            <a:extLst xmlns:a="http://schemas.openxmlformats.org/drawingml/2006/main">
              <a:ext uri="{FF2B5EF4-FFF2-40B4-BE49-F238E27FC236}">
                <a16:creationId xmlns:a16="http://schemas.microsoft.com/office/drawing/2014/main" id="{1444AB9C-72D2-4509-9DFB-6A4EBF901398}"/>
              </a:ext>
            </a:extLst>
          </p:cNvPr>
          <p:cNvSpPr>
            <a:spLocks xmlns:a="http://schemas.openxmlformats.org/drawingml/2006/main" noGrp="1"/>
          </p:cNvSpPr>
          <p:nvPr/>
        </p:nvSpPr>
        <p:spPr>
          <a:xfrm xmlns:a="http://schemas.openxmlformats.org/drawingml/2006/main">
            <a:off x="2800350" y="2457450"/>
            <a:ext cx="1885950" cy="14668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2" name="text-308-278">
            <a:extLst xmlns:a="http://schemas.openxmlformats.org/drawingml/2006/main">
              <a:ext uri="{FF2B5EF4-FFF2-40B4-BE49-F238E27FC236}">
                <a16:creationId xmlns:a16="http://schemas.microsoft.com/office/drawing/2014/main" id="{5743D966-686C-4109-8B41-177BA6B8F3FF}"/>
              </a:ext>
            </a:extLst>
          </p:cNvPr>
          <p:cNvSpPr>
            <a:spLocks xmlns:a="http://schemas.openxmlformats.org/drawingml/2006/main" noGrp="1"/>
          </p:cNvSpPr>
          <p:nvPr/>
        </p:nvSpPr>
        <p:spPr>
          <a:xfrm xmlns:a="http://schemas.openxmlformats.org/drawingml/2006/main">
            <a:off x="2933700" y="2647950"/>
            <a:ext cx="161925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L0Bundle</a:t>
            </a:r>
          </a:p>
        </p:txBody>
      </p:sp>
      <p:sp>
        <p:nvSpPr>
          <p:cNvPr id="13" name="text-308-334">
            <a:extLst xmlns:a="http://schemas.openxmlformats.org/drawingml/2006/main">
              <a:ext uri="{FF2B5EF4-FFF2-40B4-BE49-F238E27FC236}">
                <a16:creationId xmlns:a16="http://schemas.microsoft.com/office/drawing/2014/main" id="{FE6C083F-AF25-4619-B7E2-ADC70B989B74}"/>
              </a:ext>
            </a:extLst>
          </p:cNvPr>
          <p:cNvSpPr>
            <a:spLocks xmlns:a="http://schemas.openxmlformats.org/drawingml/2006/main" noGrp="1"/>
          </p:cNvSpPr>
          <p:nvPr/>
        </p:nvSpPr>
        <p:spPr>
          <a:xfrm xmlns:a="http://schemas.openxmlformats.org/drawingml/2006/main">
            <a:off x="2933700" y="3181350"/>
            <a:ext cx="1619250" cy="514350"/>
          </a:xfrm>
          <a:prstGeom xmlns:a="http://schemas.openxmlformats.org/drawingml/2006/main" prst="rect">
            <a:avLst/>
          </a:prstGeom>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Complete typed evidence
Refs + provenance</a:t>
            </a:r>
          </a:p>
        </p:txBody>
      </p:sp>
      <p:sp>
        <p:nvSpPr>
          <p:cNvPr id="14" name="box-542-258">
            <a:extLst xmlns:a="http://schemas.openxmlformats.org/drawingml/2006/main">
              <a:ext uri="{FF2B5EF4-FFF2-40B4-BE49-F238E27FC236}">
                <a16:creationId xmlns:a16="http://schemas.microsoft.com/office/drawing/2014/main" id="{DCEE43F9-307D-40C4-B3CD-17CC6F595353}"/>
              </a:ext>
            </a:extLst>
          </p:cNvPr>
          <p:cNvSpPr>
            <a:spLocks xmlns:a="http://schemas.openxmlformats.org/drawingml/2006/main" noGrp="1"/>
          </p:cNvSpPr>
          <p:nvPr/>
        </p:nvSpPr>
        <p:spPr>
          <a:xfrm xmlns:a="http://schemas.openxmlformats.org/drawingml/2006/main">
            <a:off x="5162550" y="2457450"/>
            <a:ext cx="1885950" cy="14668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5" name="text-556-278">
            <a:extLst xmlns:a="http://schemas.openxmlformats.org/drawingml/2006/main">
              <a:ext uri="{FF2B5EF4-FFF2-40B4-BE49-F238E27FC236}">
                <a16:creationId xmlns:a16="http://schemas.microsoft.com/office/drawing/2014/main" id="{719D70E1-360B-4C68-8556-785E4926E45C}"/>
              </a:ext>
            </a:extLst>
          </p:cNvPr>
          <p:cNvSpPr>
            <a:spLocks xmlns:a="http://schemas.openxmlformats.org/drawingml/2006/main" noGrp="1"/>
          </p:cNvSpPr>
          <p:nvPr/>
        </p:nvSpPr>
        <p:spPr>
          <a:xfrm xmlns:a="http://schemas.openxmlformats.org/drawingml/2006/main">
            <a:off x="5295900" y="2647950"/>
            <a:ext cx="161925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DecisionEvidence</a:t>
            </a:r>
          </a:p>
        </p:txBody>
      </p:sp>
      <p:sp>
        <p:nvSpPr>
          <p:cNvPr id="16" name="text-556-334">
            <a:extLst xmlns:a="http://schemas.openxmlformats.org/drawingml/2006/main">
              <a:ext uri="{FF2B5EF4-FFF2-40B4-BE49-F238E27FC236}">
                <a16:creationId xmlns:a16="http://schemas.microsoft.com/office/drawing/2014/main" id="{14EA4110-087C-447B-802D-0CE3DC014F7F}"/>
              </a:ext>
            </a:extLst>
          </p:cNvPr>
          <p:cNvSpPr>
            <a:spLocks xmlns:a="http://schemas.openxmlformats.org/drawingml/2006/main" noGrp="1"/>
          </p:cNvSpPr>
          <p:nvPr/>
        </p:nvSpPr>
        <p:spPr>
          <a:xfrm xmlns:a="http://schemas.openxmlformats.org/drawingml/2006/main">
            <a:off x="5295900" y="3181350"/>
            <a:ext cx="161925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Primary-centered facts
Attention-prioritized</a:t>
            </a:r>
          </a:p>
        </p:txBody>
      </p:sp>
      <p:sp>
        <p:nvSpPr>
          <p:cNvPr id="17" name="box-794-258">
            <a:extLst xmlns:a="http://schemas.openxmlformats.org/drawingml/2006/main">
              <a:ext uri="{FF2B5EF4-FFF2-40B4-BE49-F238E27FC236}">
                <a16:creationId xmlns:a16="http://schemas.microsoft.com/office/drawing/2014/main" id="{A0D8ACB1-69C2-4C63-BC5E-A3479DF2CC85}"/>
              </a:ext>
            </a:extLst>
          </p:cNvPr>
          <p:cNvSpPr>
            <a:spLocks xmlns:a="http://schemas.openxmlformats.org/drawingml/2006/main" noGrp="1"/>
          </p:cNvSpPr>
          <p:nvPr/>
        </p:nvSpPr>
        <p:spPr>
          <a:xfrm xmlns:a="http://schemas.openxmlformats.org/drawingml/2006/main">
            <a:off x="7562850" y="2457450"/>
            <a:ext cx="1885950" cy="14668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8" name="text-808-278">
            <a:extLst xmlns:a="http://schemas.openxmlformats.org/drawingml/2006/main">
              <a:ext uri="{FF2B5EF4-FFF2-40B4-BE49-F238E27FC236}">
                <a16:creationId xmlns:a16="http://schemas.microsoft.com/office/drawing/2014/main" id="{63686E5D-5E51-4F1C-B73A-12D92893526B}"/>
              </a:ext>
            </a:extLst>
          </p:cNvPr>
          <p:cNvSpPr>
            <a:spLocks xmlns:a="http://schemas.openxmlformats.org/drawingml/2006/main" noGrp="1"/>
          </p:cNvSpPr>
          <p:nvPr/>
        </p:nvSpPr>
        <p:spPr>
          <a:xfrm xmlns:a="http://schemas.openxmlformats.org/drawingml/2006/main">
            <a:off x="7696200" y="2647950"/>
            <a:ext cx="1619250" cy="323850"/>
          </a:xfrm>
          <a:prstGeom xmlns:a="http://schemas.openxmlformats.org/drawingml/2006/main" prst="rect">
            <a:avLst/>
          </a:prstGeom>
        </p:spPr>
        <p:txBody>
          <a:bodyPr xmlns:a="http://schemas.openxmlformats.org/drawingml/2006/main" wrap="square" lIns="0" tIns="0" rIns="0" bIns="0" anchor="t">
            <a:normAutofit fontScale="85342"/>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Model attention view</a:t>
            </a:r>
          </a:p>
        </p:txBody>
      </p:sp>
      <p:sp>
        <p:nvSpPr>
          <p:cNvPr id="19" name="text-808-334">
            <a:extLst xmlns:a="http://schemas.openxmlformats.org/drawingml/2006/main">
              <a:ext uri="{FF2B5EF4-FFF2-40B4-BE49-F238E27FC236}">
                <a16:creationId xmlns:a16="http://schemas.microsoft.com/office/drawing/2014/main" id="{E50BA52F-FDC1-4097-AB06-E025AB5FBEFB}"/>
              </a:ext>
            </a:extLst>
          </p:cNvPr>
          <p:cNvSpPr>
            <a:spLocks xmlns:a="http://schemas.openxmlformats.org/drawingml/2006/main" noGrp="1"/>
          </p:cNvSpPr>
          <p:nvPr/>
        </p:nvSpPr>
        <p:spPr>
          <a:xfrm xmlns:a="http://schemas.openxmlformats.org/drawingml/2006/main">
            <a:off x="7696200" y="3181350"/>
            <a:ext cx="161925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Bounded JSON
Selected raw excerpts</a:t>
            </a:r>
          </a:p>
        </p:txBody>
      </p:sp>
      <p:sp>
        <p:nvSpPr>
          <p:cNvPr id="20" name="box-1036-258">
            <a:extLst xmlns:a="http://schemas.openxmlformats.org/drawingml/2006/main">
              <a:ext uri="{FF2B5EF4-FFF2-40B4-BE49-F238E27FC236}">
                <a16:creationId xmlns:a16="http://schemas.microsoft.com/office/drawing/2014/main" id="{3D66F727-ECAC-4C25-BCD5-BCF2E1B87EEC}"/>
              </a:ext>
            </a:extLst>
          </p:cNvPr>
          <p:cNvSpPr>
            <a:spLocks xmlns:a="http://schemas.openxmlformats.org/drawingml/2006/main" noGrp="1"/>
          </p:cNvSpPr>
          <p:nvPr/>
        </p:nvSpPr>
        <p:spPr>
          <a:xfrm xmlns:a="http://schemas.openxmlformats.org/drawingml/2006/main">
            <a:off x="9867900" y="2457450"/>
            <a:ext cx="1752600" cy="14668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1050-278">
            <a:extLst xmlns:a="http://schemas.openxmlformats.org/drawingml/2006/main">
              <a:ext uri="{FF2B5EF4-FFF2-40B4-BE49-F238E27FC236}">
                <a16:creationId xmlns:a16="http://schemas.microsoft.com/office/drawing/2014/main" id="{6B4C8F98-2717-4B45-80E3-D21A55F7C0C2}"/>
              </a:ext>
            </a:extLst>
          </p:cNvPr>
          <p:cNvSpPr>
            <a:spLocks xmlns:a="http://schemas.openxmlformats.org/drawingml/2006/main" noGrp="1"/>
          </p:cNvSpPr>
          <p:nvPr/>
        </p:nvSpPr>
        <p:spPr>
          <a:xfrm xmlns:a="http://schemas.openxmlformats.org/drawingml/2006/main">
            <a:off x="10001250" y="2647950"/>
            <a:ext cx="1485900" cy="323850"/>
          </a:xfrm>
          <a:prstGeom xmlns:a="http://schemas.openxmlformats.org/drawingml/2006/main" prst="rect">
            <a:avLst/>
          </a:prstGeom>
        </p:spPr>
        <p:txBody>
          <a:bodyPr xmlns:a="http://schemas.openxmlformats.org/drawingml/2006/main" wrap="square" lIns="0" tIns="0" rIns="0" bIns="0" anchor="t">
            <a:normAutofit lnSpcReduction="10000"/>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L1</a:t>
            </a:r>
          </a:p>
        </p:txBody>
      </p:sp>
      <p:sp>
        <p:nvSpPr>
          <p:cNvPr id="22" name="text-1050-334">
            <a:extLst xmlns:a="http://schemas.openxmlformats.org/drawingml/2006/main">
              <a:ext uri="{FF2B5EF4-FFF2-40B4-BE49-F238E27FC236}">
                <a16:creationId xmlns:a16="http://schemas.microsoft.com/office/drawing/2014/main" id="{4408DD21-CC0A-47BD-8E3D-F6727F205963}"/>
              </a:ext>
            </a:extLst>
          </p:cNvPr>
          <p:cNvSpPr>
            <a:spLocks xmlns:a="http://schemas.openxmlformats.org/drawingml/2006/main" noGrp="1"/>
          </p:cNvSpPr>
          <p:nvPr/>
        </p:nvSpPr>
        <p:spPr>
          <a:xfrm xmlns:a="http://schemas.openxmlformats.org/drawingml/2006/main">
            <a:off x="10001250" y="3181350"/>
            <a:ext cx="1485900" cy="514350"/>
          </a:xfrm>
          <a:prstGeom xmlns:a="http://schemas.openxmlformats.org/drawingml/2006/main" prst="rect">
            <a:avLst/>
          </a:prstGeom>
        </p:spPr>
        <p:txBody>
          <a:bodyPr xmlns:a="http://schemas.openxmlformats.org/drawingml/2006/main" wrap="square" lIns="0" tIns="0" rIns="0" bIns="0" anchor="t">
            <a:normAutofit fontScale="98991"/>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Recovery assessment
Tools may expand</a:t>
            </a:r>
          </a:p>
        </p:txBody>
      </p:sp>
      <p:sp>
        <p:nvSpPr>
          <p:cNvPr id="23" name="line-1140-453">
            <a:extLst xmlns:a="http://schemas.openxmlformats.org/drawingml/2006/main">
              <a:ext uri="{FF2B5EF4-FFF2-40B4-BE49-F238E27FC236}">
                <a16:creationId xmlns:a16="http://schemas.microsoft.com/office/drawing/2014/main" id="{3160B86E-7401-4E1A-A545-9DDC72340130}"/>
              </a:ext>
            </a:extLst>
          </p:cNvPr>
          <p:cNvSpPr>
            <a:spLocks xmlns:a="http://schemas.openxmlformats.org/drawingml/2006/main" noGrp="1"/>
          </p:cNvSpPr>
          <p:nvPr/>
        </p:nvSpPr>
        <p:spPr>
          <a:xfrm xmlns:a="http://schemas.openxmlformats.org/drawingml/2006/main">
            <a:off x="2019300" y="4314825"/>
            <a:ext cx="73152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arrow-190-442">
            <a:extLst xmlns:a="http://schemas.openxmlformats.org/drawingml/2006/main">
              <a:ext uri="{FF2B5EF4-FFF2-40B4-BE49-F238E27FC236}">
                <a16:creationId xmlns:a16="http://schemas.microsoft.com/office/drawing/2014/main" id="{DBAFCCA4-DD3F-42E3-B3DF-DA6141E7A040}"/>
              </a:ext>
            </a:extLst>
          </p:cNvPr>
          <p:cNvSpPr>
            <a:spLocks xmlns:a="http://schemas.openxmlformats.org/drawingml/2006/main" noGrp="1"/>
          </p:cNvSpPr>
          <p:nvPr/>
        </p:nvSpPr>
        <p:spPr>
          <a:xfrm xmlns:a="http://schemas.openxmlformats.org/drawingml/2006/main">
            <a:off x="1809750" y="42100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5" name="text-438-470">
            <a:extLst xmlns:a="http://schemas.openxmlformats.org/drawingml/2006/main">
              <a:ext uri="{FF2B5EF4-FFF2-40B4-BE49-F238E27FC236}">
                <a16:creationId xmlns:a16="http://schemas.microsoft.com/office/drawing/2014/main" id="{FB5D9D69-BE92-4D00-BE19-49F77245F3A4}"/>
              </a:ext>
            </a:extLst>
          </p:cNvPr>
          <p:cNvSpPr>
            <a:spLocks xmlns:a="http://schemas.openxmlformats.org/drawingml/2006/main" noGrp="1"/>
          </p:cNvSpPr>
          <p:nvPr/>
        </p:nvSpPr>
        <p:spPr>
          <a:xfrm xmlns:a="http://schemas.openxmlformats.org/drawingml/2006/main">
            <a:off x="2857500" y="4476750"/>
            <a:ext cx="64770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350" b="1">
                <a:solidFill>
                  <a:srgbClr val="3D8DFF"/>
                </a:solidFill>
                <a:latin typeface="Helvetica Neue"/>
                <a:ea typeface="Helvetica Neue"/>
                <a:cs typeface="Helvetica Neue"/>
              </a:defRPr>
            </a:pPr>
            <a:r>
              <a:t>L0A: parse -&gt; type -&gt; select    |    L0B: project -&gt; serialize</a:t>
            </a:r>
          </a:p>
        </p:txBody>
      </p:sp>
      <p:sp>
        <p:nvSpPr>
          <p:cNvPr id="26" name="box-156-548">
            <a:extLst xmlns:a="http://schemas.openxmlformats.org/drawingml/2006/main">
              <a:ext uri="{FF2B5EF4-FFF2-40B4-BE49-F238E27FC236}">
                <a16:creationId xmlns:a16="http://schemas.microsoft.com/office/drawing/2014/main" id="{DAA45E0C-EA49-4DFC-BFD0-365B68185B8B}"/>
              </a:ext>
            </a:extLst>
          </p:cNvPr>
          <p:cNvSpPr>
            <a:spLocks xmlns:a="http://schemas.openxmlformats.org/drawingml/2006/main" noGrp="1"/>
          </p:cNvSpPr>
          <p:nvPr/>
        </p:nvSpPr>
        <p:spPr>
          <a:xfrm xmlns:a="http://schemas.openxmlformats.org/drawingml/2006/main">
            <a:off x="1485900" y="5219700"/>
            <a:ext cx="9220200" cy="6667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27" name="text-178-566">
            <a:extLst xmlns:a="http://schemas.openxmlformats.org/drawingml/2006/main">
              <a:ext uri="{FF2B5EF4-FFF2-40B4-BE49-F238E27FC236}">
                <a16:creationId xmlns:a16="http://schemas.microsoft.com/office/drawing/2014/main" id="{EADA753C-8E82-4533-9942-12DEB68D1B27}"/>
              </a:ext>
            </a:extLst>
          </p:cNvPr>
          <p:cNvSpPr>
            <a:spLocks xmlns:a="http://schemas.openxmlformats.org/drawingml/2006/main" noGrp="1"/>
          </p:cNvSpPr>
          <p:nvPr/>
        </p:nvSpPr>
        <p:spPr>
          <a:xfrm xmlns:a="http://schemas.openxmlformats.org/drawingml/2006/main">
            <a:off x="1695450" y="5391150"/>
            <a:ext cx="52387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Preserve broadly; present selectively</a:t>
            </a:r>
          </a:p>
        </p:txBody>
      </p:sp>
      <p:sp>
        <p:nvSpPr>
          <p:cNvPr id="28" name="text-744-568">
            <a:extLst xmlns:a="http://schemas.openxmlformats.org/drawingml/2006/main">
              <a:ext uri="{FF2B5EF4-FFF2-40B4-BE49-F238E27FC236}">
                <a16:creationId xmlns:a16="http://schemas.microsoft.com/office/drawing/2014/main" id="{0149B60F-EAEF-4D4A-BCA0-3345B5B3A074}"/>
              </a:ext>
            </a:extLst>
          </p:cNvPr>
          <p:cNvSpPr>
            <a:spLocks xmlns:a="http://schemas.openxmlformats.org/drawingml/2006/main" noGrp="1"/>
          </p:cNvSpPr>
          <p:nvPr/>
        </p:nvSpPr>
        <p:spPr>
          <a:xfrm xmlns:a="http://schemas.openxmlformats.org/drawingml/2006/main">
            <a:off x="7086600" y="5410200"/>
            <a:ext cx="3352800" cy="228600"/>
          </a:xfrm>
          <a:prstGeom xmlns:a="http://schemas.openxmlformats.org/drawingml/2006/main" prst="rect">
            <a:avLst/>
          </a:prstGeom>
        </p:spPr>
        <p:txBody>
          <a:bodyPr xmlns:a="http://schemas.openxmlformats.org/drawingml/2006/main" wrap="square" lIns="0" tIns="0" rIns="0" bIns="0" anchor="t">
            <a:normAutofit lnSpcReduction="10000"/>
          </a:bodyPr>
          <a:lstStyle xmlns:a="http://schemas.openxmlformats.org/drawingml/2006/main"/>
          <a:p xmlns:a="http://schemas.openxmlformats.org/drawingml/2006/main">
            <a:pPr algn="r">
              <a:buNone/>
              <a:defRPr sz="1200" b="0">
                <a:solidFill>
                  <a:srgbClr val="5D6470"/>
                </a:solidFill>
                <a:latin typeface="Helvetica Neue"/>
                <a:ea typeface="Helvetica Neue"/>
                <a:cs typeface="Helvetica Neue"/>
              </a:defRPr>
            </a:pPr>
            <a:r>
              <a:t>The initial view is bounded, not exclusive.</a:t>
            </a:r>
          </a:p>
        </p:txBody>
      </p:sp>
    </p:spTree>
    <p:extLst>
      <p:ext uri="{BB962C8B-B14F-4D97-AF65-F5344CB8AC3E}">
        <p14:creationId xmlns:p14="http://schemas.microsoft.com/office/powerpoint/2010/main" val="515145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text-42-26">
            <a:extLst xmlns:a="http://schemas.openxmlformats.org/drawingml/2006/main">
              <a:ext uri="{FF2B5EF4-FFF2-40B4-BE49-F238E27FC236}">
                <a16:creationId xmlns:a16="http://schemas.microsoft.com/office/drawing/2014/main" id="{74F123DA-4492-4351-9542-7957071A8D4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RUNTIME</a:t>
            </a:r>
          </a:p>
        </p:txBody>
      </p:sp>
      <p:sp>
        <p:nvSpPr>
          <p:cNvPr id="2" name="text-42-54">
            <a:extLst xmlns:a="http://schemas.openxmlformats.org/drawingml/2006/main">
              <a:ext uri="{FF2B5EF4-FFF2-40B4-BE49-F238E27FC236}">
                <a16:creationId xmlns:a16="http://schemas.microsoft.com/office/drawing/2014/main" id="{E4CF51B7-8D8D-4058-A3A1-066DF4031313}"/>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lnSpcReduction="1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Terminal mode overlaps L0A with bounded log drain</a:t>
            </a:r>
          </a:p>
        </p:txBody>
      </p:sp>
      <p:sp>
        <p:nvSpPr>
          <p:cNvPr id="3" name="line-42-133">
            <a:extLst xmlns:a="http://schemas.openxmlformats.org/drawingml/2006/main">
              <a:ext uri="{FF2B5EF4-FFF2-40B4-BE49-F238E27FC236}">
                <a16:creationId xmlns:a16="http://schemas.microsoft.com/office/drawing/2014/main" id="{65FD5370-607C-4068-B074-614B1018D54C}"/>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6" name="line-82-230">
            <a:extLst xmlns:a="http://schemas.openxmlformats.org/drawingml/2006/main">
              <a:ext uri="{FF2B5EF4-FFF2-40B4-BE49-F238E27FC236}">
                <a16:creationId xmlns:a16="http://schemas.microsoft.com/office/drawing/2014/main" id="{EFDB0DF9-20FD-4FDE-9EA0-FC082B4AB72F}"/>
              </a:ext>
            </a:extLst>
          </p:cNvPr>
          <p:cNvSpPr>
            <a:spLocks xmlns:a="http://schemas.openxmlformats.org/drawingml/2006/main" noGrp="1"/>
          </p:cNvSpPr>
          <p:nvPr/>
        </p:nvSpPr>
        <p:spPr>
          <a:xfrm xmlns:a="http://schemas.openxmlformats.org/drawingml/2006/main">
            <a:off x="781050" y="2190750"/>
            <a:ext cx="10172700" cy="190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47" name="line-694-230">
            <a:extLst xmlns:a="http://schemas.openxmlformats.org/drawingml/2006/main">
              <a:ext uri="{FF2B5EF4-FFF2-40B4-BE49-F238E27FC236}">
                <a16:creationId xmlns:a16="http://schemas.microsoft.com/office/drawing/2014/main" id="{F8A8D88E-DF81-4E34-A98C-BD409C68C2E9}"/>
              </a:ext>
            </a:extLst>
          </p:cNvPr>
          <p:cNvSpPr>
            <a:spLocks xmlns:a="http://schemas.openxmlformats.org/drawingml/2006/main" noGrp="1"/>
          </p:cNvSpPr>
          <p:nvPr/>
        </p:nvSpPr>
        <p:spPr>
          <a:xfrm xmlns:a="http://schemas.openxmlformats.org/drawingml/2006/main">
            <a:off x="6610350" y="2190750"/>
            <a:ext cx="43434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48" name="dot-82-222">
            <a:extLst xmlns:a="http://schemas.openxmlformats.org/drawingml/2006/main">
              <a:ext uri="{FF2B5EF4-FFF2-40B4-BE49-F238E27FC236}">
                <a16:creationId xmlns:a16="http://schemas.microsoft.com/office/drawing/2014/main" id="{A79EAF20-6B5A-4253-8524-1E19B13FC96D}"/>
              </a:ext>
            </a:extLst>
          </p:cNvPr>
          <p:cNvSpPr>
            <a:spLocks xmlns:a="http://schemas.openxmlformats.org/drawingml/2006/main" noGrp="1"/>
          </p:cNvSpPr>
          <p:nvPr/>
        </p:nvSpPr>
        <p:spPr>
          <a:xfrm xmlns:a="http://schemas.openxmlformats.org/drawingml/2006/main">
            <a:off x="781050" y="2114550"/>
            <a:ext cx="133350" cy="1333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49" name="dot-366-222">
            <a:extLst xmlns:a="http://schemas.openxmlformats.org/drawingml/2006/main">
              <a:ext uri="{FF2B5EF4-FFF2-40B4-BE49-F238E27FC236}">
                <a16:creationId xmlns:a16="http://schemas.microsoft.com/office/drawing/2014/main" id="{1D8D455C-DD2A-4E91-8160-F4F914FCF724}"/>
              </a:ext>
            </a:extLst>
          </p:cNvPr>
          <p:cNvSpPr>
            <a:spLocks xmlns:a="http://schemas.openxmlformats.org/drawingml/2006/main" noGrp="1"/>
          </p:cNvSpPr>
          <p:nvPr/>
        </p:nvSpPr>
        <p:spPr>
          <a:xfrm xmlns:a="http://schemas.openxmlformats.org/drawingml/2006/main">
            <a:off x="3486150" y="2114550"/>
            <a:ext cx="133350" cy="1333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50" name="dot-694-222">
            <a:extLst xmlns:a="http://schemas.openxmlformats.org/drawingml/2006/main">
              <a:ext uri="{FF2B5EF4-FFF2-40B4-BE49-F238E27FC236}">
                <a16:creationId xmlns:a16="http://schemas.microsoft.com/office/drawing/2014/main" id="{B20CCE40-18FD-41C7-962F-26A1E3C48BBC}"/>
              </a:ext>
            </a:extLst>
          </p:cNvPr>
          <p:cNvSpPr>
            <a:spLocks xmlns:a="http://schemas.openxmlformats.org/drawingml/2006/main" noGrp="1"/>
          </p:cNvSpPr>
          <p:nvPr/>
        </p:nvSpPr>
        <p:spPr>
          <a:xfrm xmlns:a="http://schemas.openxmlformats.org/drawingml/2006/main">
            <a:off x="6610350" y="2114550"/>
            <a:ext cx="133350" cy="1333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1" name="dot-930-222">
            <a:extLst xmlns:a="http://schemas.openxmlformats.org/drawingml/2006/main">
              <a:ext uri="{FF2B5EF4-FFF2-40B4-BE49-F238E27FC236}">
                <a16:creationId xmlns:a16="http://schemas.microsoft.com/office/drawing/2014/main" id="{ACFBCEAE-FEFF-4B74-B1B3-EC9EA8CCF963}"/>
              </a:ext>
            </a:extLst>
          </p:cNvPr>
          <p:cNvSpPr>
            <a:spLocks xmlns:a="http://schemas.openxmlformats.org/drawingml/2006/main" noGrp="1"/>
          </p:cNvSpPr>
          <p:nvPr/>
        </p:nvSpPr>
        <p:spPr>
          <a:xfrm xmlns:a="http://schemas.openxmlformats.org/drawingml/2006/main">
            <a:off x="8858250" y="2114550"/>
            <a:ext cx="133350" cy="1333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2" name="dot-1150-222">
            <a:extLst xmlns:a="http://schemas.openxmlformats.org/drawingml/2006/main">
              <a:ext uri="{FF2B5EF4-FFF2-40B4-BE49-F238E27FC236}">
                <a16:creationId xmlns:a16="http://schemas.microsoft.com/office/drawing/2014/main" id="{D32A894A-375D-4FD4-8041-2D2237155F9F}"/>
              </a:ext>
            </a:extLst>
          </p:cNvPr>
          <p:cNvSpPr>
            <a:spLocks xmlns:a="http://schemas.openxmlformats.org/drawingml/2006/main" noGrp="1"/>
          </p:cNvSpPr>
          <p:nvPr/>
        </p:nvSpPr>
        <p:spPr>
          <a:xfrm xmlns:a="http://schemas.openxmlformats.org/drawingml/2006/main">
            <a:off x="10953750" y="2114550"/>
            <a:ext cx="133350" cy="1333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3" name="text-64-170">
            <a:extLst xmlns:a="http://schemas.openxmlformats.org/drawingml/2006/main">
              <a:ext uri="{FF2B5EF4-FFF2-40B4-BE49-F238E27FC236}">
                <a16:creationId xmlns:a16="http://schemas.microsoft.com/office/drawing/2014/main" id="{A1D68ACB-0879-44EF-9FD0-8ABA8B7D2C63}"/>
              </a:ext>
            </a:extLst>
          </p:cNvPr>
          <p:cNvSpPr>
            <a:spLocks xmlns:a="http://schemas.openxmlformats.org/drawingml/2006/main" noGrp="1"/>
          </p:cNvSpPr>
          <p:nvPr/>
        </p:nvSpPr>
        <p:spPr>
          <a:xfrm xmlns:a="http://schemas.openxmlformats.org/drawingml/2006/main">
            <a:off x="609600" y="1619250"/>
            <a:ext cx="14287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Cycle start</a:t>
            </a:r>
          </a:p>
        </p:txBody>
      </p:sp>
      <p:sp>
        <p:nvSpPr>
          <p:cNvPr id="54" name="text-294-170">
            <a:extLst xmlns:a="http://schemas.openxmlformats.org/drawingml/2006/main">
              <a:ext uri="{FF2B5EF4-FFF2-40B4-BE49-F238E27FC236}">
                <a16:creationId xmlns:a16="http://schemas.microsoft.com/office/drawing/2014/main" id="{0AD1E92C-3826-4C15-8B86-75AA9B6818E2}"/>
              </a:ext>
            </a:extLst>
          </p:cNvPr>
          <p:cNvSpPr>
            <a:spLocks xmlns:a="http://schemas.openxmlformats.org/drawingml/2006/main" noGrp="1"/>
          </p:cNvSpPr>
          <p:nvPr/>
        </p:nvSpPr>
        <p:spPr>
          <a:xfrm xmlns:a="http://schemas.openxmlformats.org/drawingml/2006/main">
            <a:off x="2800350" y="1619250"/>
            <a:ext cx="2095500" cy="266700"/>
          </a:xfrm>
          <a:prstGeom xmlns:a="http://schemas.openxmlformats.org/drawingml/2006/main" prst="rect">
            <a:avLst/>
          </a:prstGeom>
        </p:spPr>
        <p:txBody>
          <a:bodyPr xmlns:a="http://schemas.openxmlformats.org/drawingml/2006/main" wrap="square" lIns="0" tIns="0" rIns="0" bIns="0" anchor="t">
            <a:normAutofit fontScale="99231"/>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Registration only (default)</a:t>
            </a:r>
          </a:p>
        </p:txBody>
      </p:sp>
      <p:sp>
        <p:nvSpPr>
          <p:cNvPr id="55" name="text-642-162">
            <a:extLst xmlns:a="http://schemas.openxmlformats.org/drawingml/2006/main">
              <a:ext uri="{FF2B5EF4-FFF2-40B4-BE49-F238E27FC236}">
                <a16:creationId xmlns:a16="http://schemas.microsoft.com/office/drawing/2014/main" id="{073207EB-62C4-4E1B-AB73-70052562FBC5}"/>
              </a:ext>
            </a:extLst>
          </p:cNvPr>
          <p:cNvSpPr>
            <a:spLocks xmlns:a="http://schemas.openxmlformats.org/drawingml/2006/main" noGrp="1"/>
          </p:cNvSpPr>
          <p:nvPr/>
        </p:nvSpPr>
        <p:spPr>
          <a:xfrm xmlns:a="http://schemas.openxmlformats.org/drawingml/2006/main">
            <a:off x="6115050" y="1543050"/>
            <a:ext cx="1619250" cy="247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Cycle end</a:t>
            </a:r>
          </a:p>
        </p:txBody>
      </p:sp>
      <p:sp>
        <p:nvSpPr>
          <p:cNvPr id="56" name="text-642-190">
            <a:extLst xmlns:a="http://schemas.openxmlformats.org/drawingml/2006/main">
              <a:ext uri="{FF2B5EF4-FFF2-40B4-BE49-F238E27FC236}">
                <a16:creationId xmlns:a16="http://schemas.microsoft.com/office/drawing/2014/main" id="{22FE5F83-2D95-4705-9542-C72D23FF389E}"/>
              </a:ext>
            </a:extLst>
          </p:cNvPr>
          <p:cNvSpPr>
            <a:spLocks xmlns:a="http://schemas.openxmlformats.org/drawingml/2006/main" noGrp="1"/>
          </p:cNvSpPr>
          <p:nvPr/>
        </p:nvSpPr>
        <p:spPr>
          <a:xfrm xmlns:a="http://schemas.openxmlformats.org/drawingml/2006/main">
            <a:off x="6115050" y="1809750"/>
            <a:ext cx="1714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5D6470"/>
                </a:solidFill>
                <a:latin typeface="Helvetica Neue"/>
                <a:ea typeface="Helvetica Neue"/>
                <a:cs typeface="Helvetica Neue"/>
              </a:defRPr>
            </a:pPr>
            <a:r>
              <a:t>terminal signal</a:t>
            </a:r>
          </a:p>
        </p:txBody>
      </p:sp>
      <p:sp>
        <p:nvSpPr>
          <p:cNvPr id="57" name="text-866-162">
            <a:extLst xmlns:a="http://schemas.openxmlformats.org/drawingml/2006/main">
              <a:ext uri="{FF2B5EF4-FFF2-40B4-BE49-F238E27FC236}">
                <a16:creationId xmlns:a16="http://schemas.microsoft.com/office/drawing/2014/main" id="{D4442169-27E7-4CDF-BF9A-11F8ABECAFB6}"/>
              </a:ext>
            </a:extLst>
          </p:cNvPr>
          <p:cNvSpPr>
            <a:spLocks xmlns:a="http://schemas.openxmlformats.org/drawingml/2006/main" noGrp="1"/>
          </p:cNvSpPr>
          <p:nvPr/>
        </p:nvSpPr>
        <p:spPr>
          <a:xfrm xmlns:a="http://schemas.openxmlformats.org/drawingml/2006/main">
            <a:off x="8248650" y="1543050"/>
            <a:ext cx="1714500" cy="247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Log converges</a:t>
            </a:r>
          </a:p>
        </p:txBody>
      </p:sp>
      <p:sp>
        <p:nvSpPr>
          <p:cNvPr id="58" name="text-866-190">
            <a:extLst xmlns:a="http://schemas.openxmlformats.org/drawingml/2006/main">
              <a:ext uri="{FF2B5EF4-FFF2-40B4-BE49-F238E27FC236}">
                <a16:creationId xmlns:a16="http://schemas.microsoft.com/office/drawing/2014/main" id="{A320292F-9353-4F1B-93B8-570405C0BEEE}"/>
              </a:ext>
            </a:extLst>
          </p:cNvPr>
          <p:cNvSpPr>
            <a:spLocks xmlns:a="http://schemas.openxmlformats.org/drawingml/2006/main" noGrp="1"/>
          </p:cNvSpPr>
          <p:nvPr/>
        </p:nvSpPr>
        <p:spPr>
          <a:xfrm xmlns:a="http://schemas.openxmlformats.org/drawingml/2006/main">
            <a:off x="8248650" y="1809750"/>
            <a:ext cx="1714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5D6470"/>
                </a:solidFill>
                <a:latin typeface="Helvetica Neue"/>
                <a:ea typeface="Helvetica Neue"/>
                <a:cs typeface="Helvetica Neue"/>
              </a:defRPr>
            </a:pPr>
            <a:r>
              <a:t>Exact boundary ready</a:t>
            </a:r>
          </a:p>
        </p:txBody>
      </p:sp>
      <p:sp>
        <p:nvSpPr>
          <p:cNvPr id="59" name="text-1070-170">
            <a:extLst xmlns:a="http://schemas.openxmlformats.org/drawingml/2006/main">
              <a:ext uri="{FF2B5EF4-FFF2-40B4-BE49-F238E27FC236}">
                <a16:creationId xmlns:a16="http://schemas.microsoft.com/office/drawing/2014/main" id="{640C0B25-BC8F-45A2-B5C1-726D5CE236F0}"/>
              </a:ext>
            </a:extLst>
          </p:cNvPr>
          <p:cNvSpPr>
            <a:spLocks xmlns:a="http://schemas.openxmlformats.org/drawingml/2006/main" noGrp="1"/>
          </p:cNvSpPr>
          <p:nvPr/>
        </p:nvSpPr>
        <p:spPr>
          <a:xfrm xmlns:a="http://schemas.openxmlformats.org/drawingml/2006/main">
            <a:off x="10191750" y="1619250"/>
            <a:ext cx="16002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Candidates ready</a:t>
            </a:r>
          </a:p>
        </p:txBody>
      </p:sp>
      <p:sp>
        <p:nvSpPr>
          <p:cNvPr id="60" name="box-694-252">
            <a:extLst xmlns:a="http://schemas.openxmlformats.org/drawingml/2006/main">
              <a:ext uri="{FF2B5EF4-FFF2-40B4-BE49-F238E27FC236}">
                <a16:creationId xmlns:a16="http://schemas.microsoft.com/office/drawing/2014/main" id="{C063A478-C35A-4B74-83BC-83CA875FA672}"/>
              </a:ext>
            </a:extLst>
          </p:cNvPr>
          <p:cNvSpPr>
            <a:spLocks xmlns:a="http://schemas.openxmlformats.org/drawingml/2006/main" noGrp="1"/>
          </p:cNvSpPr>
          <p:nvPr/>
        </p:nvSpPr>
        <p:spPr>
          <a:xfrm xmlns:a="http://schemas.openxmlformats.org/drawingml/2006/main">
            <a:off x="6610350" y="2400300"/>
            <a:ext cx="4343400" cy="438150"/>
          </a:xfrm>
          <a:prstGeom xmlns:a="http://schemas.openxmlformats.org/drawingml/2006/main" prst="rect">
            <a:avLst/>
          </a:prstGeom>
          <a:solidFill xmlns:a="http://schemas.openxmlformats.org/drawingml/2006/main">
            <a:srgbClr val="DDF3FD"/>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61" name="text-718-264">
            <a:extLst xmlns:a="http://schemas.openxmlformats.org/drawingml/2006/main">
              <a:ext uri="{FF2B5EF4-FFF2-40B4-BE49-F238E27FC236}">
                <a16:creationId xmlns:a16="http://schemas.microsoft.com/office/drawing/2014/main" id="{35887901-8B5E-4E05-88C2-E13226CD7B9B}"/>
              </a:ext>
            </a:extLst>
          </p:cNvPr>
          <p:cNvSpPr>
            <a:spLocks xmlns:a="http://schemas.openxmlformats.org/drawingml/2006/main" noGrp="1"/>
          </p:cNvSpPr>
          <p:nvPr/>
        </p:nvSpPr>
        <p:spPr>
          <a:xfrm xmlns:a="http://schemas.openxmlformats.org/drawingml/2006/main">
            <a:off x="6838950" y="2514600"/>
            <a:ext cx="1809750" cy="209550"/>
          </a:xfrm>
          <a:prstGeom xmlns:a="http://schemas.openxmlformats.org/drawingml/2006/main" prst="rect">
            <a:avLst/>
          </a:prstGeom>
        </p:spPr>
        <p:txBody>
          <a:bodyPr xmlns:a="http://schemas.openxmlformats.org/drawingml/2006/main" wrap="square" lIns="0" tIns="0" rIns="0" bIns="0" anchor="t">
            <a:normAutofit fontScale="95353"/>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Post-end analysis window</a:t>
            </a:r>
          </a:p>
        </p:txBody>
      </p:sp>
      <p:sp>
        <p:nvSpPr>
          <p:cNvPr id="62" name="text-916-264">
            <a:extLst xmlns:a="http://schemas.openxmlformats.org/drawingml/2006/main">
              <a:ext uri="{FF2B5EF4-FFF2-40B4-BE49-F238E27FC236}">
                <a16:creationId xmlns:a16="http://schemas.microsoft.com/office/drawing/2014/main" id="{7931A9B5-32D4-4B82-B953-93F45B97013C}"/>
              </a:ext>
            </a:extLst>
          </p:cNvPr>
          <p:cNvSpPr>
            <a:spLocks xmlns:a="http://schemas.openxmlformats.org/drawingml/2006/main" noGrp="1"/>
          </p:cNvSpPr>
          <p:nvPr/>
        </p:nvSpPr>
        <p:spPr>
          <a:xfrm xmlns:a="http://schemas.openxmlformats.org/drawingml/2006/main">
            <a:off x="8724900" y="2514600"/>
            <a:ext cx="19812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125" b="1">
                <a:solidFill>
                  <a:srgbClr val="3D8DFF"/>
                </a:solidFill>
                <a:latin typeface="Helvetica Neue"/>
                <a:ea typeface="Helvetica Neue"/>
                <a:cs typeface="Helvetica Neue"/>
              </a:defRPr>
            </a:pPr>
            <a:r>
              <a:t>log-drain / L0A overlap</a:t>
            </a:r>
          </a:p>
        </p:txBody>
      </p:sp>
      <p:sp>
        <p:nvSpPr>
          <p:cNvPr id="63" name="box-64-338">
            <a:extLst xmlns:a="http://schemas.openxmlformats.org/drawingml/2006/main">
              <a:ext uri="{FF2B5EF4-FFF2-40B4-BE49-F238E27FC236}">
                <a16:creationId xmlns:a16="http://schemas.microsoft.com/office/drawing/2014/main" id="{AF24174C-A180-421B-81AF-B524E3337F44}"/>
              </a:ext>
            </a:extLst>
          </p:cNvPr>
          <p:cNvSpPr>
            <a:spLocks xmlns:a="http://schemas.openxmlformats.org/drawingml/2006/main" noGrp="1"/>
          </p:cNvSpPr>
          <p:nvPr/>
        </p:nvSpPr>
        <p:spPr>
          <a:xfrm xmlns:a="http://schemas.openxmlformats.org/drawingml/2006/main">
            <a:off x="609600" y="3219450"/>
            <a:ext cx="3333750" cy="21336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64" name="text-86-358">
            <a:extLst xmlns:a="http://schemas.openxmlformats.org/drawingml/2006/main">
              <a:ext uri="{FF2B5EF4-FFF2-40B4-BE49-F238E27FC236}">
                <a16:creationId xmlns:a16="http://schemas.microsoft.com/office/drawing/2014/main" id="{B53E9D21-6259-4FA2-966B-10BF832FB9AC}"/>
              </a:ext>
            </a:extLst>
          </p:cNvPr>
          <p:cNvSpPr>
            <a:spLocks xmlns:a="http://schemas.openxmlformats.org/drawingml/2006/main" noGrp="1"/>
          </p:cNvSpPr>
          <p:nvPr/>
        </p:nvSpPr>
        <p:spPr>
          <a:xfrm xmlns:a="http://schemas.openxmlformats.org/drawingml/2006/main">
            <a:off x="819150" y="3409950"/>
            <a:ext cx="23812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Before cycle end</a:t>
            </a:r>
          </a:p>
        </p:txBody>
      </p:sp>
      <p:sp>
        <p:nvSpPr>
          <p:cNvPr id="65" name="dot-86-412">
            <a:extLst xmlns:a="http://schemas.openxmlformats.org/drawingml/2006/main">
              <a:ext uri="{FF2B5EF4-FFF2-40B4-BE49-F238E27FC236}">
                <a16:creationId xmlns:a16="http://schemas.microsoft.com/office/drawing/2014/main" id="{74D60654-F4D7-4F69-AF14-AD8BA845CAF9}"/>
              </a:ext>
            </a:extLst>
          </p:cNvPr>
          <p:cNvSpPr>
            <a:spLocks xmlns:a="http://schemas.openxmlformats.org/drawingml/2006/main" noGrp="1"/>
          </p:cNvSpPr>
          <p:nvPr/>
        </p:nvSpPr>
        <p:spPr>
          <a:xfrm xmlns:a="http://schemas.openxmlformats.org/drawingml/2006/main">
            <a:off x="81915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6" name="text-106-404">
            <a:extLst xmlns:a="http://schemas.openxmlformats.org/drawingml/2006/main">
              <a:ext uri="{FF2B5EF4-FFF2-40B4-BE49-F238E27FC236}">
                <a16:creationId xmlns:a16="http://schemas.microsoft.com/office/drawing/2014/main" id="{62FE4472-C520-43C8-9BD2-EE3055DF49F5}"/>
              </a:ext>
            </a:extLst>
          </p:cNvPr>
          <p:cNvSpPr>
            <a:spLocks xmlns:a="http://schemas.openxmlformats.org/drawingml/2006/main" noGrp="1"/>
          </p:cNvSpPr>
          <p:nvPr/>
        </p:nvSpPr>
        <p:spPr>
          <a:xfrm xmlns:a="http://schemas.openxmlformats.org/drawingml/2006/main">
            <a:off x="1009650" y="3848100"/>
            <a:ext cx="266700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Cycle-start POST registers the attempt</a:t>
            </a:r>
          </a:p>
        </p:txBody>
      </p:sp>
      <p:sp>
        <p:nvSpPr>
          <p:cNvPr id="67" name="dot-86-466">
            <a:extLst xmlns:a="http://schemas.openxmlformats.org/drawingml/2006/main">
              <a:ext uri="{FF2B5EF4-FFF2-40B4-BE49-F238E27FC236}">
                <a16:creationId xmlns:a16="http://schemas.microsoft.com/office/drawing/2014/main" id="{4CB26D67-FC5A-450A-95ED-71F0ABBD9D14}"/>
              </a:ext>
            </a:extLst>
          </p:cNvPr>
          <p:cNvSpPr>
            <a:spLocks xmlns:a="http://schemas.openxmlformats.org/drawingml/2006/main" noGrp="1"/>
          </p:cNvSpPr>
          <p:nvPr/>
        </p:nvSpPr>
        <p:spPr>
          <a:xfrm xmlns:a="http://schemas.openxmlformats.org/drawingml/2006/main">
            <a:off x="819150" y="4438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8" name="text-106-458">
            <a:extLst xmlns:a="http://schemas.openxmlformats.org/drawingml/2006/main">
              <a:ext uri="{FF2B5EF4-FFF2-40B4-BE49-F238E27FC236}">
                <a16:creationId xmlns:a16="http://schemas.microsoft.com/office/drawing/2014/main" id="{6397AC2A-B081-487B-9044-18DD89A2D0CC}"/>
              </a:ext>
            </a:extLst>
          </p:cNvPr>
          <p:cNvSpPr>
            <a:spLocks xmlns:a="http://schemas.openxmlformats.org/drawingml/2006/main" noGrp="1"/>
          </p:cNvSpPr>
          <p:nvPr/>
        </p:nvSpPr>
        <p:spPr>
          <a:xfrm xmlns:a="http://schemas.openxmlformats.org/drawingml/2006/main">
            <a:off x="1009650" y="4362450"/>
            <a:ext cx="266700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No L0A precompute runs by default</a:t>
            </a:r>
          </a:p>
        </p:txBody>
      </p:sp>
      <p:sp>
        <p:nvSpPr>
          <p:cNvPr id="69" name="text-86-528">
            <a:extLst xmlns:a="http://schemas.openxmlformats.org/drawingml/2006/main">
              <a:ext uri="{FF2B5EF4-FFF2-40B4-BE49-F238E27FC236}">
                <a16:creationId xmlns:a16="http://schemas.microsoft.com/office/drawing/2014/main" id="{1939EB5B-FC24-40AB-B6FF-17B61D89523F}"/>
              </a:ext>
            </a:extLst>
          </p:cNvPr>
          <p:cNvSpPr>
            <a:spLocks xmlns:a="http://schemas.openxmlformats.org/drawingml/2006/main" noGrp="1"/>
          </p:cNvSpPr>
          <p:nvPr/>
        </p:nvSpPr>
        <p:spPr>
          <a:xfrm xmlns:a="http://schemas.openxmlformats.org/drawingml/2006/main">
            <a:off x="819150" y="5029200"/>
            <a:ext cx="2857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t>Progressive is explicit opt-in</a:t>
            </a:r>
          </a:p>
        </p:txBody>
      </p:sp>
      <p:sp>
        <p:nvSpPr>
          <p:cNvPr id="70" name="box-465-338">
            <a:extLst xmlns:a="http://schemas.openxmlformats.org/drawingml/2006/main">
              <a:ext uri="{FF2B5EF4-FFF2-40B4-BE49-F238E27FC236}">
                <a16:creationId xmlns:a16="http://schemas.microsoft.com/office/drawing/2014/main" id="{11511A52-28E3-44D5-B716-EC5B1633A849}"/>
              </a:ext>
            </a:extLst>
          </p:cNvPr>
          <p:cNvSpPr>
            <a:spLocks xmlns:a="http://schemas.openxmlformats.org/drawingml/2006/main" noGrp="1"/>
          </p:cNvSpPr>
          <p:nvPr/>
        </p:nvSpPr>
        <p:spPr>
          <a:xfrm xmlns:a="http://schemas.openxmlformats.org/drawingml/2006/main">
            <a:off x="4429125" y="3219450"/>
            <a:ext cx="3333750" cy="21336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71" name="text-487-358">
            <a:extLst xmlns:a="http://schemas.openxmlformats.org/drawingml/2006/main">
              <a:ext uri="{FF2B5EF4-FFF2-40B4-BE49-F238E27FC236}">
                <a16:creationId xmlns:a16="http://schemas.microsoft.com/office/drawing/2014/main" id="{EAF2E8F1-E85C-4F5A-9C4C-C09A34FEE61E}"/>
              </a:ext>
            </a:extLst>
          </p:cNvPr>
          <p:cNvSpPr>
            <a:spLocks xmlns:a="http://schemas.openxmlformats.org/drawingml/2006/main" noGrp="1"/>
          </p:cNvSpPr>
          <p:nvPr/>
        </p:nvSpPr>
        <p:spPr>
          <a:xfrm xmlns:a="http://schemas.openxmlformats.org/drawingml/2006/main">
            <a:off x="4638675" y="3409950"/>
            <a:ext cx="23812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Terminal drain overlap</a:t>
            </a:r>
          </a:p>
        </p:txBody>
      </p:sp>
      <p:sp>
        <p:nvSpPr>
          <p:cNvPr id="72" name="text-487-404">
            <a:extLst xmlns:a="http://schemas.openxmlformats.org/drawingml/2006/main">
              <a:ext uri="{FF2B5EF4-FFF2-40B4-BE49-F238E27FC236}">
                <a16:creationId xmlns:a16="http://schemas.microsoft.com/office/drawing/2014/main" id="{F5CC3840-3B08-49FB-A346-0A3772E046CD}"/>
              </a:ext>
            </a:extLst>
          </p:cNvPr>
          <p:cNvSpPr>
            <a:spLocks xmlns:a="http://schemas.openxmlformats.org/drawingml/2006/main" noGrp="1"/>
          </p:cNvSpPr>
          <p:nvPr/>
        </p:nvSpPr>
        <p:spPr>
          <a:xfrm xmlns:a="http://schemas.openxmlformats.org/drawingml/2006/main">
            <a:off x="4638675" y="3848100"/>
            <a:ext cx="2914650" cy="4762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5D6470"/>
                </a:solidFill>
                <a:latin typeface="Helvetica Neue"/>
                <a:ea typeface="Helvetica Neue"/>
                <a:cs typeface="Helvetica Neue"/>
              </a:defRPr>
            </a:pPr>
            <a:r>
              <a:t>Ranks may keep appending to the shared file after the workload ends.</a:t>
            </a:r>
          </a:p>
        </p:txBody>
      </p:sp>
      <p:sp>
        <p:nvSpPr>
          <p:cNvPr id="73" name="text-487-464">
            <a:extLst xmlns:a="http://schemas.openxmlformats.org/drawingml/2006/main">
              <a:ext uri="{FF2B5EF4-FFF2-40B4-BE49-F238E27FC236}">
                <a16:creationId xmlns:a16="http://schemas.microsoft.com/office/drawing/2014/main" id="{50AEE427-669C-4EFE-90A4-462295AE3A26}"/>
              </a:ext>
            </a:extLst>
          </p:cNvPr>
          <p:cNvSpPr>
            <a:spLocks xmlns:a="http://schemas.openxmlformats.org/drawingml/2006/main" noGrp="1"/>
          </p:cNvSpPr>
          <p:nvPr/>
        </p:nvSpPr>
        <p:spPr>
          <a:xfrm xmlns:a="http://schemas.openxmlformats.org/drawingml/2006/main">
            <a:off x="4638675" y="4419600"/>
            <a:ext cx="29146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3D8DFF"/>
                </a:solidFill>
                <a:latin typeface="Helvetica Neue"/>
                <a:ea typeface="Helvetica Neue"/>
                <a:cs typeface="Helvetica Neue"/>
              </a:defRPr>
            </a:pPr>
            <a:r>
              <a:t>10-20 sec observed at large scale</a:t>
            </a:r>
          </a:p>
        </p:txBody>
      </p:sp>
      <p:sp>
        <p:nvSpPr>
          <p:cNvPr id="74" name="text-487-502">
            <a:extLst xmlns:a="http://schemas.openxmlformats.org/drawingml/2006/main">
              <a:ext uri="{FF2B5EF4-FFF2-40B4-BE49-F238E27FC236}">
                <a16:creationId xmlns:a16="http://schemas.microsoft.com/office/drawing/2014/main" id="{2D2330CB-6EF4-44BC-B901-1451A379D193}"/>
              </a:ext>
            </a:extLst>
          </p:cNvPr>
          <p:cNvSpPr>
            <a:spLocks xmlns:a="http://schemas.openxmlformats.org/drawingml/2006/main" noGrp="1"/>
          </p:cNvSpPr>
          <p:nvPr/>
        </p:nvSpPr>
        <p:spPr>
          <a:xfrm xmlns:a="http://schemas.openxmlformats.org/drawingml/2006/main">
            <a:off x="4638675" y="4781550"/>
            <a:ext cx="2914650" cy="4381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Convergence means the available data for final L0A assembly has arrived.</a:t>
            </a:r>
          </a:p>
        </p:txBody>
      </p:sp>
      <p:sp>
        <p:nvSpPr>
          <p:cNvPr id="75" name="box-866-338">
            <a:extLst xmlns:a="http://schemas.openxmlformats.org/drawingml/2006/main">
              <a:ext uri="{FF2B5EF4-FFF2-40B4-BE49-F238E27FC236}">
                <a16:creationId xmlns:a16="http://schemas.microsoft.com/office/drawing/2014/main" id="{72B7B355-DC01-42C6-91EE-CD342A183E1C}"/>
              </a:ext>
            </a:extLst>
          </p:cNvPr>
          <p:cNvSpPr>
            <a:spLocks xmlns:a="http://schemas.openxmlformats.org/drawingml/2006/main" noGrp="1"/>
          </p:cNvSpPr>
          <p:nvPr/>
        </p:nvSpPr>
        <p:spPr>
          <a:xfrm xmlns:a="http://schemas.openxmlformats.org/drawingml/2006/main">
            <a:off x="8248650" y="3219450"/>
            <a:ext cx="3333750" cy="21336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76" name="text-888-358">
            <a:extLst xmlns:a="http://schemas.openxmlformats.org/drawingml/2006/main">
              <a:ext uri="{FF2B5EF4-FFF2-40B4-BE49-F238E27FC236}">
                <a16:creationId xmlns:a16="http://schemas.microsoft.com/office/drawing/2014/main" id="{C30D8309-6474-4E09-BB90-9B6DF47186CB}"/>
              </a:ext>
            </a:extLst>
          </p:cNvPr>
          <p:cNvSpPr>
            <a:spLocks xmlns:a="http://schemas.openxmlformats.org/drawingml/2006/main" noGrp="1"/>
          </p:cNvSpPr>
          <p:nvPr/>
        </p:nvSpPr>
        <p:spPr>
          <a:xfrm xmlns:a="http://schemas.openxmlformats.org/drawingml/2006/main">
            <a:off x="8458200" y="3409950"/>
            <a:ext cx="2381250" cy="2857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After convergence</a:t>
            </a:r>
          </a:p>
        </p:txBody>
      </p:sp>
      <p:sp>
        <p:nvSpPr>
          <p:cNvPr id="77" name="dot-888-414">
            <a:extLst xmlns:a="http://schemas.openxmlformats.org/drawingml/2006/main">
              <a:ext uri="{FF2B5EF4-FFF2-40B4-BE49-F238E27FC236}">
                <a16:creationId xmlns:a16="http://schemas.microsoft.com/office/drawing/2014/main" id="{B6D1C2FD-6BC7-47C5-BF69-2183A8D15C78}"/>
              </a:ext>
            </a:extLst>
          </p:cNvPr>
          <p:cNvSpPr>
            <a:spLocks xmlns:a="http://schemas.openxmlformats.org/drawingml/2006/main" noGrp="1"/>
          </p:cNvSpPr>
          <p:nvPr/>
        </p:nvSpPr>
        <p:spPr>
          <a:xfrm xmlns:a="http://schemas.openxmlformats.org/drawingml/2006/main">
            <a:off x="8458200" y="39433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78" name="text-908-406">
            <a:extLst xmlns:a="http://schemas.openxmlformats.org/drawingml/2006/main">
              <a:ext uri="{FF2B5EF4-FFF2-40B4-BE49-F238E27FC236}">
                <a16:creationId xmlns:a16="http://schemas.microsoft.com/office/drawing/2014/main" id="{382DA48E-D0BD-4236-A57F-CDEB035491B1}"/>
              </a:ext>
            </a:extLst>
          </p:cNvPr>
          <p:cNvSpPr>
            <a:spLocks xmlns:a="http://schemas.openxmlformats.org/drawingml/2006/main" noGrp="1"/>
          </p:cNvSpPr>
          <p:nvPr/>
        </p:nvSpPr>
        <p:spPr>
          <a:xfrm xmlns:a="http://schemas.openxmlformats.org/drawingml/2006/main">
            <a:off x="8648700" y="3867150"/>
            <a:ext cx="2667000" cy="342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Finalize L0A + DecisionEvidence</a:t>
            </a:r>
          </a:p>
        </p:txBody>
      </p:sp>
      <p:sp>
        <p:nvSpPr>
          <p:cNvPr id="79" name="dot-888-454">
            <a:extLst xmlns:a="http://schemas.openxmlformats.org/drawingml/2006/main">
              <a:ext uri="{FF2B5EF4-FFF2-40B4-BE49-F238E27FC236}">
                <a16:creationId xmlns:a16="http://schemas.microsoft.com/office/drawing/2014/main" id="{1ED63644-FE47-4D35-A522-330913800D13}"/>
              </a:ext>
            </a:extLst>
          </p:cNvPr>
          <p:cNvSpPr>
            <a:spLocks xmlns:a="http://schemas.openxmlformats.org/drawingml/2006/main" noGrp="1"/>
          </p:cNvSpPr>
          <p:nvPr/>
        </p:nvSpPr>
        <p:spPr>
          <a:xfrm xmlns:a="http://schemas.openxmlformats.org/drawingml/2006/main">
            <a:off x="8458200" y="43243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0" name="text-908-446">
            <a:extLst xmlns:a="http://schemas.openxmlformats.org/drawingml/2006/main">
              <a:ext uri="{FF2B5EF4-FFF2-40B4-BE49-F238E27FC236}">
                <a16:creationId xmlns:a16="http://schemas.microsoft.com/office/drawing/2014/main" id="{9B6ECF23-027A-4A95-9310-BC1E5986A876}"/>
              </a:ext>
            </a:extLst>
          </p:cNvPr>
          <p:cNvSpPr>
            <a:spLocks xmlns:a="http://schemas.openxmlformats.org/drawingml/2006/main" noGrp="1"/>
          </p:cNvSpPr>
          <p:nvPr/>
        </p:nvSpPr>
        <p:spPr>
          <a:xfrm xmlns:a="http://schemas.openxmlformats.org/drawingml/2006/main">
            <a:off x="8648700" y="4248150"/>
            <a:ext cx="2667000" cy="342900"/>
          </a:xfrm>
          <a:prstGeom xmlns:a="http://schemas.openxmlformats.org/drawingml/2006/main" prst="rect">
            <a:avLst/>
          </a:prstGeom>
        </p:spPr>
        <p:txBody>
          <a:bodyPr xmlns:a="http://schemas.openxmlformats.org/drawingml/2006/main" wrap="square" lIns="0" tIns="0" rIns="0" bIns="0" anchor="t">
            <a:normAutofit fontScale="98991"/>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Start deterministic L3/L4 immediately</a:t>
            </a:r>
          </a:p>
        </p:txBody>
      </p:sp>
      <p:sp>
        <p:nvSpPr>
          <p:cNvPr id="81" name="dot-888-494">
            <a:extLst xmlns:a="http://schemas.openxmlformats.org/drawingml/2006/main">
              <a:ext uri="{FF2B5EF4-FFF2-40B4-BE49-F238E27FC236}">
                <a16:creationId xmlns:a16="http://schemas.microsoft.com/office/drawing/2014/main" id="{9139561C-FB24-4AA6-8BDA-3D5D2CBE237B}"/>
              </a:ext>
            </a:extLst>
          </p:cNvPr>
          <p:cNvSpPr>
            <a:spLocks xmlns:a="http://schemas.openxmlformats.org/drawingml/2006/main" noGrp="1"/>
          </p:cNvSpPr>
          <p:nvPr/>
        </p:nvSpPr>
        <p:spPr>
          <a:xfrm xmlns:a="http://schemas.openxmlformats.org/drawingml/2006/main">
            <a:off x="8458200" y="47053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2" name="text-908-486">
            <a:extLst xmlns:a="http://schemas.openxmlformats.org/drawingml/2006/main">
              <a:ext uri="{FF2B5EF4-FFF2-40B4-BE49-F238E27FC236}">
                <a16:creationId xmlns:a16="http://schemas.microsoft.com/office/drawing/2014/main" id="{EB29714B-6828-4E09-A48C-BD26280D274F}"/>
              </a:ext>
            </a:extLst>
          </p:cNvPr>
          <p:cNvSpPr>
            <a:spLocks xmlns:a="http://schemas.openxmlformats.org/drawingml/2006/main" noGrp="1"/>
          </p:cNvSpPr>
          <p:nvPr/>
        </p:nvSpPr>
        <p:spPr>
          <a:xfrm xmlns:a="http://schemas.openxmlformats.org/drawingml/2006/main">
            <a:off x="8648700" y="4629150"/>
            <a:ext cx="2667000" cy="342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Launch L0B/L1 enriched path</a:t>
            </a:r>
          </a:p>
        </p:txBody>
      </p:sp>
      <p:sp>
        <p:nvSpPr>
          <p:cNvPr id="83" name="text-888-528">
            <a:extLst xmlns:a="http://schemas.openxmlformats.org/drawingml/2006/main">
              <a:ext uri="{FF2B5EF4-FFF2-40B4-BE49-F238E27FC236}">
                <a16:creationId xmlns:a16="http://schemas.microsoft.com/office/drawing/2014/main" id="{EE0DD359-B458-4457-B3C8-DD048C8E1C78}"/>
              </a:ext>
            </a:extLst>
          </p:cNvPr>
          <p:cNvSpPr>
            <a:spLocks xmlns:a="http://schemas.openxmlformats.org/drawingml/2006/main" noGrp="1"/>
          </p:cNvSpPr>
          <p:nvPr/>
        </p:nvSpPr>
        <p:spPr>
          <a:xfrm xmlns:a="http://schemas.openxmlformats.org/drawingml/2006/main">
            <a:off x="8458200" y="5029200"/>
            <a:ext cx="2857500" cy="209550"/>
          </a:xfrm>
          <a:prstGeom xmlns:a="http://schemas.openxmlformats.org/drawingml/2006/main" prst="rect">
            <a:avLst/>
          </a:prstGeom>
        </p:spPr>
        <p:txBody>
          <a:bodyPr xmlns:a="http://schemas.openxmlformats.org/drawingml/2006/main" wrap="square" lIns="0" tIns="0" rIns="0" bIns="0" anchor="t">
            <a:normAutofit fontScale="89950"/>
          </a:bodyPr>
          <a:lstStyle xmlns:a="http://schemas.openxmlformats.org/drawingml/2006/main"/>
          <a:p xmlns:a="http://schemas.openxmlformats.org/drawingml/2006/main">
            <a:pPr algn="l">
              <a:buNone/>
              <a:defRPr sz="1125" b="1">
                <a:solidFill>
                  <a:srgbClr val="3D8DFF"/>
                </a:solidFill>
                <a:latin typeface="Helvetica Neue"/>
                <a:ea typeface="Helvetica Neue"/>
                <a:cs typeface="Helvetica Neue"/>
              </a:defRPr>
            </a:pPr>
            <a:r>
              <a:t>Continue slower routes within product timeout</a:t>
            </a:r>
          </a:p>
        </p:txBody>
      </p:sp>
      <p:sp>
        <p:nvSpPr>
          <p:cNvPr id="84" name="text-64-606">
            <a:extLst xmlns:a="http://schemas.openxmlformats.org/drawingml/2006/main">
              <a:ext uri="{FF2B5EF4-FFF2-40B4-BE49-F238E27FC236}">
                <a16:creationId xmlns:a16="http://schemas.microsoft.com/office/drawing/2014/main" id="{486A9669-1A1B-4E62-BB32-1F5B26E12897}"/>
              </a:ext>
            </a:extLst>
          </p:cNvPr>
          <p:cNvSpPr>
            <a:spLocks xmlns:a="http://schemas.openxmlformats.org/drawingml/2006/main" noGrp="1"/>
          </p:cNvSpPr>
          <p:nvPr/>
        </p:nvSpPr>
        <p:spPr>
          <a:xfrm xmlns:a="http://schemas.openxmlformats.org/drawingml/2006/main">
            <a:off x="609600" y="5772150"/>
            <a:ext cx="40576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Cycle end starts terminal analysis.</a:t>
            </a:r>
          </a:p>
        </p:txBody>
      </p:sp>
      <p:sp>
        <p:nvSpPr>
          <p:cNvPr id="85" name="text-510-606">
            <a:extLst xmlns:a="http://schemas.openxmlformats.org/drawingml/2006/main">
              <a:ext uri="{FF2B5EF4-FFF2-40B4-BE49-F238E27FC236}">
                <a16:creationId xmlns:a16="http://schemas.microsoft.com/office/drawing/2014/main" id="{ABA6C6C4-277D-4CBE-99FB-3DB66C92621C}"/>
              </a:ext>
            </a:extLst>
          </p:cNvPr>
          <p:cNvSpPr>
            <a:spLocks xmlns:a="http://schemas.openxmlformats.org/drawingml/2006/main" noGrp="1"/>
          </p:cNvSpPr>
          <p:nvPr/>
        </p:nvSpPr>
        <p:spPr>
          <a:xfrm xmlns:a="http://schemas.openxmlformats.org/drawingml/2006/main">
            <a:off x="4857750" y="5772150"/>
            <a:ext cx="67246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0">
                <a:solidFill>
                  <a:srgbClr val="5D6470"/>
                </a:solidFill>
                <a:latin typeface="Helvetica Neue"/>
                <a:ea typeface="Helvetica Neue"/>
                <a:cs typeface="Helvetica Neue"/>
              </a:defRPr>
            </a:pPr>
            <a:r>
              <a:t>Enable progressive only if target-scale latency requires it.</a:t>
            </a:r>
          </a:p>
        </p:txBody>
      </p:sp>
    </p:spTree>
    <p:extLst>
      <p:ext uri="{BB962C8B-B14F-4D97-AF65-F5344CB8AC3E}">
        <p14:creationId xmlns:p14="http://schemas.microsoft.com/office/powerpoint/2010/main" val="18786121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42-26">
            <a:extLst xmlns:a="http://schemas.openxmlformats.org/drawingml/2006/main">
              <a:ext uri="{FF2B5EF4-FFF2-40B4-BE49-F238E27FC236}">
                <a16:creationId xmlns:a16="http://schemas.microsoft.com/office/drawing/2014/main" id="{1221B3FF-4C03-46DF-97A0-7A614588E7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RUNTIME EVIDENCE</a:t>
            </a:r>
          </a:p>
        </p:txBody>
      </p:sp>
      <p:sp>
        <p:nvSpPr>
          <p:cNvPr id="2" name="text-42-54">
            <a:extLst xmlns:a="http://schemas.openxmlformats.org/drawingml/2006/main">
              <a:ext uri="{FF2B5EF4-FFF2-40B4-BE49-F238E27FC236}">
                <a16:creationId xmlns:a16="http://schemas.microsoft.com/office/drawing/2014/main" id="{5F0FD713-DBAA-4E46-A3E4-3994130AAD53}"/>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Measure terminal L0A before enabling progressive mode</a:t>
            </a:r>
          </a:p>
        </p:txBody>
      </p:sp>
      <p:sp>
        <p:nvSpPr>
          <p:cNvPr id="3" name="line-42-133">
            <a:extLst xmlns:a="http://schemas.openxmlformats.org/drawingml/2006/main">
              <a:ext uri="{FF2B5EF4-FFF2-40B4-BE49-F238E27FC236}">
                <a16:creationId xmlns:a16="http://schemas.microsoft.com/office/drawing/2014/main" id="{9E734A47-C3F0-4E7B-BE64-7AE7B21B80FE}"/>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5" name="text-62-174">
            <a:extLst xmlns:a="http://schemas.openxmlformats.org/drawingml/2006/main">
              <a:ext uri="{FF2B5EF4-FFF2-40B4-BE49-F238E27FC236}">
                <a16:creationId xmlns:a16="http://schemas.microsoft.com/office/drawing/2014/main" id="{49F684C5-FA03-444C-89D4-96E043E74EAD}"/>
              </a:ext>
            </a:extLst>
          </p:cNvPr>
          <p:cNvSpPr>
            <a:spLocks xmlns:a="http://schemas.openxmlformats.org/drawingml/2006/main" noGrp="1"/>
          </p:cNvSpPr>
          <p:nvPr/>
        </p:nvSpPr>
        <p:spPr>
          <a:xfrm xmlns:a="http://schemas.openxmlformats.org/drawingml/2006/main">
            <a:off x="590550" y="1657350"/>
            <a:ext cx="61912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Earlier L0A wall time for three representative logs</a:t>
            </a:r>
          </a:p>
        </p:txBody>
      </p:sp>
      <p:sp>
        <p:nvSpPr>
          <p:cNvPr id="16" name="text-62-207">
            <a:extLst xmlns:a="http://schemas.openxmlformats.org/drawingml/2006/main">
              <a:ext uri="{FF2B5EF4-FFF2-40B4-BE49-F238E27FC236}">
                <a16:creationId xmlns:a16="http://schemas.microsoft.com/office/drawing/2014/main" id="{2F608904-085D-4809-AA4C-80922197085A}"/>
              </a:ext>
            </a:extLst>
          </p:cNvPr>
          <p:cNvSpPr>
            <a:spLocks xmlns:a="http://schemas.openxmlformats.org/drawingml/2006/main" noGrp="1"/>
          </p:cNvSpPr>
          <p:nvPr/>
        </p:nvSpPr>
        <p:spPr>
          <a:xfrm xmlns:a="http://schemas.openxmlformats.org/drawingml/2006/main">
            <a:off x="590550" y="1971675"/>
            <a:ext cx="61912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These traces predate recent terminal-path optimizations; re-baseline at target scale.</a:t>
            </a:r>
          </a:p>
        </p:txBody>
      </p:sp>
      <p:sp>
        <p:nvSpPr>
          <p:cNvPr id="17" name="box-786-206">
            <a:extLst xmlns:a="http://schemas.openxmlformats.org/drawingml/2006/main">
              <a:ext uri="{FF2B5EF4-FFF2-40B4-BE49-F238E27FC236}">
                <a16:creationId xmlns:a16="http://schemas.microsoft.com/office/drawing/2014/main" id="{EFFF74CA-8FE4-4F8E-86A7-89DBD8A6C832}"/>
              </a:ext>
            </a:extLst>
          </p:cNvPr>
          <p:cNvSpPr>
            <a:spLocks xmlns:a="http://schemas.openxmlformats.org/drawingml/2006/main" noGrp="1"/>
          </p:cNvSpPr>
          <p:nvPr/>
        </p:nvSpPr>
        <p:spPr>
          <a:xfrm xmlns:a="http://schemas.openxmlformats.org/drawingml/2006/main">
            <a:off x="7486650" y="1962150"/>
            <a:ext cx="3924300" cy="11239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8" name="text-812-228">
            <a:extLst xmlns:a="http://schemas.openxmlformats.org/drawingml/2006/main">
              <a:ext uri="{FF2B5EF4-FFF2-40B4-BE49-F238E27FC236}">
                <a16:creationId xmlns:a16="http://schemas.microsoft.com/office/drawing/2014/main" id="{3D947E98-E22E-450D-88C9-7CE9F22CED7F}"/>
              </a:ext>
            </a:extLst>
          </p:cNvPr>
          <p:cNvSpPr>
            <a:spLocks xmlns:a="http://schemas.openxmlformats.org/drawingml/2006/main" noGrp="1"/>
          </p:cNvSpPr>
          <p:nvPr/>
        </p:nvSpPr>
        <p:spPr>
          <a:xfrm xmlns:a="http://schemas.openxmlformats.org/drawingml/2006/main">
            <a:off x="7734300" y="2171700"/>
            <a:ext cx="2381250" cy="323850"/>
          </a:xfrm>
          <a:prstGeom xmlns:a="http://schemas.openxmlformats.org/drawingml/2006/main" prst="rect">
            <a:avLst/>
          </a:prstGeom>
        </p:spPr>
        <p:txBody>
          <a:bodyPr xmlns:a="http://schemas.openxmlformats.org/drawingml/2006/main" wrap="square" lIns="0" tIns="0" rIns="0" bIns="0" anchor="t">
            <a:normAutofit fontScale="97701"/>
          </a:bodyPr>
          <a:lstStyle xmlns:a="http://schemas.openxmlformats.org/drawingml/2006/main"/>
          <a:p xmlns:a="http://schemas.openxmlformats.org/drawingml/2006/main">
            <a:pPr algn="l">
              <a:buNone/>
              <a:defRPr sz="2175" b="1">
                <a:solidFill>
                  <a:srgbClr val="3D8DFF"/>
                </a:solidFill>
                <a:latin typeface="Helvetica Neue"/>
                <a:ea typeface="Helvetica Neue"/>
                <a:cs typeface="Helvetica Neue"/>
              </a:defRPr>
            </a:pPr>
            <a:r>
              <a:t>4.6-23.5 sec</a:t>
            </a:r>
          </a:p>
        </p:txBody>
      </p:sp>
      <p:sp>
        <p:nvSpPr>
          <p:cNvPr id="19" name="text-812-272">
            <a:extLst xmlns:a="http://schemas.openxmlformats.org/drawingml/2006/main">
              <a:ext uri="{FF2B5EF4-FFF2-40B4-BE49-F238E27FC236}">
                <a16:creationId xmlns:a16="http://schemas.microsoft.com/office/drawing/2014/main" id="{3CCCA0ED-9FFB-4A98-B5E8-B24A047CC9D0}"/>
              </a:ext>
            </a:extLst>
          </p:cNvPr>
          <p:cNvSpPr>
            <a:spLocks xmlns:a="http://schemas.openxmlformats.org/drawingml/2006/main" noGrp="1"/>
          </p:cNvSpPr>
          <p:nvPr/>
        </p:nvSpPr>
        <p:spPr>
          <a:xfrm xmlns:a="http://schemas.openxmlformats.org/drawingml/2006/main">
            <a:off x="7734300" y="2590800"/>
            <a:ext cx="3390900" cy="361950"/>
          </a:xfrm>
          <a:prstGeom xmlns:a="http://schemas.openxmlformats.org/drawingml/2006/main" prst="rect">
            <a:avLst/>
          </a:prstGeom>
        </p:spPr>
        <p:txBody>
          <a:bodyPr xmlns:a="http://schemas.openxmlformats.org/drawingml/2006/main" wrap="square" lIns="0" tIns="0" rIns="0" bIns="0" anchor="t">
            <a:normAutofit fontScale="98958" lnSpcReduction="1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earlier observed L0A range before recent optimizations</a:t>
            </a:r>
          </a:p>
        </p:txBody>
      </p:sp>
      <p:sp>
        <p:nvSpPr>
          <p:cNvPr id="20" name="box-786-350">
            <a:extLst xmlns:a="http://schemas.openxmlformats.org/drawingml/2006/main">
              <a:ext uri="{FF2B5EF4-FFF2-40B4-BE49-F238E27FC236}">
                <a16:creationId xmlns:a16="http://schemas.microsoft.com/office/drawing/2014/main" id="{12513336-0612-43DB-B61F-2FDD274B0212}"/>
              </a:ext>
            </a:extLst>
          </p:cNvPr>
          <p:cNvSpPr>
            <a:spLocks xmlns:a="http://schemas.openxmlformats.org/drawingml/2006/main" noGrp="1"/>
          </p:cNvSpPr>
          <p:nvPr/>
        </p:nvSpPr>
        <p:spPr>
          <a:xfrm xmlns:a="http://schemas.openxmlformats.org/drawingml/2006/main">
            <a:off x="7486650" y="3333750"/>
            <a:ext cx="3924300" cy="11239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812-372">
            <a:extLst xmlns:a="http://schemas.openxmlformats.org/drawingml/2006/main">
              <a:ext uri="{FF2B5EF4-FFF2-40B4-BE49-F238E27FC236}">
                <a16:creationId xmlns:a16="http://schemas.microsoft.com/office/drawing/2014/main" id="{EB654422-2724-4850-92C1-48778B547F3F}"/>
              </a:ext>
            </a:extLst>
          </p:cNvPr>
          <p:cNvSpPr>
            <a:spLocks xmlns:a="http://schemas.openxmlformats.org/drawingml/2006/main" noGrp="1"/>
          </p:cNvSpPr>
          <p:nvPr/>
        </p:nvSpPr>
        <p:spPr>
          <a:xfrm xmlns:a="http://schemas.openxmlformats.org/drawingml/2006/main">
            <a:off x="7734300" y="3543300"/>
            <a:ext cx="32575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Current qualification gate</a:t>
            </a:r>
          </a:p>
        </p:txBody>
      </p:sp>
      <p:sp>
        <p:nvSpPr>
          <p:cNvPr id="22" name="text-812-414">
            <a:extLst xmlns:a="http://schemas.openxmlformats.org/drawingml/2006/main">
              <a:ext uri="{FF2B5EF4-FFF2-40B4-BE49-F238E27FC236}">
                <a16:creationId xmlns:a16="http://schemas.microsoft.com/office/drawing/2014/main" id="{D6B45D5E-68D8-4DC4-A63C-7C4B91E2BAF2}"/>
              </a:ext>
            </a:extLst>
          </p:cNvPr>
          <p:cNvSpPr>
            <a:spLocks xmlns:a="http://schemas.openxmlformats.org/drawingml/2006/main" noGrp="1"/>
          </p:cNvSpPr>
          <p:nvPr/>
        </p:nvSpPr>
        <p:spPr>
          <a:xfrm xmlns:a="http://schemas.openxmlformats.org/drawingml/2006/main">
            <a:off x="7734300" y="3943350"/>
            <a:ext cx="33909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Measure terminal post-end p50/p90/p99 at target scale. Enable progressive only if needed.</a:t>
            </a:r>
          </a:p>
        </p:txBody>
      </p:sp>
      <p:sp>
        <p:nvSpPr>
          <p:cNvPr id="23" name="text-62-590">
            <a:extLst xmlns:a="http://schemas.openxmlformats.org/drawingml/2006/main">
              <a:ext uri="{FF2B5EF4-FFF2-40B4-BE49-F238E27FC236}">
                <a16:creationId xmlns:a16="http://schemas.microsoft.com/office/drawing/2014/main" id="{AE59812F-C087-4596-B800-DB4422241A7B}"/>
              </a:ext>
            </a:extLst>
          </p:cNvPr>
          <p:cNvSpPr>
            <a:spLocks xmlns:a="http://schemas.openxmlformats.org/drawingml/2006/main" noGrp="1"/>
          </p:cNvSpPr>
          <p:nvPr/>
        </p:nvSpPr>
        <p:spPr>
          <a:xfrm xmlns:a="http://schemas.openxmlformats.org/drawingml/2006/main">
            <a:off x="590550" y="5619750"/>
            <a:ext cx="66675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5D6470"/>
                </a:solidFill>
                <a:latin typeface="Helvetica Neue"/>
                <a:ea typeface="Helvetica Neue"/>
                <a:cs typeface="Helvetica Neue"/>
              </a:defRPr>
            </a:pPr>
            <a:r>
              <a:t>L1 model inference remains the dominant variable after deterministic L0A.</a:t>
            </a:r>
          </a:p>
        </p:txBody>
      </p:sp>
      <p:sp>
        <p:nvSpPr>
          <p:cNvPr id="24" name="text-786-590">
            <a:extLst xmlns:a="http://schemas.openxmlformats.org/drawingml/2006/main">
              <a:ext uri="{FF2B5EF4-FFF2-40B4-BE49-F238E27FC236}">
                <a16:creationId xmlns:a16="http://schemas.microsoft.com/office/drawing/2014/main" id="{3644A628-26AA-4898-BA89-BB85F2CDE6D3}"/>
              </a:ext>
            </a:extLst>
          </p:cNvPr>
          <p:cNvSpPr>
            <a:spLocks xmlns:a="http://schemas.openxmlformats.org/drawingml/2006/main" noGrp="1"/>
          </p:cNvSpPr>
          <p:nvPr/>
        </p:nvSpPr>
        <p:spPr>
          <a:xfrm xmlns:a="http://schemas.openxmlformats.org/drawingml/2006/main">
            <a:off x="7486650" y="5619750"/>
            <a:ext cx="3924300" cy="247650"/>
          </a:xfrm>
          <a:prstGeom xmlns:a="http://schemas.openxmlformats.org/drawingml/2006/main" prst="rect">
            <a:avLst/>
          </a:prstGeom>
        </p:spPr>
        <p:txBody>
          <a:bodyPr xmlns:a="http://schemas.openxmlformats.org/drawingml/2006/main" wrap="square" lIns="0" tIns="0" rIns="0" bIns="0" anchor="t">
            <a:normAutofit fontScale="98658"/>
          </a:bodyPr>
          <a:lstStyle xmlns:a="http://schemas.openxmlformats.org/drawingml/2006/main"/>
          <a:p xmlns:a="http://schemas.openxmlformats.org/drawingml/2006/main">
            <a:pPr algn="r">
              <a:buNone/>
              <a:defRPr sz="1350" b="1">
                <a:solidFill>
                  <a:srgbClr val="000000"/>
                </a:solidFill>
                <a:latin typeface="Helvetica Neue"/>
                <a:ea typeface="Helvetica Neue"/>
                <a:cs typeface="Helvetica Neue"/>
              </a:defRPr>
            </a:pPr>
            <a:r>
              <a:t>Historical measurements, not a production claim</a:t>
            </a:r>
          </a:p>
        </p:txBody>
      </p:sp>
      <p:sp>
        <p:nvSpPr>
          <p:cNvPr id="25" name="text-62-644">
            <a:extLst xmlns:a="http://schemas.openxmlformats.org/drawingml/2006/main">
              <a:ext uri="{FF2B5EF4-FFF2-40B4-BE49-F238E27FC236}">
                <a16:creationId xmlns:a16="http://schemas.microsoft.com/office/drawing/2014/main" id="{52448370-DBEB-4561-B50E-8E6487F713D3}"/>
              </a:ext>
            </a:extLst>
          </p:cNvPr>
          <p:cNvSpPr>
            <a:spLocks xmlns:a="http://schemas.openxmlformats.org/drawingml/2006/main" noGrp="1"/>
          </p:cNvSpPr>
          <p:nvPr/>
        </p:nvSpPr>
        <p:spPr>
          <a:xfrm xmlns:a="http://schemas.openxmlformats.org/drawingml/2006/main">
            <a:off x="590550" y="6134100"/>
            <a:ext cx="78105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470"/>
                </a:solidFill>
                <a:latin typeface="Helvetica Neue"/>
                <a:ea typeface="Helvetica Neue"/>
                <a:cs typeface="Helvetica Neue"/>
              </a:defRPr>
            </a:pPr>
            <a:r>
              <a:t>Source: earlier no-LLM L0A traces and exploratory L1 panels; re-baseline required</a:t>
            </a:r>
          </a:p>
        </p:txBody>
      </p:sp>
      <p:graphicFrame>
        <p:nvGraphicFramePr>
          <p:cNvPr id="41" name="Chart"/>
          <p:cNvGraphicFramePr/>
          <p:nvPr/>
        </p:nvGraphicFramePr>
        <p:xfrm>
          <a:off xmlns:a="http://schemas.openxmlformats.org/drawingml/2006/main" x="590550" y="2343150"/>
          <a:ext xmlns:a="http://schemas.openxmlformats.org/drawingml/2006/main" cx="6191250" cy="3009900"/>
        </p:xfrm>
        <a:graphic xmlns:a="http://schemas.openxmlformats.org/drawingml/2006/main">
          <a:graphicData uri="http://schemas.openxmlformats.org/drawingml/2006/chart">
            <c:chart xmlns:r="http://schemas.openxmlformats.org/officeDocument/2006/relationships" xmlns:c="http://schemas.openxmlformats.org/drawingml/2006/chart" r:id="Rc6e7a519130f4415"/>
          </a:graphicData>
        </a:graphic>
      </p:graphicFrame>
    </p:spTree>
    <p:extLst>
      <p:ext uri="{BB962C8B-B14F-4D97-AF65-F5344CB8AC3E}">
        <p14:creationId xmlns:p14="http://schemas.microsoft.com/office/powerpoint/2010/main" val="11065955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42-26">
            <a:extLst xmlns:a="http://schemas.openxmlformats.org/drawingml/2006/main">
              <a:ext uri="{FF2B5EF4-FFF2-40B4-BE49-F238E27FC236}">
                <a16:creationId xmlns:a16="http://schemas.microsoft.com/office/drawing/2014/main" id="{2E8F24E5-5740-41D5-B242-3068F26B0941}"/>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L0 INPUTS</a:t>
            </a:r>
          </a:p>
        </p:txBody>
      </p:sp>
      <p:sp>
        <p:nvSpPr>
          <p:cNvPr id="2" name="text-42-54">
            <a:extLst xmlns:a="http://schemas.openxmlformats.org/drawingml/2006/main">
              <a:ext uri="{FF2B5EF4-FFF2-40B4-BE49-F238E27FC236}">
                <a16:creationId xmlns:a16="http://schemas.microsoft.com/office/drawing/2014/main" id="{15E178E7-8FEA-40C1-A1BD-5B7AF32A7B5F}"/>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One log becomes typed evidence, not an action</a:t>
            </a:r>
          </a:p>
        </p:txBody>
      </p:sp>
      <p:sp>
        <p:nvSpPr>
          <p:cNvPr id="3" name="line-42-133">
            <a:extLst xmlns:a="http://schemas.openxmlformats.org/drawingml/2006/main">
              <a:ext uri="{FF2B5EF4-FFF2-40B4-BE49-F238E27FC236}">
                <a16:creationId xmlns:a16="http://schemas.microsoft.com/office/drawing/2014/main" id="{35E6AFDC-0A28-4A7A-9F85-9F537488B8ED}"/>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2-168">
            <a:extLst xmlns:a="http://schemas.openxmlformats.org/drawingml/2006/main">
              <a:ext uri="{FF2B5EF4-FFF2-40B4-BE49-F238E27FC236}">
                <a16:creationId xmlns:a16="http://schemas.microsoft.com/office/drawing/2014/main" id="{3EE8BA63-C352-4D93-B5D8-E4175EE848CA}"/>
              </a:ext>
            </a:extLst>
          </p:cNvPr>
          <p:cNvSpPr>
            <a:spLocks xmlns:a="http://schemas.openxmlformats.org/drawingml/2006/main" noGrp="1"/>
          </p:cNvSpPr>
          <p:nvPr/>
        </p:nvSpPr>
        <p:spPr>
          <a:xfrm xmlns:a="http://schemas.openxmlformats.org/drawingml/2006/main">
            <a:off x="590550" y="1600200"/>
            <a:ext cx="16954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RAW LOG</a:t>
            </a:r>
          </a:p>
        </p:txBody>
      </p:sp>
      <p:sp>
        <p:nvSpPr>
          <p:cNvPr id="5" name="arrow-244-170">
            <a:extLst xmlns:a="http://schemas.openxmlformats.org/drawingml/2006/main">
              <a:ext uri="{FF2B5EF4-FFF2-40B4-BE49-F238E27FC236}">
                <a16:creationId xmlns:a16="http://schemas.microsoft.com/office/drawing/2014/main" id="{C9DF21FA-F5C4-4127-9271-052ABE07877F}"/>
              </a:ext>
            </a:extLst>
          </p:cNvPr>
          <p:cNvSpPr>
            <a:spLocks xmlns:a="http://schemas.openxmlformats.org/drawingml/2006/main" noGrp="1"/>
          </p:cNvSpPr>
          <p:nvPr/>
        </p:nvSpPr>
        <p:spPr>
          <a:xfrm xmlns:a="http://schemas.openxmlformats.org/drawingml/2006/main">
            <a:off x="23241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text-288-168">
            <a:extLst xmlns:a="http://schemas.openxmlformats.org/drawingml/2006/main">
              <a:ext uri="{FF2B5EF4-FFF2-40B4-BE49-F238E27FC236}">
                <a16:creationId xmlns:a16="http://schemas.microsoft.com/office/drawing/2014/main" id="{78F62E56-55F0-4BF5-B0A6-43A27CBEDF83}"/>
              </a:ext>
            </a:extLst>
          </p:cNvPr>
          <p:cNvSpPr>
            <a:spLocks xmlns:a="http://schemas.openxmlformats.org/drawingml/2006/main" noGrp="1"/>
          </p:cNvSpPr>
          <p:nvPr/>
        </p:nvSpPr>
        <p:spPr>
          <a:xfrm xmlns:a="http://schemas.openxmlformats.org/drawingml/2006/main">
            <a:off x="2743200" y="1600200"/>
            <a:ext cx="20955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DETECT</a:t>
            </a:r>
          </a:p>
        </p:txBody>
      </p:sp>
      <p:sp>
        <p:nvSpPr>
          <p:cNvPr id="7" name="arrow-514-170">
            <a:extLst xmlns:a="http://schemas.openxmlformats.org/drawingml/2006/main">
              <a:ext uri="{FF2B5EF4-FFF2-40B4-BE49-F238E27FC236}">
                <a16:creationId xmlns:a16="http://schemas.microsoft.com/office/drawing/2014/main" id="{0DC265A1-9463-4855-873D-E309B86EA660}"/>
              </a:ext>
            </a:extLst>
          </p:cNvPr>
          <p:cNvSpPr>
            <a:spLocks xmlns:a="http://schemas.openxmlformats.org/drawingml/2006/main" noGrp="1"/>
          </p:cNvSpPr>
          <p:nvPr/>
        </p:nvSpPr>
        <p:spPr>
          <a:xfrm xmlns:a="http://schemas.openxmlformats.org/drawingml/2006/main">
            <a:off x="489585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558-168">
            <a:extLst xmlns:a="http://schemas.openxmlformats.org/drawingml/2006/main">
              <a:ext uri="{FF2B5EF4-FFF2-40B4-BE49-F238E27FC236}">
                <a16:creationId xmlns:a16="http://schemas.microsoft.com/office/drawing/2014/main" id="{82FBAFBB-1CEB-4A73-83B6-BFE4F4A233EE}"/>
              </a:ext>
            </a:extLst>
          </p:cNvPr>
          <p:cNvSpPr>
            <a:spLocks xmlns:a="http://schemas.openxmlformats.org/drawingml/2006/main" noGrp="1"/>
          </p:cNvSpPr>
          <p:nvPr/>
        </p:nvSpPr>
        <p:spPr>
          <a:xfrm xmlns:a="http://schemas.openxmlformats.org/drawingml/2006/main">
            <a:off x="5314950" y="1600200"/>
            <a:ext cx="21336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TYPE</a:t>
            </a:r>
          </a:p>
        </p:txBody>
      </p:sp>
      <p:sp>
        <p:nvSpPr>
          <p:cNvPr id="9" name="arrow-788-170">
            <a:extLst xmlns:a="http://schemas.openxmlformats.org/drawingml/2006/main">
              <a:ext uri="{FF2B5EF4-FFF2-40B4-BE49-F238E27FC236}">
                <a16:creationId xmlns:a16="http://schemas.microsoft.com/office/drawing/2014/main" id="{27BAD463-5A42-44D2-AA51-FA4C1F11166A}"/>
              </a:ext>
            </a:extLst>
          </p:cNvPr>
          <p:cNvSpPr>
            <a:spLocks xmlns:a="http://schemas.openxmlformats.org/drawingml/2006/main" noGrp="1"/>
          </p:cNvSpPr>
          <p:nvPr/>
        </p:nvSpPr>
        <p:spPr>
          <a:xfrm xmlns:a="http://schemas.openxmlformats.org/drawingml/2006/main">
            <a:off x="75057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832-168">
            <a:extLst xmlns:a="http://schemas.openxmlformats.org/drawingml/2006/main">
              <a:ext uri="{FF2B5EF4-FFF2-40B4-BE49-F238E27FC236}">
                <a16:creationId xmlns:a16="http://schemas.microsoft.com/office/drawing/2014/main" id="{09A1E003-46A4-4B36-91C7-95414EDE0162}"/>
              </a:ext>
            </a:extLst>
          </p:cNvPr>
          <p:cNvSpPr>
            <a:spLocks xmlns:a="http://schemas.openxmlformats.org/drawingml/2006/main" noGrp="1"/>
          </p:cNvSpPr>
          <p:nvPr/>
        </p:nvSpPr>
        <p:spPr>
          <a:xfrm xmlns:a="http://schemas.openxmlformats.org/drawingml/2006/main">
            <a:off x="7924800" y="1600200"/>
            <a:ext cx="34290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NEXT: L0A</a:t>
            </a:r>
          </a:p>
        </p:txBody>
      </p:sp>
      <p:sp>
        <p:nvSpPr>
          <p:cNvPr id="11" name="box-62-228">
            <a:extLst xmlns:a="http://schemas.openxmlformats.org/drawingml/2006/main">
              <a:ext uri="{FF2B5EF4-FFF2-40B4-BE49-F238E27FC236}">
                <a16:creationId xmlns:a16="http://schemas.microsoft.com/office/drawing/2014/main" id="{395A74B4-5D3B-4EDE-A24B-5D70C0961FA6}"/>
              </a:ext>
            </a:extLst>
          </p:cNvPr>
          <p:cNvSpPr>
            <a:spLocks xmlns:a="http://schemas.openxmlformats.org/drawingml/2006/main" noGrp="1"/>
          </p:cNvSpPr>
          <p:nvPr/>
        </p:nvSpPr>
        <p:spPr>
          <a:xfrm xmlns:a="http://schemas.openxmlformats.org/drawingml/2006/main">
            <a:off x="590550" y="2171700"/>
            <a:ext cx="31623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2" name="text-82-250">
            <a:extLst xmlns:a="http://schemas.openxmlformats.org/drawingml/2006/main">
              <a:ext uri="{FF2B5EF4-FFF2-40B4-BE49-F238E27FC236}">
                <a16:creationId xmlns:a16="http://schemas.microsoft.com/office/drawing/2014/main" id="{1DF51230-E9D0-4ECB-AD5E-FF3619A866E6}"/>
              </a:ext>
            </a:extLst>
          </p:cNvPr>
          <p:cNvSpPr>
            <a:spLocks xmlns:a="http://schemas.openxmlformats.org/drawingml/2006/main" noGrp="1"/>
          </p:cNvSpPr>
          <p:nvPr/>
        </p:nvSpPr>
        <p:spPr>
          <a:xfrm xmlns:a="http://schemas.openxmlformats.org/drawingml/2006/main">
            <a:off x="781050" y="2381250"/>
            <a:ext cx="278130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Raw log excerpt</a:t>
            </a:r>
          </a:p>
        </p:txBody>
      </p:sp>
      <p:sp>
        <p:nvSpPr>
          <p:cNvPr id="13" name="text-82-310">
            <a:extLst xmlns:a="http://schemas.openxmlformats.org/drawingml/2006/main">
              <a:ext uri="{FF2B5EF4-FFF2-40B4-BE49-F238E27FC236}">
                <a16:creationId xmlns:a16="http://schemas.microsoft.com/office/drawing/2014/main" id="{5E1B19B2-D558-4267-9A43-328298658A0B}"/>
              </a:ext>
            </a:extLst>
          </p:cNvPr>
          <p:cNvSpPr>
            <a:spLocks xmlns:a="http://schemas.openxmlformats.org/drawingml/2006/main" noGrp="1"/>
          </p:cNvSpPr>
          <p:nvPr/>
        </p:nvSpPr>
        <p:spPr>
          <a:xfrm xmlns:a="http://schemas.openxmlformats.org/drawingml/2006/main">
            <a:off x="781050" y="2952750"/>
            <a:ext cx="27813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Four lines, two ranks</a:t>
            </a:r>
          </a:p>
        </p:txBody>
      </p:sp>
      <p:sp>
        <p:nvSpPr>
          <p:cNvPr id="14" name="dot-82-362">
            <a:extLst xmlns:a="http://schemas.openxmlformats.org/drawingml/2006/main">
              <a:ext uri="{FF2B5EF4-FFF2-40B4-BE49-F238E27FC236}">
                <a16:creationId xmlns:a16="http://schemas.microsoft.com/office/drawing/2014/main" id="{68AAB549-B5B2-42FD-A23C-B5D2D4337F38}"/>
              </a:ext>
            </a:extLst>
          </p:cNvPr>
          <p:cNvSpPr>
            <a:spLocks xmlns:a="http://schemas.openxmlformats.org/drawingml/2006/main" noGrp="1"/>
          </p:cNvSpPr>
          <p:nvPr/>
        </p:nvSpPr>
        <p:spPr>
          <a:xfrm xmlns:a="http://schemas.openxmlformats.org/drawingml/2006/main">
            <a:off x="7810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2-354">
            <a:extLst xmlns:a="http://schemas.openxmlformats.org/drawingml/2006/main">
              <a:ext uri="{FF2B5EF4-FFF2-40B4-BE49-F238E27FC236}">
                <a16:creationId xmlns:a16="http://schemas.microsoft.com/office/drawing/2014/main" id="{9CA6E212-9295-476D-BFD7-D28BF629A025}"/>
              </a:ext>
            </a:extLst>
          </p:cNvPr>
          <p:cNvSpPr>
            <a:spLocks xmlns:a="http://schemas.openxmlformats.org/drawingml/2006/main" noGrp="1"/>
          </p:cNvSpPr>
          <p:nvPr/>
        </p:nvSpPr>
        <p:spPr>
          <a:xfrm xmlns:a="http://schemas.openxmlformats.org/drawingml/2006/main">
            <a:off x="971550" y="337185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1000  iteration 418 completed</a:t>
            </a:r>
          </a:p>
        </p:txBody>
      </p:sp>
      <p:sp>
        <p:nvSpPr>
          <p:cNvPr id="16" name="dot-82-416">
            <a:extLst xmlns:a="http://schemas.openxmlformats.org/drawingml/2006/main">
              <a:ext uri="{FF2B5EF4-FFF2-40B4-BE49-F238E27FC236}">
                <a16:creationId xmlns:a16="http://schemas.microsoft.com/office/drawing/2014/main" id="{3729A78D-A319-40E0-B9DF-A3E8F5CE4AE7}"/>
              </a:ext>
            </a:extLst>
          </p:cNvPr>
          <p:cNvSpPr>
            <a:spLocks xmlns:a="http://schemas.openxmlformats.org/drawingml/2006/main" noGrp="1"/>
          </p:cNvSpPr>
          <p:nvPr/>
        </p:nvSpPr>
        <p:spPr>
          <a:xfrm xmlns:a="http://schemas.openxmlformats.org/drawingml/2006/main">
            <a:off x="7810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102-408">
            <a:extLst xmlns:a="http://schemas.openxmlformats.org/drawingml/2006/main">
              <a:ext uri="{FF2B5EF4-FFF2-40B4-BE49-F238E27FC236}">
                <a16:creationId xmlns:a16="http://schemas.microsoft.com/office/drawing/2014/main" id="{A6477598-51D1-4C66-B090-A033E20E4995}"/>
              </a:ext>
            </a:extLst>
          </p:cNvPr>
          <p:cNvSpPr>
            <a:spLocks xmlns:a="http://schemas.openxmlformats.org/drawingml/2006/main" noGrp="1"/>
          </p:cNvSpPr>
          <p:nvPr/>
        </p:nvSpPr>
        <p:spPr>
          <a:xfrm xmlns:a="http://schemas.openxmlformats.org/drawingml/2006/main">
            <a:off x="971550" y="388620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1012/1013  CUDA OOM [ranks 7, 9]</a:t>
            </a:r>
          </a:p>
        </p:txBody>
      </p:sp>
      <p:sp>
        <p:nvSpPr>
          <p:cNvPr id="18" name="dot-82-470">
            <a:extLst xmlns:a="http://schemas.openxmlformats.org/drawingml/2006/main">
              <a:ext uri="{FF2B5EF4-FFF2-40B4-BE49-F238E27FC236}">
                <a16:creationId xmlns:a16="http://schemas.microsoft.com/office/drawing/2014/main" id="{97C62568-0B41-452D-B123-73FCC3FE3E0C}"/>
              </a:ext>
            </a:extLst>
          </p:cNvPr>
          <p:cNvSpPr>
            <a:spLocks xmlns:a="http://schemas.openxmlformats.org/drawingml/2006/main" noGrp="1"/>
          </p:cNvSpPr>
          <p:nvPr/>
        </p:nvSpPr>
        <p:spPr>
          <a:xfrm xmlns:a="http://schemas.openxmlformats.org/drawingml/2006/main">
            <a:off x="7810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102-462">
            <a:extLst xmlns:a="http://schemas.openxmlformats.org/drawingml/2006/main">
              <a:ext uri="{FF2B5EF4-FFF2-40B4-BE49-F238E27FC236}">
                <a16:creationId xmlns:a16="http://schemas.microsoft.com/office/drawing/2014/main" id="{1AE84897-7006-4F8C-BBFA-7B87792648E5}"/>
              </a:ext>
            </a:extLst>
          </p:cNvPr>
          <p:cNvSpPr>
            <a:spLocks xmlns:a="http://schemas.openxmlformats.org/drawingml/2006/main" noGrp="1"/>
          </p:cNvSpPr>
          <p:nvPr/>
        </p:nvSpPr>
        <p:spPr>
          <a:xfrm xmlns:a="http://schemas.openxmlformats.org/drawingml/2006/main">
            <a:off x="971550" y="440055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1030  destroy_process_group()</a:t>
            </a:r>
          </a:p>
        </p:txBody>
      </p:sp>
      <p:sp>
        <p:nvSpPr>
          <p:cNvPr id="20" name="box-434-228">
            <a:extLst xmlns:a="http://schemas.openxmlformats.org/drawingml/2006/main">
              <a:ext uri="{FF2B5EF4-FFF2-40B4-BE49-F238E27FC236}">
                <a16:creationId xmlns:a16="http://schemas.microsoft.com/office/drawing/2014/main" id="{C18E8717-5015-47D5-A0C5-8927B47AD929}"/>
              </a:ext>
            </a:extLst>
          </p:cNvPr>
          <p:cNvSpPr>
            <a:spLocks xmlns:a="http://schemas.openxmlformats.org/drawingml/2006/main" noGrp="1"/>
          </p:cNvSpPr>
          <p:nvPr/>
        </p:nvSpPr>
        <p:spPr>
          <a:xfrm xmlns:a="http://schemas.openxmlformats.org/drawingml/2006/main">
            <a:off x="41338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454-250">
            <a:extLst xmlns:a="http://schemas.openxmlformats.org/drawingml/2006/main">
              <a:ext uri="{FF2B5EF4-FFF2-40B4-BE49-F238E27FC236}">
                <a16:creationId xmlns:a16="http://schemas.microsoft.com/office/drawing/2014/main" id="{4A64CE5D-113E-4D9E-9862-3E8BAC75122A}"/>
              </a:ext>
            </a:extLst>
          </p:cNvPr>
          <p:cNvSpPr>
            <a:spLocks xmlns:a="http://schemas.openxmlformats.org/drawingml/2006/main" noGrp="1"/>
          </p:cNvSpPr>
          <p:nvPr/>
        </p:nvSpPr>
        <p:spPr>
          <a:xfrm xmlns:a="http://schemas.openxmlformats.org/drawingml/2006/main">
            <a:off x="4324350" y="2381250"/>
            <a:ext cx="2781300" cy="514350"/>
          </a:xfrm>
          <a:prstGeom xmlns:a="http://schemas.openxmlformats.org/drawingml/2006/main" prst="rect">
            <a:avLst/>
          </a:prstGeom>
        </p:spPr>
        <p:txBody>
          <a:bodyPr xmlns:a="http://schemas.openxmlformats.org/drawingml/2006/main" wrap="square" lIns="0" tIns="0" rIns="0" bIns="0" anchor="t">
            <a:normAutofit lnSpcReduction="1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Registry matches</a:t>
            </a:r>
          </a:p>
        </p:txBody>
      </p:sp>
      <p:sp>
        <p:nvSpPr>
          <p:cNvPr id="22" name="text-454-310">
            <a:extLst xmlns:a="http://schemas.openxmlformats.org/drawingml/2006/main">
              <a:ext uri="{FF2B5EF4-FFF2-40B4-BE49-F238E27FC236}">
                <a16:creationId xmlns:a16="http://schemas.microsoft.com/office/drawing/2014/main" id="{FD2180B6-9D2C-4A94-BB6F-3360EEADD78E}"/>
              </a:ext>
            </a:extLst>
          </p:cNvPr>
          <p:cNvSpPr>
            <a:spLocks xmlns:a="http://schemas.openxmlformats.org/drawingml/2006/main" noGrp="1"/>
          </p:cNvSpPr>
          <p:nvPr/>
        </p:nvSpPr>
        <p:spPr>
          <a:xfrm xmlns:a="http://schemas.openxmlformats.org/drawingml/2006/main">
            <a:off x="4324350" y="2952750"/>
            <a:ext cx="27813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Generic pattern -&gt; role</a:t>
            </a:r>
          </a:p>
        </p:txBody>
      </p:sp>
      <p:sp>
        <p:nvSpPr>
          <p:cNvPr id="23" name="dot-454-362">
            <a:extLst xmlns:a="http://schemas.openxmlformats.org/drawingml/2006/main">
              <a:ext uri="{FF2B5EF4-FFF2-40B4-BE49-F238E27FC236}">
                <a16:creationId xmlns:a16="http://schemas.microsoft.com/office/drawing/2014/main" id="{2B5ABAAE-328B-43DB-BB67-B19F6355BBF4}"/>
              </a:ext>
            </a:extLst>
          </p:cNvPr>
          <p:cNvSpPr>
            <a:spLocks xmlns:a="http://schemas.openxmlformats.org/drawingml/2006/main" noGrp="1"/>
          </p:cNvSpPr>
          <p:nvPr/>
        </p:nvSpPr>
        <p:spPr>
          <a:xfrm xmlns:a="http://schemas.openxmlformats.org/drawingml/2006/main">
            <a:off x="43243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text-474-354">
            <a:extLst xmlns:a="http://schemas.openxmlformats.org/drawingml/2006/main">
              <a:ext uri="{FF2B5EF4-FFF2-40B4-BE49-F238E27FC236}">
                <a16:creationId xmlns:a16="http://schemas.microsoft.com/office/drawing/2014/main" id="{9CC8E4EF-4C62-4E65-A043-4EB6C61778AB}"/>
              </a:ext>
            </a:extLst>
          </p:cNvPr>
          <p:cNvSpPr>
            <a:spLocks xmlns:a="http://schemas.openxmlformats.org/drawingml/2006/main" noGrp="1"/>
          </p:cNvSpPr>
          <p:nvPr/>
        </p:nvSpPr>
        <p:spPr>
          <a:xfrm xmlns:a="http://schemas.openxmlformats.org/drawingml/2006/main">
            <a:off x="4514850" y="337185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iteration &lt;N&gt; completed -&gt; progress</a:t>
            </a:r>
          </a:p>
        </p:txBody>
      </p:sp>
      <p:sp>
        <p:nvSpPr>
          <p:cNvPr id="25" name="dot-454-416">
            <a:extLst xmlns:a="http://schemas.openxmlformats.org/drawingml/2006/main">
              <a:ext uri="{FF2B5EF4-FFF2-40B4-BE49-F238E27FC236}">
                <a16:creationId xmlns:a16="http://schemas.microsoft.com/office/drawing/2014/main" id="{CBBD01F2-9E0B-4739-BF76-7F02F9DB340D}"/>
              </a:ext>
            </a:extLst>
          </p:cNvPr>
          <p:cNvSpPr>
            <a:spLocks xmlns:a="http://schemas.openxmlformats.org/drawingml/2006/main" noGrp="1"/>
          </p:cNvSpPr>
          <p:nvPr/>
        </p:nvSpPr>
        <p:spPr>
          <a:xfrm xmlns:a="http://schemas.openxmlformats.org/drawingml/2006/main">
            <a:off x="43243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474-408">
            <a:extLst xmlns:a="http://schemas.openxmlformats.org/drawingml/2006/main">
              <a:ext uri="{FF2B5EF4-FFF2-40B4-BE49-F238E27FC236}">
                <a16:creationId xmlns:a16="http://schemas.microsoft.com/office/drawing/2014/main" id="{1494D069-AB8A-4A24-9766-4E838433FEEA}"/>
              </a:ext>
            </a:extLst>
          </p:cNvPr>
          <p:cNvSpPr>
            <a:spLocks xmlns:a="http://schemas.openxmlformats.org/drawingml/2006/main" noGrp="1"/>
          </p:cNvSpPr>
          <p:nvPr/>
        </p:nvSpPr>
        <p:spPr>
          <a:xfrm xmlns:a="http://schemas.openxmlformats.org/drawingml/2006/main">
            <a:off x="4514850" y="388620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RuntimeError: CUDA OOM -&gt; failure</a:t>
            </a:r>
          </a:p>
        </p:txBody>
      </p:sp>
      <p:sp>
        <p:nvSpPr>
          <p:cNvPr id="27" name="dot-454-470">
            <a:extLst xmlns:a="http://schemas.openxmlformats.org/drawingml/2006/main">
              <a:ext uri="{FF2B5EF4-FFF2-40B4-BE49-F238E27FC236}">
                <a16:creationId xmlns:a16="http://schemas.microsoft.com/office/drawing/2014/main" id="{EDCB2778-EADA-461E-973D-2465A5F347BF}"/>
              </a:ext>
            </a:extLst>
          </p:cNvPr>
          <p:cNvSpPr>
            <a:spLocks xmlns:a="http://schemas.openxmlformats.org/drawingml/2006/main" noGrp="1"/>
          </p:cNvSpPr>
          <p:nvPr/>
        </p:nvSpPr>
        <p:spPr>
          <a:xfrm xmlns:a="http://schemas.openxmlformats.org/drawingml/2006/main">
            <a:off x="43243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474-462">
            <a:extLst xmlns:a="http://schemas.openxmlformats.org/drawingml/2006/main">
              <a:ext uri="{FF2B5EF4-FFF2-40B4-BE49-F238E27FC236}">
                <a16:creationId xmlns:a16="http://schemas.microsoft.com/office/drawing/2014/main" id="{D2FDBF89-79F2-4F08-8459-5343202244D4}"/>
              </a:ext>
            </a:extLst>
          </p:cNvPr>
          <p:cNvSpPr>
            <a:spLocks xmlns:a="http://schemas.openxmlformats.org/drawingml/2006/main" noGrp="1"/>
          </p:cNvSpPr>
          <p:nvPr/>
        </p:nvSpPr>
        <p:spPr>
          <a:xfrm xmlns:a="http://schemas.openxmlformats.org/drawingml/2006/main">
            <a:off x="4514850" y="440055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destroy_process_group() -&gt; teardown</a:t>
            </a:r>
          </a:p>
        </p:txBody>
      </p:sp>
      <p:sp>
        <p:nvSpPr>
          <p:cNvPr id="29" name="box-806-228">
            <a:extLst xmlns:a="http://schemas.openxmlformats.org/drawingml/2006/main">
              <a:ext uri="{FF2B5EF4-FFF2-40B4-BE49-F238E27FC236}">
                <a16:creationId xmlns:a16="http://schemas.microsoft.com/office/drawing/2014/main" id="{16EC43A0-C165-4FC1-8943-192E174D1BBC}"/>
              </a:ext>
            </a:extLst>
          </p:cNvPr>
          <p:cNvSpPr>
            <a:spLocks xmlns:a="http://schemas.openxmlformats.org/drawingml/2006/main" noGrp="1"/>
          </p:cNvSpPr>
          <p:nvPr/>
        </p:nvSpPr>
        <p:spPr>
          <a:xfrm xmlns:a="http://schemas.openxmlformats.org/drawingml/2006/main">
            <a:off x="76771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30" name="text-826-250">
            <a:extLst xmlns:a="http://schemas.openxmlformats.org/drawingml/2006/main">
              <a:ext uri="{FF2B5EF4-FFF2-40B4-BE49-F238E27FC236}">
                <a16:creationId xmlns:a16="http://schemas.microsoft.com/office/drawing/2014/main" id="{63C996DE-9285-43D2-877E-E4A36953608D}"/>
              </a:ext>
            </a:extLst>
          </p:cNvPr>
          <p:cNvSpPr>
            <a:spLocks xmlns:a="http://schemas.openxmlformats.org/drawingml/2006/main" noGrp="1"/>
          </p:cNvSpPr>
          <p:nvPr/>
        </p:nvSpPr>
        <p:spPr>
          <a:xfrm xmlns:a="http://schemas.openxmlformats.org/drawingml/2006/main">
            <a:off x="7867650" y="2381250"/>
            <a:ext cx="278130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Typed L0 inputs</a:t>
            </a:r>
          </a:p>
        </p:txBody>
      </p:sp>
      <p:sp>
        <p:nvSpPr>
          <p:cNvPr id="31" name="text-826-310">
            <a:extLst xmlns:a="http://schemas.openxmlformats.org/drawingml/2006/main">
              <a:ext uri="{FF2B5EF4-FFF2-40B4-BE49-F238E27FC236}">
                <a16:creationId xmlns:a16="http://schemas.microsoft.com/office/drawing/2014/main" id="{B9CD621D-79C4-4765-99E5-90F20A1E69EB}"/>
              </a:ext>
            </a:extLst>
          </p:cNvPr>
          <p:cNvSpPr>
            <a:spLocks xmlns:a="http://schemas.openxmlformats.org/drawingml/2006/main" noGrp="1"/>
          </p:cNvSpPr>
          <p:nvPr/>
        </p:nvSpPr>
        <p:spPr>
          <a:xfrm xmlns:a="http://schemas.openxmlformats.org/drawingml/2006/main">
            <a:off x="7867650" y="2952750"/>
            <a:ext cx="27813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No STOP / RESTART</a:t>
            </a:r>
          </a:p>
        </p:txBody>
      </p:sp>
      <p:sp>
        <p:nvSpPr>
          <p:cNvPr id="32" name="dot-826-362">
            <a:extLst xmlns:a="http://schemas.openxmlformats.org/drawingml/2006/main">
              <a:ext uri="{FF2B5EF4-FFF2-40B4-BE49-F238E27FC236}">
                <a16:creationId xmlns:a16="http://schemas.microsoft.com/office/drawing/2014/main" id="{A4D5F9F5-806C-4E86-98D8-634E9E9775D5}"/>
              </a:ext>
            </a:extLst>
          </p:cNvPr>
          <p:cNvSpPr>
            <a:spLocks xmlns:a="http://schemas.openxmlformats.org/drawingml/2006/main" noGrp="1"/>
          </p:cNvSpPr>
          <p:nvPr/>
        </p:nvSpPr>
        <p:spPr>
          <a:xfrm xmlns:a="http://schemas.openxmlformats.org/drawingml/2006/main">
            <a:off x="78676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46-354">
            <a:extLst xmlns:a="http://schemas.openxmlformats.org/drawingml/2006/main">
              <a:ext uri="{FF2B5EF4-FFF2-40B4-BE49-F238E27FC236}">
                <a16:creationId xmlns:a16="http://schemas.microsoft.com/office/drawing/2014/main" id="{E36A2BDA-007D-4045-81D4-1FA5081557E8}"/>
              </a:ext>
            </a:extLst>
          </p:cNvPr>
          <p:cNvSpPr>
            <a:spLocks xmlns:a="http://schemas.openxmlformats.org/drawingml/2006/main" noGrp="1"/>
          </p:cNvSpPr>
          <p:nvPr/>
        </p:nvSpPr>
        <p:spPr>
          <a:xfrm xmlns:a="http://schemas.openxmlformats.org/drawingml/2006/main">
            <a:off x="8058150" y="337185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ProgressMarker(step=418)</a:t>
            </a:r>
          </a:p>
        </p:txBody>
      </p:sp>
      <p:sp>
        <p:nvSpPr>
          <p:cNvPr id="34" name="dot-826-416">
            <a:extLst xmlns:a="http://schemas.openxmlformats.org/drawingml/2006/main">
              <a:ext uri="{FF2B5EF4-FFF2-40B4-BE49-F238E27FC236}">
                <a16:creationId xmlns:a16="http://schemas.microsoft.com/office/drawing/2014/main" id="{7C380AC4-4795-4BB2-A3F8-72DE52309B59}"/>
              </a:ext>
            </a:extLst>
          </p:cNvPr>
          <p:cNvSpPr>
            <a:spLocks xmlns:a="http://schemas.openxmlformats.org/drawingml/2006/main" noGrp="1"/>
          </p:cNvSpPr>
          <p:nvPr/>
        </p:nvSpPr>
        <p:spPr>
          <a:xfrm xmlns:a="http://schemas.openxmlformats.org/drawingml/2006/main">
            <a:off x="78676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5" name="text-846-408">
            <a:extLst xmlns:a="http://schemas.openxmlformats.org/drawingml/2006/main">
              <a:ext uri="{FF2B5EF4-FFF2-40B4-BE49-F238E27FC236}">
                <a16:creationId xmlns:a16="http://schemas.microsoft.com/office/drawing/2014/main" id="{DA96D7C3-76CD-420D-8F07-1CE7E8D23ED5}"/>
              </a:ext>
            </a:extLst>
          </p:cNvPr>
          <p:cNvSpPr>
            <a:spLocks xmlns:a="http://schemas.openxmlformats.org/drawingml/2006/main" noGrp="1"/>
          </p:cNvSpPr>
          <p:nvPr/>
        </p:nvSpPr>
        <p:spPr>
          <a:xfrm xmlns:a="http://schemas.openxmlformats.org/drawingml/2006/main">
            <a:off x="8058150" y="388620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FailureEvidence(lines=1012, 1013)</a:t>
            </a:r>
          </a:p>
        </p:txBody>
      </p:sp>
      <p:sp>
        <p:nvSpPr>
          <p:cNvPr id="36" name="dot-826-470">
            <a:extLst xmlns:a="http://schemas.openxmlformats.org/drawingml/2006/main">
              <a:ext uri="{FF2B5EF4-FFF2-40B4-BE49-F238E27FC236}">
                <a16:creationId xmlns:a16="http://schemas.microsoft.com/office/drawing/2014/main" id="{62124110-26B5-4CA7-BC5C-5D09491EA52E}"/>
              </a:ext>
            </a:extLst>
          </p:cNvPr>
          <p:cNvSpPr>
            <a:spLocks xmlns:a="http://schemas.openxmlformats.org/drawingml/2006/main" noGrp="1"/>
          </p:cNvSpPr>
          <p:nvPr/>
        </p:nvSpPr>
        <p:spPr>
          <a:xfrm xmlns:a="http://schemas.openxmlformats.org/drawingml/2006/main">
            <a:off x="78676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7" name="text-846-462">
            <a:extLst xmlns:a="http://schemas.openxmlformats.org/drawingml/2006/main">
              <a:ext uri="{FF2B5EF4-FFF2-40B4-BE49-F238E27FC236}">
                <a16:creationId xmlns:a16="http://schemas.microsoft.com/office/drawing/2014/main" id="{A6111747-2FEB-4B1F-BDD8-3A25F23F4533}"/>
              </a:ext>
            </a:extLst>
          </p:cNvPr>
          <p:cNvSpPr>
            <a:spLocks xmlns:a="http://schemas.openxmlformats.org/drawingml/2006/main" noGrp="1"/>
          </p:cNvSpPr>
          <p:nvPr/>
        </p:nvSpPr>
        <p:spPr>
          <a:xfrm xmlns:a="http://schemas.openxmlformats.org/drawingml/2006/main">
            <a:off x="8058150" y="4400550"/>
            <a:ext cx="2590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TeardownEvidence(line=1030)</a:t>
            </a:r>
          </a:p>
        </p:txBody>
      </p:sp>
      <p:sp>
        <p:nvSpPr>
          <p:cNvPr id="38" name="box-62-574">
            <a:extLst xmlns:a="http://schemas.openxmlformats.org/drawingml/2006/main">
              <a:ext uri="{FF2B5EF4-FFF2-40B4-BE49-F238E27FC236}">
                <a16:creationId xmlns:a16="http://schemas.microsoft.com/office/drawing/2014/main" id="{6F8D4551-C523-45BB-B880-9B0BCB4F2A00}"/>
              </a:ext>
            </a:extLst>
          </p:cNvPr>
          <p:cNvSpPr>
            <a:spLocks xmlns:a="http://schemas.openxmlformats.org/drawingml/2006/main" noGrp="1"/>
          </p:cNvSpPr>
          <p:nvPr/>
        </p:nvSpPr>
        <p:spPr>
          <a:xfrm xmlns:a="http://schemas.openxmlformats.org/drawingml/2006/main">
            <a:off x="590550" y="5467350"/>
            <a:ext cx="1097280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9" name="text-86-593">
            <a:extLst xmlns:a="http://schemas.openxmlformats.org/drawingml/2006/main">
              <a:ext uri="{FF2B5EF4-FFF2-40B4-BE49-F238E27FC236}">
                <a16:creationId xmlns:a16="http://schemas.microsoft.com/office/drawing/2014/main" id="{6A5F2A43-1399-44A9-9BCD-5851656455F4}"/>
              </a:ext>
            </a:extLst>
          </p:cNvPr>
          <p:cNvSpPr>
            <a:spLocks xmlns:a="http://schemas.openxmlformats.org/drawingml/2006/main" noGrp="1"/>
          </p:cNvSpPr>
          <p:nvPr/>
        </p:nvSpPr>
        <p:spPr>
          <a:xfrm xmlns:a="http://schemas.openxmlformats.org/drawingml/2006/main">
            <a:off x="819150" y="5648325"/>
            <a:ext cx="8763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1">
                <a:solidFill>
                  <a:srgbClr val="1D7A5B"/>
                </a:solidFill>
                <a:latin typeface="Helvetica Neue"/>
                <a:ea typeface="Helvetica Neue"/>
                <a:cs typeface="Helvetica Neue"/>
              </a:defRPr>
            </a:pPr>
            <a:r>
              <a:t>OUTPUT</a:t>
            </a:r>
          </a:p>
        </p:txBody>
      </p:sp>
      <p:sp>
        <p:nvSpPr>
          <p:cNvPr id="40" name="text-176-593">
            <a:extLst xmlns:a="http://schemas.openxmlformats.org/drawingml/2006/main">
              <a:ext uri="{FF2B5EF4-FFF2-40B4-BE49-F238E27FC236}">
                <a16:creationId xmlns:a16="http://schemas.microsoft.com/office/drawing/2014/main" id="{1390676A-746F-425B-9CB4-2FF15446570C}"/>
              </a:ext>
            </a:extLst>
          </p:cNvPr>
          <p:cNvSpPr>
            <a:spLocks xmlns:a="http://schemas.openxmlformats.org/drawingml/2006/main" noGrp="1"/>
          </p:cNvSpPr>
          <p:nvPr/>
        </p:nvSpPr>
        <p:spPr>
          <a:xfrm xmlns:a="http://schemas.openxmlformats.org/drawingml/2006/main">
            <a:off x="1676400" y="5648325"/>
            <a:ext cx="39052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typed facts + source lines + provisional roles</a:t>
            </a:r>
          </a:p>
        </p:txBody>
      </p:sp>
      <p:sp>
        <p:nvSpPr>
          <p:cNvPr id="41" name="text-650-593">
            <a:extLst xmlns:a="http://schemas.openxmlformats.org/drawingml/2006/main">
              <a:ext uri="{FF2B5EF4-FFF2-40B4-BE49-F238E27FC236}">
                <a16:creationId xmlns:a16="http://schemas.microsoft.com/office/drawing/2014/main" id="{78B230B8-BCC1-4534-8E62-AD12DE0FCB0D}"/>
              </a:ext>
            </a:extLst>
          </p:cNvPr>
          <p:cNvSpPr>
            <a:spLocks xmlns:a="http://schemas.openxmlformats.org/drawingml/2006/main" noGrp="1"/>
          </p:cNvSpPr>
          <p:nvPr/>
        </p:nvSpPr>
        <p:spPr>
          <a:xfrm xmlns:a="http://schemas.openxmlformats.org/drawingml/2006/main">
            <a:off x="6191250" y="5648325"/>
            <a:ext cx="10668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1">
                <a:solidFill>
                  <a:srgbClr val="B25D00"/>
                </a:solidFill>
                <a:latin typeface="Helvetica Neue"/>
                <a:ea typeface="Helvetica Neue"/>
                <a:cs typeface="Helvetica Neue"/>
              </a:defRPr>
            </a:pPr>
            <a:r>
              <a:t>NOT YET</a:t>
            </a:r>
          </a:p>
        </p:txBody>
      </p:sp>
      <p:sp>
        <p:nvSpPr>
          <p:cNvPr id="42" name="text-760-593">
            <a:extLst xmlns:a="http://schemas.openxmlformats.org/drawingml/2006/main">
              <a:ext uri="{FF2B5EF4-FFF2-40B4-BE49-F238E27FC236}">
                <a16:creationId xmlns:a16="http://schemas.microsoft.com/office/drawing/2014/main" id="{D6461CE0-5651-4641-A5AC-13692A7A746A}"/>
              </a:ext>
            </a:extLst>
          </p:cNvPr>
          <p:cNvSpPr>
            <a:spLocks xmlns:a="http://schemas.openxmlformats.org/drawingml/2006/main" noGrp="1"/>
          </p:cNvSpPr>
          <p:nvPr/>
        </p:nvSpPr>
        <p:spPr>
          <a:xfrm xmlns:a="http://schemas.openxmlformats.org/drawingml/2006/main">
            <a:off x="7239000" y="5648325"/>
            <a:ext cx="4057650" cy="3810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000000"/>
                </a:solidFill>
                <a:latin typeface="Helvetica Neue"/>
                <a:ea typeface="Helvetica Neue"/>
                <a:cs typeface="Helvetica Neue"/>
              </a:defRPr>
            </a:pPr>
            <a:r>
              <a:t>root cause, repeatability, STOP / RESTART</a:t>
            </a:r>
          </a:p>
        </p:txBody>
      </p:sp>
    </p:spTree>
    <p:extLst>
      <p:ext uri="{BB962C8B-B14F-4D97-AF65-F5344CB8AC3E}">
        <p14:creationId xmlns:p14="http://schemas.microsoft.com/office/powerpoint/2010/main" val="15235058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L0A OUTPUT</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L0A connects the same lines in several ways</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same four lines + registry matches</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deterministic assembly; no model</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L0Bundle</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Complete structured evidence</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Occurrence group og-1: OOM x2, ranks 7/9</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Context window w-1: lines 998-1032</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Episode fe-1: progress -&gt; fault -&gt; teardown</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Incident di-1: same-attempt fanout, ranks 7/9</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Progress: iteration 418; no later marker observed</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candidate: observed_exception@1012</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DecisionEvidence v1</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Primary-centered typed selection</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observed_exception@1012</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identity anchor: line 1012</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state: iteration 418; terminal</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references: w-1, og-1, fe-1, di-1</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QUALITY (gold)  primary coverage • selected primary • progress/checkpoint recall</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OPERATIONS  latency • scan volume • shape/lossiness • replay hash</a:t>
            </a:r>
          </a:p>
        </p:txBody>
      </p:sp>
    </p:spTree>
    <p:extLst>
      <p:ext uri="{BB962C8B-B14F-4D97-AF65-F5344CB8AC3E}">
        <p14:creationId xmlns:p14="http://schemas.microsoft.com/office/powerpoint/2010/main" val="10623063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L0A OUTPUT</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95758"/>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L0A KPIs score evidence, primary, and deterministic identity</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WORKED CHECKPOINT CASE / accepted primary = 12083</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quality uses gold; operations use traces</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GOLD CASE</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Four lines that matter; root cause remains unresolved</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11800  iteration 418 completed</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12000  loading checkpoint metadata</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12083  UnicodeDecodeError in tensor_to_object</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12135  FileNotFoundError during cleanup</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Gold role: 12083 initiating failure</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Gold role: 12135 teardown / cascade</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L0A KPI RESULT</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Observed bundle + DecisionEvidence</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Candidate coverage: PASS (12083 retained)</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selection: PASS (primary = 12083)</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Progress detection: 1 / 1</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L0 fingerprint: PASS (gold identity)</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WHY TWO PRIMARY KPIs  Retain 12083 but select 12135 -&gt; coverage PASS; selection FAIL</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FINGERPRINT QUALITY  accuracy on gold • false merges/splits over corpus</a:t>
            </a:r>
          </a:p>
        </p:txBody>
      </p:sp>
    </p:spTree>
    <p:extLst>
      <p:ext uri="{BB962C8B-B14F-4D97-AF65-F5344CB8AC3E}">
        <p14:creationId xmlns:p14="http://schemas.microsoft.com/office/powerpoint/2010/main" val="1062306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232570B0-6493-4242-B1FB-0CAB75F8B79A}"/>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L0B OUTPUT</a:t>
            </a:r>
          </a:p>
        </p:txBody>
      </p:sp>
      <p:sp>
        <p:nvSpPr>
          <p:cNvPr id="2" name="text-42-54">
            <a:extLst xmlns:a="http://schemas.openxmlformats.org/drawingml/2006/main">
              <a:ext uri="{FF2B5EF4-FFF2-40B4-BE49-F238E27FC236}">
                <a16:creationId xmlns:a16="http://schemas.microsoft.com/office/drawing/2014/main" id="{886D3142-4FFA-44C6-A48F-BA7A2D31DA49}"/>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L0B materializes the evidence the model sees first</a:t>
            </a:r>
          </a:p>
        </p:txBody>
      </p:sp>
      <p:sp>
        <p:nvSpPr>
          <p:cNvPr id="3" name="line-42-133">
            <a:extLst xmlns:a="http://schemas.openxmlformats.org/drawingml/2006/main">
              <a:ext uri="{FF2B5EF4-FFF2-40B4-BE49-F238E27FC236}">
                <a16:creationId xmlns:a16="http://schemas.microsoft.com/office/drawing/2014/main" id="{227E3948-9962-4F4D-90A8-B34CCE2CC4BE}"/>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76">
            <a:extLst xmlns:a="http://schemas.openxmlformats.org/drawingml/2006/main">
              <a:ext uri="{FF2B5EF4-FFF2-40B4-BE49-F238E27FC236}">
                <a16:creationId xmlns:a16="http://schemas.microsoft.com/office/drawing/2014/main" id="{AD9597CC-BA0B-42C2-9465-A58EB3C89CCA}"/>
              </a:ext>
            </a:extLst>
          </p:cNvPr>
          <p:cNvSpPr>
            <a:spLocks xmlns:a="http://schemas.openxmlformats.org/drawingml/2006/main" noGrp="1"/>
          </p:cNvSpPr>
          <p:nvPr/>
        </p:nvSpPr>
        <p:spPr>
          <a:xfrm xmlns:a="http://schemas.openxmlformats.org/drawingml/2006/main">
            <a:off x="590550" y="1676400"/>
            <a:ext cx="3105150" cy="32575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5" name="text-84-198">
            <a:extLst xmlns:a="http://schemas.openxmlformats.org/drawingml/2006/main">
              <a:ext uri="{FF2B5EF4-FFF2-40B4-BE49-F238E27FC236}">
                <a16:creationId xmlns:a16="http://schemas.microsoft.com/office/drawing/2014/main" id="{40B8C119-28BD-472A-B66F-31BD813C017F}"/>
              </a:ext>
            </a:extLst>
          </p:cNvPr>
          <p:cNvSpPr>
            <a:spLocks xmlns:a="http://schemas.openxmlformats.org/drawingml/2006/main" noGrp="1"/>
          </p:cNvSpPr>
          <p:nvPr/>
        </p:nvSpPr>
        <p:spPr>
          <a:xfrm xmlns:a="http://schemas.openxmlformats.org/drawingml/2006/main">
            <a:off x="800100" y="1885950"/>
            <a:ext cx="1143000" cy="190500"/>
          </a:xfrm>
          <a:prstGeom xmlns:a="http://schemas.openxmlformats.org/drawingml/2006/main" prst="rect">
            <a:avLst/>
          </a:prstGeom>
        </p:spPr>
        <p:txBody>
          <a:bodyPr xmlns:a="http://schemas.openxmlformats.org/drawingml/2006/main" wrap="square" lIns="0" tIns="0" rIns="0" bIns="0" anchor="t">
            <a:normAutofit fontScale="90019"/>
          </a:bodyPr>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t>DECISION EVIDENCE</a:t>
            </a:r>
          </a:p>
        </p:txBody>
      </p:sp>
      <p:sp>
        <p:nvSpPr>
          <p:cNvPr id="6" name="text-84-236">
            <a:extLst xmlns:a="http://schemas.openxmlformats.org/drawingml/2006/main">
              <a:ext uri="{FF2B5EF4-FFF2-40B4-BE49-F238E27FC236}">
                <a16:creationId xmlns:a16="http://schemas.microsoft.com/office/drawing/2014/main" id="{29C8ABF8-2898-4622-B2A3-855A300830B5}"/>
              </a:ext>
            </a:extLst>
          </p:cNvPr>
          <p:cNvSpPr>
            <a:spLocks xmlns:a="http://schemas.openxmlformats.org/drawingml/2006/main" noGrp="1"/>
          </p:cNvSpPr>
          <p:nvPr/>
        </p:nvSpPr>
        <p:spPr>
          <a:xfrm xmlns:a="http://schemas.openxmlformats.org/drawingml/2006/main">
            <a:off x="800100" y="2247900"/>
            <a:ext cx="2476500" cy="266700"/>
          </a:xfrm>
          <a:prstGeom xmlns:a="http://schemas.openxmlformats.org/drawingml/2006/main" prst="rect">
            <a:avLst/>
          </a:prstGeom>
        </p:spPr>
        <p:txBody>
          <a:bodyPr xmlns:a="http://schemas.openxmlformats.org/drawingml/2006/main" wrap="square" lIns="0" tIns="0" rIns="0" bIns="0" anchor="t">
            <a:normAutofit fontScale="6702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primary: observed_exception@1012</a:t>
            </a:r>
          </a:p>
        </p:txBody>
      </p:sp>
      <p:sp>
        <p:nvSpPr>
          <p:cNvPr id="7" name="text-84-274">
            <a:extLst xmlns:a="http://schemas.openxmlformats.org/drawingml/2006/main">
              <a:ext uri="{FF2B5EF4-FFF2-40B4-BE49-F238E27FC236}">
                <a16:creationId xmlns:a16="http://schemas.microsoft.com/office/drawing/2014/main" id="{220B6AED-841A-454A-B93E-D788F9862926}"/>
              </a:ext>
            </a:extLst>
          </p:cNvPr>
          <p:cNvSpPr>
            <a:spLocks xmlns:a="http://schemas.openxmlformats.org/drawingml/2006/main" noGrp="1"/>
          </p:cNvSpPr>
          <p:nvPr/>
        </p:nvSpPr>
        <p:spPr>
          <a:xfrm xmlns:a="http://schemas.openxmlformats.org/drawingml/2006/main">
            <a:off x="800100" y="2609850"/>
            <a:ext cx="24765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 refs: w-1, og-1, fe-1, di-1</a:t>
            </a:r>
          </a:p>
        </p:txBody>
      </p:sp>
      <p:sp>
        <p:nvSpPr>
          <p:cNvPr id="8" name="text-84-322">
            <a:extLst xmlns:a="http://schemas.openxmlformats.org/drawingml/2006/main">
              <a:ext uri="{FF2B5EF4-FFF2-40B4-BE49-F238E27FC236}">
                <a16:creationId xmlns:a16="http://schemas.microsoft.com/office/drawing/2014/main" id="{7E086143-8EA8-4CFF-9748-33F1533E36AB}"/>
              </a:ext>
            </a:extLst>
          </p:cNvPr>
          <p:cNvSpPr>
            <a:spLocks xmlns:a="http://schemas.openxmlformats.org/drawingml/2006/main" noGrp="1"/>
          </p:cNvSpPr>
          <p:nvPr/>
        </p:nvSpPr>
        <p:spPr>
          <a:xfrm xmlns:a="http://schemas.openxmlformats.org/drawingml/2006/main">
            <a:off x="800100" y="3067050"/>
            <a:ext cx="2571750" cy="628650"/>
          </a:xfrm>
          <a:prstGeom xmlns:a="http://schemas.openxmlformats.org/drawingml/2006/main" prst="rect">
            <a:avLst/>
          </a:prstGeom>
        </p:spPr>
        <p:txBody>
          <a:bodyPr xmlns:a="http://schemas.openxmlformats.org/drawingml/2006/main" wrap="square" lIns="0" tIns="0" rIns="0" bIns="0" anchor="t">
            <a:normAutofit fontScale="99497"/>
          </a:bodyPr>
          <a:lstStyle xmlns:a="http://schemas.openxmlformats.org/drawingml/2006/main"/>
          <a:p xmlns:a="http://schemas.openxmlformats.org/drawingml/2006/main">
            <a:pPr algn="l">
              <a:buNone/>
              <a:defRPr sz="1350" b="0">
                <a:solidFill>
                  <a:srgbClr val="5D6470"/>
                </a:solidFill>
                <a:latin typeface="Courier New"/>
                <a:ea typeface="Courier New"/>
                <a:cs typeface="Courier New"/>
              </a:defRPr>
            </a:pPr>
            <a:r>
              <a:t>+ iteration 418; terminal
+ no later marker observed</a:t>
            </a:r>
          </a:p>
        </p:txBody>
      </p:sp>
      <p:sp>
        <p:nvSpPr>
          <p:cNvPr id="9" name="line-84-414">
            <a:extLst xmlns:a="http://schemas.openxmlformats.org/drawingml/2006/main">
              <a:ext uri="{FF2B5EF4-FFF2-40B4-BE49-F238E27FC236}">
                <a16:creationId xmlns:a16="http://schemas.microsoft.com/office/drawing/2014/main" id="{B786B3D1-30F3-4AD6-95E1-0311B8254CF3}"/>
              </a:ext>
            </a:extLst>
          </p:cNvPr>
          <p:cNvSpPr>
            <a:spLocks xmlns:a="http://schemas.openxmlformats.org/drawingml/2006/main" noGrp="1"/>
          </p:cNvSpPr>
          <p:nvPr/>
        </p:nvSpPr>
        <p:spPr>
          <a:xfrm xmlns:a="http://schemas.openxmlformats.org/drawingml/2006/main">
            <a:off x="800100" y="3943350"/>
            <a:ext cx="268605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0" name="text-84-432">
            <a:extLst xmlns:a="http://schemas.openxmlformats.org/drawingml/2006/main">
              <a:ext uri="{FF2B5EF4-FFF2-40B4-BE49-F238E27FC236}">
                <a16:creationId xmlns:a16="http://schemas.microsoft.com/office/drawing/2014/main" id="{601DD27C-DC7E-465E-9863-A642D8100C06}"/>
              </a:ext>
            </a:extLst>
          </p:cNvPr>
          <p:cNvSpPr>
            <a:spLocks xmlns:a="http://schemas.openxmlformats.org/drawingml/2006/main" noGrp="1"/>
          </p:cNvSpPr>
          <p:nvPr/>
        </p:nvSpPr>
        <p:spPr>
          <a:xfrm xmlns:a="http://schemas.openxmlformats.org/drawingml/2006/main">
            <a:off x="800100" y="4114800"/>
            <a:ext cx="2590800" cy="685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References identify what matters. L0B retrieves content and adds bounded alternatives.</a:t>
            </a:r>
          </a:p>
        </p:txBody>
      </p:sp>
      <p:sp>
        <p:nvSpPr>
          <p:cNvPr id="11" name="arrow-404-322">
            <a:extLst xmlns:a="http://schemas.openxmlformats.org/drawingml/2006/main">
              <a:ext uri="{FF2B5EF4-FFF2-40B4-BE49-F238E27FC236}">
                <a16:creationId xmlns:a16="http://schemas.microsoft.com/office/drawing/2014/main" id="{1963F363-FA73-4D73-AE56-2D716E071FC8}"/>
              </a:ext>
            </a:extLst>
          </p:cNvPr>
          <p:cNvSpPr>
            <a:spLocks xmlns:a="http://schemas.openxmlformats.org/drawingml/2006/main" noGrp="1"/>
          </p:cNvSpPr>
          <p:nvPr/>
        </p:nvSpPr>
        <p:spPr>
          <a:xfrm xmlns:a="http://schemas.openxmlformats.org/drawingml/2006/main">
            <a:off x="3848100" y="3067050"/>
            <a:ext cx="4000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box-466-176">
            <a:extLst xmlns:a="http://schemas.openxmlformats.org/drawingml/2006/main">
              <a:ext uri="{FF2B5EF4-FFF2-40B4-BE49-F238E27FC236}">
                <a16:creationId xmlns:a16="http://schemas.microsoft.com/office/drawing/2014/main" id="{D63FC45D-D87B-49B8-9161-FBF0C6AD77E8}"/>
              </a:ext>
            </a:extLst>
          </p:cNvPr>
          <p:cNvSpPr>
            <a:spLocks xmlns:a="http://schemas.openxmlformats.org/drawingml/2006/main" noGrp="1"/>
          </p:cNvSpPr>
          <p:nvPr/>
        </p:nvSpPr>
        <p:spPr>
          <a:xfrm xmlns:a="http://schemas.openxmlformats.org/drawingml/2006/main">
            <a:off x="4438650" y="1676400"/>
            <a:ext cx="7124700" cy="32575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3" name="text-490-198">
            <a:extLst xmlns:a="http://schemas.openxmlformats.org/drawingml/2006/main">
              <a:ext uri="{FF2B5EF4-FFF2-40B4-BE49-F238E27FC236}">
                <a16:creationId xmlns:a16="http://schemas.microsoft.com/office/drawing/2014/main" id="{5776BE8D-3CA2-4172-A39E-F495CC4D62F6}"/>
              </a:ext>
            </a:extLst>
          </p:cNvPr>
          <p:cNvSpPr>
            <a:spLocks xmlns:a="http://schemas.openxmlformats.org/drawingml/2006/main" noGrp="1"/>
          </p:cNvSpPr>
          <p:nvPr/>
        </p:nvSpPr>
        <p:spPr>
          <a:xfrm xmlns:a="http://schemas.openxmlformats.org/drawingml/2006/main">
            <a:off x="4667250" y="1885950"/>
            <a:ext cx="333375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Initial Model Attention View</a:t>
            </a:r>
          </a:p>
        </p:txBody>
      </p:sp>
      <p:sp>
        <p:nvSpPr>
          <p:cNvPr id="14" name="text-490-238">
            <a:extLst xmlns:a="http://schemas.openxmlformats.org/drawingml/2006/main">
              <a:ext uri="{FF2B5EF4-FFF2-40B4-BE49-F238E27FC236}">
                <a16:creationId xmlns:a16="http://schemas.microsoft.com/office/drawing/2014/main" id="{44E218C9-036B-491A-954C-7CEB75C1A5EC}"/>
              </a:ext>
            </a:extLst>
          </p:cNvPr>
          <p:cNvSpPr>
            <a:spLocks xmlns:a="http://schemas.openxmlformats.org/drawingml/2006/main" noGrp="1"/>
          </p:cNvSpPr>
          <p:nvPr/>
        </p:nvSpPr>
        <p:spPr>
          <a:xfrm xmlns:a="http://schemas.openxmlformats.org/drawingml/2006/main">
            <a:off x="4667250" y="2266950"/>
            <a:ext cx="5810250" cy="247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Structured JSON + bounded raw text</a:t>
            </a:r>
          </a:p>
        </p:txBody>
      </p:sp>
      <p:sp>
        <p:nvSpPr>
          <p:cNvPr id="15" name="dot-490-298">
            <a:extLst xmlns:a="http://schemas.openxmlformats.org/drawingml/2006/main">
              <a:ext uri="{FF2B5EF4-FFF2-40B4-BE49-F238E27FC236}">
                <a16:creationId xmlns:a16="http://schemas.microsoft.com/office/drawing/2014/main" id="{E9C753A7-BDFD-4B57-8A36-682F3D0B671D}"/>
              </a:ext>
            </a:extLst>
          </p:cNvPr>
          <p:cNvSpPr>
            <a:spLocks xmlns:a="http://schemas.openxmlformats.org/drawingml/2006/main" noGrp="1"/>
          </p:cNvSpPr>
          <p:nvPr/>
        </p:nvSpPr>
        <p:spPr>
          <a:xfrm xmlns:a="http://schemas.openxmlformats.org/drawingml/2006/main">
            <a:off x="4667250" y="2838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6" name="text-510-290">
            <a:extLst xmlns:a="http://schemas.openxmlformats.org/drawingml/2006/main">
              <a:ext uri="{FF2B5EF4-FFF2-40B4-BE49-F238E27FC236}">
                <a16:creationId xmlns:a16="http://schemas.microsoft.com/office/drawing/2014/main" id="{E9F79FE5-7359-4365-A9DE-169DEA4490E6}"/>
              </a:ext>
            </a:extLst>
          </p:cNvPr>
          <p:cNvSpPr>
            <a:spLocks xmlns:a="http://schemas.openxmlformats.org/drawingml/2006/main" noGrp="1"/>
          </p:cNvSpPr>
          <p:nvPr/>
        </p:nvSpPr>
        <p:spPr>
          <a:xfrm xmlns:a="http://schemas.openxmlformats.org/drawingml/2006/main">
            <a:off x="4857750" y="2762250"/>
            <a:ext cx="291465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Exact DecisionEvidence object</a:t>
            </a:r>
          </a:p>
        </p:txBody>
      </p:sp>
      <p:sp>
        <p:nvSpPr>
          <p:cNvPr id="17" name="dot-490-346">
            <a:extLst xmlns:a="http://schemas.openxmlformats.org/drawingml/2006/main">
              <a:ext uri="{FF2B5EF4-FFF2-40B4-BE49-F238E27FC236}">
                <a16:creationId xmlns:a16="http://schemas.microsoft.com/office/drawing/2014/main" id="{C898A21E-07E7-4712-AC3E-471B1EFAC116}"/>
              </a:ext>
            </a:extLst>
          </p:cNvPr>
          <p:cNvSpPr>
            <a:spLocks xmlns:a="http://schemas.openxmlformats.org/drawingml/2006/main" noGrp="1"/>
          </p:cNvSpPr>
          <p:nvPr/>
        </p:nvSpPr>
        <p:spPr>
          <a:xfrm xmlns:a="http://schemas.openxmlformats.org/drawingml/2006/main">
            <a:off x="46672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8" name="text-510-338">
            <a:extLst xmlns:a="http://schemas.openxmlformats.org/drawingml/2006/main">
              <a:ext uri="{FF2B5EF4-FFF2-40B4-BE49-F238E27FC236}">
                <a16:creationId xmlns:a16="http://schemas.microsoft.com/office/drawing/2014/main" id="{C9B73EC1-390E-4E73-8E11-0A7F9995957D}"/>
              </a:ext>
            </a:extLst>
          </p:cNvPr>
          <p:cNvSpPr>
            <a:spLocks xmlns:a="http://schemas.openxmlformats.org/drawingml/2006/main" noGrp="1"/>
          </p:cNvSpPr>
          <p:nvPr/>
        </p:nvSpPr>
        <p:spPr>
          <a:xfrm xmlns:a="http://schemas.openxmlformats.org/drawingml/2006/main">
            <a:off x="4857750" y="3219450"/>
            <a:ext cx="2914650" cy="3810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1000  iteration 418 completed</a:t>
            </a:r>
          </a:p>
        </p:txBody>
      </p:sp>
      <p:sp>
        <p:nvSpPr>
          <p:cNvPr id="19" name="dot-490-392">
            <a:extLst xmlns:a="http://schemas.openxmlformats.org/drawingml/2006/main">
              <a:ext uri="{FF2B5EF4-FFF2-40B4-BE49-F238E27FC236}">
                <a16:creationId xmlns:a16="http://schemas.microsoft.com/office/drawing/2014/main" id="{8FB9C6B7-246C-4D0D-A82E-B4B9A5C24026}"/>
              </a:ext>
            </a:extLst>
          </p:cNvPr>
          <p:cNvSpPr>
            <a:spLocks xmlns:a="http://schemas.openxmlformats.org/drawingml/2006/main" noGrp="1"/>
          </p:cNvSpPr>
          <p:nvPr/>
        </p:nvSpPr>
        <p:spPr>
          <a:xfrm xmlns:a="http://schemas.openxmlformats.org/drawingml/2006/main">
            <a:off x="4667250" y="37338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0" name="text-510-384">
            <a:extLst xmlns:a="http://schemas.openxmlformats.org/drawingml/2006/main">
              <a:ext uri="{FF2B5EF4-FFF2-40B4-BE49-F238E27FC236}">
                <a16:creationId xmlns:a16="http://schemas.microsoft.com/office/drawing/2014/main" id="{6FC415BB-49AB-47AD-B176-389DCDBCD2F4}"/>
              </a:ext>
            </a:extLst>
          </p:cNvPr>
          <p:cNvSpPr>
            <a:spLocks xmlns:a="http://schemas.openxmlformats.org/drawingml/2006/main" noGrp="1"/>
          </p:cNvSpPr>
          <p:nvPr/>
        </p:nvSpPr>
        <p:spPr>
          <a:xfrm xmlns:a="http://schemas.openxmlformats.org/drawingml/2006/main">
            <a:off x="4857750" y="3657600"/>
            <a:ext cx="291465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1012/1013  RuntimeError: CUDA OOM</a:t>
            </a:r>
          </a:p>
        </p:txBody>
      </p:sp>
      <p:sp>
        <p:nvSpPr>
          <p:cNvPr id="21" name="dot-838-298">
            <a:extLst xmlns:a="http://schemas.openxmlformats.org/drawingml/2006/main">
              <a:ext uri="{FF2B5EF4-FFF2-40B4-BE49-F238E27FC236}">
                <a16:creationId xmlns:a16="http://schemas.microsoft.com/office/drawing/2014/main" id="{CB6E883A-0291-42F0-A8FE-A4809D609D18}"/>
              </a:ext>
            </a:extLst>
          </p:cNvPr>
          <p:cNvSpPr>
            <a:spLocks xmlns:a="http://schemas.openxmlformats.org/drawingml/2006/main" noGrp="1"/>
          </p:cNvSpPr>
          <p:nvPr/>
        </p:nvSpPr>
        <p:spPr>
          <a:xfrm xmlns:a="http://schemas.openxmlformats.org/drawingml/2006/main">
            <a:off x="7981950" y="2838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2" name="text-858-290">
            <a:extLst xmlns:a="http://schemas.openxmlformats.org/drawingml/2006/main">
              <a:ext uri="{FF2B5EF4-FFF2-40B4-BE49-F238E27FC236}">
                <a16:creationId xmlns:a16="http://schemas.microsoft.com/office/drawing/2014/main" id="{00410927-B9D6-4480-A2F8-5952CBBD57D2}"/>
              </a:ext>
            </a:extLst>
          </p:cNvPr>
          <p:cNvSpPr>
            <a:spLocks xmlns:a="http://schemas.openxmlformats.org/drawingml/2006/main" noGrp="1"/>
          </p:cNvSpPr>
          <p:nvPr/>
        </p:nvSpPr>
        <p:spPr>
          <a:xfrm xmlns:a="http://schemas.openxmlformats.org/drawingml/2006/main">
            <a:off x="8172450" y="2762250"/>
            <a:ext cx="30861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1030  destroy_process_group()</a:t>
            </a:r>
          </a:p>
        </p:txBody>
      </p:sp>
      <p:sp>
        <p:nvSpPr>
          <p:cNvPr id="23" name="dot-838-346">
            <a:extLst xmlns:a="http://schemas.openxmlformats.org/drawingml/2006/main">
              <a:ext uri="{FF2B5EF4-FFF2-40B4-BE49-F238E27FC236}">
                <a16:creationId xmlns:a16="http://schemas.microsoft.com/office/drawing/2014/main" id="{08183EB0-E1DE-4929-8209-B48C358CE3A0}"/>
              </a:ext>
            </a:extLst>
          </p:cNvPr>
          <p:cNvSpPr>
            <a:spLocks xmlns:a="http://schemas.openxmlformats.org/drawingml/2006/main" noGrp="1"/>
          </p:cNvSpPr>
          <p:nvPr/>
        </p:nvSpPr>
        <p:spPr>
          <a:xfrm xmlns:a="http://schemas.openxmlformats.org/drawingml/2006/main">
            <a:off x="79819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text-858-338">
            <a:extLst xmlns:a="http://schemas.openxmlformats.org/drawingml/2006/main">
              <a:ext uri="{FF2B5EF4-FFF2-40B4-BE49-F238E27FC236}">
                <a16:creationId xmlns:a16="http://schemas.microsoft.com/office/drawing/2014/main" id="{D5A780E5-914F-447A-A001-E0FA146FA4FE}"/>
              </a:ext>
            </a:extLst>
          </p:cNvPr>
          <p:cNvSpPr>
            <a:spLocks xmlns:a="http://schemas.openxmlformats.org/drawingml/2006/main" noGrp="1"/>
          </p:cNvSpPr>
          <p:nvPr/>
        </p:nvSpPr>
        <p:spPr>
          <a:xfrm xmlns:a="http://schemas.openxmlformats.org/drawingml/2006/main">
            <a:off x="8172450" y="3219450"/>
            <a:ext cx="3086100" cy="3810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Episode + incident + occurrence summaries</a:t>
            </a:r>
          </a:p>
        </p:txBody>
      </p:sp>
      <p:sp>
        <p:nvSpPr>
          <p:cNvPr id="25" name="dot-838-392">
            <a:extLst xmlns:a="http://schemas.openxmlformats.org/drawingml/2006/main">
              <a:ext uri="{FF2B5EF4-FFF2-40B4-BE49-F238E27FC236}">
                <a16:creationId xmlns:a16="http://schemas.microsoft.com/office/drawing/2014/main" id="{019DB7DF-3603-45E2-8853-3B2B78FC61EC}"/>
              </a:ext>
            </a:extLst>
          </p:cNvPr>
          <p:cNvSpPr>
            <a:spLocks xmlns:a="http://schemas.openxmlformats.org/drawingml/2006/main" noGrp="1"/>
          </p:cNvSpPr>
          <p:nvPr/>
        </p:nvSpPr>
        <p:spPr>
          <a:xfrm xmlns:a="http://schemas.openxmlformats.org/drawingml/2006/main">
            <a:off x="7981950" y="37338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858-384">
            <a:extLst xmlns:a="http://schemas.openxmlformats.org/drawingml/2006/main">
              <a:ext uri="{FF2B5EF4-FFF2-40B4-BE49-F238E27FC236}">
                <a16:creationId xmlns:a16="http://schemas.microsoft.com/office/drawing/2014/main" id="{3B7AB232-6054-42AF-9D8F-3066CAFAD020}"/>
              </a:ext>
            </a:extLst>
          </p:cNvPr>
          <p:cNvSpPr>
            <a:spLocks xmlns:a="http://schemas.openxmlformats.org/drawingml/2006/main" noGrp="1"/>
          </p:cNvSpPr>
          <p:nvPr/>
        </p:nvSpPr>
        <p:spPr>
          <a:xfrm xmlns:a="http://schemas.openxmlformats.org/drawingml/2006/main">
            <a:off x="8172450" y="3657600"/>
            <a:ext cx="30861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Coverage + truncation metadata</a:t>
            </a:r>
          </a:p>
        </p:txBody>
      </p:sp>
      <p:sp>
        <p:nvSpPr>
          <p:cNvPr id="27" name="text-490-458">
            <a:extLst xmlns:a="http://schemas.openxmlformats.org/drawingml/2006/main">
              <a:ext uri="{FF2B5EF4-FFF2-40B4-BE49-F238E27FC236}">
                <a16:creationId xmlns:a16="http://schemas.microsoft.com/office/drawing/2014/main" id="{59AC06E1-6E2F-4A48-83CD-5697527806E5}"/>
              </a:ext>
            </a:extLst>
          </p:cNvPr>
          <p:cNvSpPr>
            <a:spLocks xmlns:a="http://schemas.openxmlformats.org/drawingml/2006/main" noGrp="1"/>
          </p:cNvSpPr>
          <p:nvPr/>
        </p:nvSpPr>
        <p:spPr>
          <a:xfrm xmlns:a="http://schemas.openxmlformats.org/drawingml/2006/main">
            <a:off x="4667250" y="4362450"/>
            <a:ext cx="21907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Initial, not exclusive</a:t>
            </a:r>
          </a:p>
        </p:txBody>
      </p:sp>
      <p:sp>
        <p:nvSpPr>
          <p:cNvPr id="28" name="text-714-454">
            <a:extLst xmlns:a="http://schemas.openxmlformats.org/drawingml/2006/main">
              <a:ext uri="{FF2B5EF4-FFF2-40B4-BE49-F238E27FC236}">
                <a16:creationId xmlns:a16="http://schemas.microsoft.com/office/drawing/2014/main" id="{0C782FD9-CC28-4D8B-A553-EE0E792C472D}"/>
              </a:ext>
            </a:extLst>
          </p:cNvPr>
          <p:cNvSpPr>
            <a:spLocks xmlns:a="http://schemas.openxmlformats.org/drawingml/2006/main" noGrp="1"/>
          </p:cNvSpPr>
          <p:nvPr/>
        </p:nvSpPr>
        <p:spPr>
          <a:xfrm xmlns:a="http://schemas.openxmlformats.org/drawingml/2006/main">
            <a:off x="6800850" y="4324350"/>
            <a:ext cx="445770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200" b="0">
                <a:solidFill>
                  <a:srgbClr val="5D6470"/>
                </a:solidFill>
                <a:latin typeface="Helvetica Neue"/>
                <a:ea typeface="Helvetica Neue"/>
                <a:cs typeface="Helvetica Neue"/>
              </a:defRPr>
            </a:pPr>
            <a:r>
              <a:t>Tools inspect L0A or raw logs only when this initial view is missing evidence.</a:t>
            </a:r>
          </a:p>
        </p:txBody>
      </p:sp>
      <p:sp>
        <p:nvSpPr>
          <p:cNvPr id="29" name="box-62-552">
            <a:extLst xmlns:a="http://schemas.openxmlformats.org/drawingml/2006/main">
              <a:ext uri="{FF2B5EF4-FFF2-40B4-BE49-F238E27FC236}">
                <a16:creationId xmlns:a16="http://schemas.microsoft.com/office/drawing/2014/main" id="{D5C3FD35-44DF-4E1A-9C5F-8D68A821E393}"/>
              </a:ext>
            </a:extLst>
          </p:cNvPr>
          <p:cNvSpPr>
            <a:spLocks xmlns:a="http://schemas.openxmlformats.org/drawingml/2006/main" noGrp="1"/>
          </p:cNvSpPr>
          <p:nvPr/>
        </p:nvSpPr>
        <p:spPr>
          <a:xfrm xmlns:a="http://schemas.openxmlformats.org/drawingml/2006/main">
            <a:off x="590550" y="5257800"/>
            <a:ext cx="10972800" cy="8572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0" name="text-84-572">
            <a:extLst xmlns:a="http://schemas.openxmlformats.org/drawingml/2006/main">
              <a:ext uri="{FF2B5EF4-FFF2-40B4-BE49-F238E27FC236}">
                <a16:creationId xmlns:a16="http://schemas.microsoft.com/office/drawing/2014/main" id="{E0C6C5B9-1478-47AE-B61F-E82B6D239DB2}"/>
              </a:ext>
            </a:extLst>
          </p:cNvPr>
          <p:cNvSpPr>
            <a:spLocks xmlns:a="http://schemas.openxmlformats.org/drawingml/2006/main" noGrp="1"/>
          </p:cNvSpPr>
          <p:nvPr/>
        </p:nvSpPr>
        <p:spPr>
          <a:xfrm xmlns:a="http://schemas.openxmlformats.org/drawingml/2006/main">
            <a:off x="800100" y="5448300"/>
            <a:ext cx="21907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QUALITY (gold + corpus)</a:t>
            </a:r>
          </a:p>
        </p:txBody>
      </p:sp>
      <p:sp>
        <p:nvSpPr>
          <p:cNvPr id="31" name="text-338-572">
            <a:extLst xmlns:a="http://schemas.openxmlformats.org/drawingml/2006/main">
              <a:ext uri="{FF2B5EF4-FFF2-40B4-BE49-F238E27FC236}">
                <a16:creationId xmlns:a16="http://schemas.microsoft.com/office/drawing/2014/main" id="{50FD9278-7CDA-407D-806F-C16E436C1372}"/>
              </a:ext>
            </a:extLst>
          </p:cNvPr>
          <p:cNvSpPr>
            <a:spLocks xmlns:a="http://schemas.openxmlformats.org/drawingml/2006/main" noGrp="1"/>
          </p:cNvSpPr>
          <p:nvPr/>
        </p:nvSpPr>
        <p:spPr>
          <a:xfrm xmlns:a="http://schemas.openxmlformats.org/drawingml/2006/main">
            <a:off x="3219450" y="5448300"/>
            <a:ext cx="16192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required evidence</a:t>
            </a:r>
          </a:p>
        </p:txBody>
      </p:sp>
      <p:sp>
        <p:nvSpPr>
          <p:cNvPr id="32" name="text-532-572">
            <a:extLst xmlns:a="http://schemas.openxmlformats.org/drawingml/2006/main">
              <a:ext uri="{FF2B5EF4-FFF2-40B4-BE49-F238E27FC236}">
                <a16:creationId xmlns:a16="http://schemas.microsoft.com/office/drawing/2014/main" id="{AA6C1F77-1D42-441E-B2B1-D65319786217}"/>
              </a:ext>
            </a:extLst>
          </p:cNvPr>
          <p:cNvSpPr>
            <a:spLocks xmlns:a="http://schemas.openxmlformats.org/drawingml/2006/main" noGrp="1"/>
          </p:cNvSpPr>
          <p:nvPr/>
        </p:nvSpPr>
        <p:spPr>
          <a:xfrm xmlns:a="http://schemas.openxmlformats.org/drawingml/2006/main">
            <a:off x="5067300" y="5448300"/>
            <a:ext cx="17145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primary retained</a:t>
            </a:r>
          </a:p>
        </p:txBody>
      </p:sp>
      <p:sp>
        <p:nvSpPr>
          <p:cNvPr id="33" name="text-736-572">
            <a:extLst xmlns:a="http://schemas.openxmlformats.org/drawingml/2006/main">
              <a:ext uri="{FF2B5EF4-FFF2-40B4-BE49-F238E27FC236}">
                <a16:creationId xmlns:a16="http://schemas.microsoft.com/office/drawing/2014/main" id="{12D48A93-5156-4593-B156-997C788C4920}"/>
              </a:ext>
            </a:extLst>
          </p:cNvPr>
          <p:cNvSpPr>
            <a:spLocks xmlns:a="http://schemas.openxmlformats.org/drawingml/2006/main" noGrp="1"/>
          </p:cNvSpPr>
          <p:nvPr/>
        </p:nvSpPr>
        <p:spPr>
          <a:xfrm xmlns:a="http://schemas.openxmlformats.org/drawingml/2006/main">
            <a:off x="7010400" y="5448300"/>
            <a:ext cx="21526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support context</a:t>
            </a:r>
          </a:p>
        </p:txBody>
      </p:sp>
      <p:sp>
        <p:nvSpPr>
          <p:cNvPr id="34" name="text-986-572">
            <a:extLst xmlns:a="http://schemas.openxmlformats.org/drawingml/2006/main">
              <a:ext uri="{FF2B5EF4-FFF2-40B4-BE49-F238E27FC236}">
                <a16:creationId xmlns:a16="http://schemas.microsoft.com/office/drawing/2014/main" id="{C4E003D1-6870-4945-A8C7-8FCC558B3807}"/>
              </a:ext>
            </a:extLst>
          </p:cNvPr>
          <p:cNvSpPr>
            <a:spLocks xmlns:a="http://schemas.openxmlformats.org/drawingml/2006/main" noGrp="1"/>
          </p:cNvSpPr>
          <p:nvPr/>
        </p:nvSpPr>
        <p:spPr>
          <a:xfrm xmlns:a="http://schemas.openxmlformats.org/drawingml/2006/main">
            <a:off x="9391650" y="5448300"/>
            <a:ext cx="19431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200" b="1">
                <a:solidFill>
                  <a:srgbClr val="3D8DFF"/>
                </a:solidFill>
                <a:latin typeface="Helvetica Neue"/>
                <a:ea typeface="Helvetica Neue"/>
                <a:cs typeface="Helvetica Neue"/>
              </a:defRPr>
            </a:pPr>
            <a:r>
              <a:t>first-turn / tool yield</a:t>
            </a:r>
          </a:p>
        </p:txBody>
      </p:sp>
      <p:sp>
        <p:nvSpPr>
          <p:cNvPr id="35" name="text-84-610">
            <a:extLst xmlns:a="http://schemas.openxmlformats.org/drawingml/2006/main">
              <a:ext uri="{FF2B5EF4-FFF2-40B4-BE49-F238E27FC236}">
                <a16:creationId xmlns:a16="http://schemas.microsoft.com/office/drawing/2014/main" id="{C6DDE578-2C49-42DE-8F27-36672D3E2EA9}"/>
              </a:ext>
            </a:extLst>
          </p:cNvPr>
          <p:cNvSpPr>
            <a:spLocks xmlns:a="http://schemas.openxmlformats.org/drawingml/2006/main" noGrp="1"/>
          </p:cNvSpPr>
          <p:nvPr/>
        </p:nvSpPr>
        <p:spPr>
          <a:xfrm xmlns:a="http://schemas.openxmlformats.org/drawingml/2006/main">
            <a:off x="800100" y="5810250"/>
            <a:ext cx="105346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OPERATIONS  projection latency • view size + budget use • selection/compaction • integrity hash</a:t>
            </a:r>
          </a:p>
        </p:txBody>
      </p:sp>
    </p:spTree>
    <p:extLst>
      <p:ext uri="{BB962C8B-B14F-4D97-AF65-F5344CB8AC3E}">
        <p14:creationId xmlns:p14="http://schemas.microsoft.com/office/powerpoint/2010/main" val="630983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232570B0-6493-4242-B1FB-0CAB75F8B79A}"/>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L0B OUTPUT</a:t>
            </a:r>
          </a:p>
        </p:txBody>
      </p:sp>
      <p:sp>
        <p:nvSpPr>
          <p:cNvPr id="2" name="text-42-54">
            <a:extLst xmlns:a="http://schemas.openxmlformats.org/drawingml/2006/main">
              <a:ext uri="{FF2B5EF4-FFF2-40B4-BE49-F238E27FC236}">
                <a16:creationId xmlns:a16="http://schemas.microsoft.com/office/drawing/2014/main" id="{886D3142-4FFA-44C6-A48F-BA7A2D31DA49}"/>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L0B KPIs score what survives the model-view budget</a:t>
            </a:r>
          </a:p>
        </p:txBody>
      </p:sp>
      <p:sp>
        <p:nvSpPr>
          <p:cNvPr id="3" name="line-42-133">
            <a:extLst xmlns:a="http://schemas.openxmlformats.org/drawingml/2006/main">
              <a:ext uri="{FF2B5EF4-FFF2-40B4-BE49-F238E27FC236}">
                <a16:creationId xmlns:a16="http://schemas.microsoft.com/office/drawing/2014/main" id="{227E3948-9962-4F4D-90A8-B34CCE2CC4BE}"/>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76">
            <a:extLst xmlns:a="http://schemas.openxmlformats.org/drawingml/2006/main">
              <a:ext uri="{FF2B5EF4-FFF2-40B4-BE49-F238E27FC236}">
                <a16:creationId xmlns:a16="http://schemas.microsoft.com/office/drawing/2014/main" id="{AD9597CC-BA0B-42C2-9465-A58EB3C89CCA}"/>
              </a:ext>
            </a:extLst>
          </p:cNvPr>
          <p:cNvSpPr>
            <a:spLocks xmlns:a="http://schemas.openxmlformats.org/drawingml/2006/main" noGrp="1"/>
          </p:cNvSpPr>
          <p:nvPr/>
        </p:nvSpPr>
        <p:spPr>
          <a:xfrm xmlns:a="http://schemas.openxmlformats.org/drawingml/2006/main">
            <a:off x="590550" y="1676400"/>
            <a:ext cx="3105150" cy="32575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5" name="text-84-198">
            <a:extLst xmlns:a="http://schemas.openxmlformats.org/drawingml/2006/main">
              <a:ext uri="{FF2B5EF4-FFF2-40B4-BE49-F238E27FC236}">
                <a16:creationId xmlns:a16="http://schemas.microsoft.com/office/drawing/2014/main" id="{40B8C119-28BD-472A-B66F-31BD813C017F}"/>
              </a:ext>
            </a:extLst>
          </p:cNvPr>
          <p:cNvSpPr>
            <a:spLocks xmlns:a="http://schemas.openxmlformats.org/drawingml/2006/main" noGrp="1"/>
          </p:cNvSpPr>
          <p:nvPr/>
        </p:nvSpPr>
        <p:spPr>
          <a:xfrm xmlns:a="http://schemas.openxmlformats.org/drawingml/2006/main">
            <a:off x="800100" y="1885950"/>
            <a:ext cx="114300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t>L0A INPUT</a:t>
            </a:r>
          </a:p>
        </p:txBody>
      </p:sp>
      <p:sp>
        <p:nvSpPr>
          <p:cNvPr id="6" name="text-84-236">
            <a:extLst xmlns:a="http://schemas.openxmlformats.org/drawingml/2006/main">
              <a:ext uri="{FF2B5EF4-FFF2-40B4-BE49-F238E27FC236}">
                <a16:creationId xmlns:a16="http://schemas.microsoft.com/office/drawing/2014/main" id="{29C8ABF8-2898-4622-B2A3-855A300830B5}"/>
              </a:ext>
            </a:extLst>
          </p:cNvPr>
          <p:cNvSpPr>
            <a:spLocks xmlns:a="http://schemas.openxmlformats.org/drawingml/2006/main" noGrp="1"/>
          </p:cNvSpPr>
          <p:nvPr/>
        </p:nvSpPr>
        <p:spPr>
          <a:xfrm xmlns:a="http://schemas.openxmlformats.org/drawingml/2006/main">
            <a:off x="800100" y="2247900"/>
            <a:ext cx="24765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9 context windows</a:t>
            </a:r>
          </a:p>
        </p:txBody>
      </p:sp>
      <p:sp>
        <p:nvSpPr>
          <p:cNvPr id="7" name="text-84-274">
            <a:extLst xmlns:a="http://schemas.openxmlformats.org/drawingml/2006/main">
              <a:ext uri="{FF2B5EF4-FFF2-40B4-BE49-F238E27FC236}">
                <a16:creationId xmlns:a16="http://schemas.microsoft.com/office/drawing/2014/main" id="{220B6AED-841A-454A-B93E-D788F9862926}"/>
              </a:ext>
            </a:extLst>
          </p:cNvPr>
          <p:cNvSpPr>
            <a:spLocks xmlns:a="http://schemas.openxmlformats.org/drawingml/2006/main" noGrp="1"/>
          </p:cNvSpPr>
          <p:nvPr/>
        </p:nvSpPr>
        <p:spPr>
          <a:xfrm xmlns:a="http://schemas.openxmlformats.org/drawingml/2006/main">
            <a:off x="800100" y="2609850"/>
            <a:ext cx="2476500" cy="266700"/>
          </a:xfrm>
          <a:prstGeom xmlns:a="http://schemas.openxmlformats.org/drawingml/2006/main" prst="rect">
            <a:avLst/>
          </a:prstGeom>
        </p:spPr>
        <p:txBody>
          <a:bodyPr xmlns:a="http://schemas.openxmlformats.org/drawingml/2006/main" wrap="square" lIns="0" tIns="0" rIns="0" bIns="0" anchor="t">
            <a:normAutofit fontScale="98877"/>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+ 19 rank-equivalent copies</a:t>
            </a:r>
          </a:p>
        </p:txBody>
      </p:sp>
      <p:sp>
        <p:nvSpPr>
          <p:cNvPr id="8" name="text-84-322">
            <a:extLst xmlns:a="http://schemas.openxmlformats.org/drawingml/2006/main">
              <a:ext uri="{FF2B5EF4-FFF2-40B4-BE49-F238E27FC236}">
                <a16:creationId xmlns:a16="http://schemas.microsoft.com/office/drawing/2014/main" id="{7E086143-8EA8-4CFF-9748-33F1533E36AB}"/>
              </a:ext>
            </a:extLst>
          </p:cNvPr>
          <p:cNvSpPr>
            <a:spLocks xmlns:a="http://schemas.openxmlformats.org/drawingml/2006/main" noGrp="1"/>
          </p:cNvSpPr>
          <p:nvPr/>
        </p:nvSpPr>
        <p:spPr>
          <a:xfrm xmlns:a="http://schemas.openxmlformats.org/drawingml/2006/main">
            <a:off x="800100" y="3067050"/>
            <a:ext cx="2571750" cy="628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0">
                <a:solidFill>
                  <a:srgbClr val="5D6470"/>
                </a:solidFill>
                <a:latin typeface="Courier New"/>
                <a:ea typeface="Courier New"/>
                <a:cs typeface="Courier New"/>
              </a:defRPr>
            </a:pPr>
            <a:r>
              <a:t>+ required lines:
  11800, 12000, 12083, 12135</a:t>
            </a:r>
          </a:p>
        </p:txBody>
      </p:sp>
      <p:sp>
        <p:nvSpPr>
          <p:cNvPr id="9" name="line-84-414">
            <a:extLst xmlns:a="http://schemas.openxmlformats.org/drawingml/2006/main">
              <a:ext uri="{FF2B5EF4-FFF2-40B4-BE49-F238E27FC236}">
                <a16:creationId xmlns:a16="http://schemas.microsoft.com/office/drawing/2014/main" id="{B786B3D1-30F3-4AD6-95E1-0311B8254CF3}"/>
              </a:ext>
            </a:extLst>
          </p:cNvPr>
          <p:cNvSpPr>
            <a:spLocks xmlns:a="http://schemas.openxmlformats.org/drawingml/2006/main" noGrp="1"/>
          </p:cNvSpPr>
          <p:nvPr/>
        </p:nvSpPr>
        <p:spPr>
          <a:xfrm xmlns:a="http://schemas.openxmlformats.org/drawingml/2006/main">
            <a:off x="800100" y="3943350"/>
            <a:ext cx="268605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0" name="text-84-432">
            <a:extLst xmlns:a="http://schemas.openxmlformats.org/drawingml/2006/main">
              <a:ext uri="{FF2B5EF4-FFF2-40B4-BE49-F238E27FC236}">
                <a16:creationId xmlns:a16="http://schemas.microsoft.com/office/drawing/2014/main" id="{601DD27C-DC7E-465E-9863-A642D8100C06}"/>
              </a:ext>
            </a:extLst>
          </p:cNvPr>
          <p:cNvSpPr>
            <a:spLocks xmlns:a="http://schemas.openxmlformats.org/drawingml/2006/main" noGrp="1"/>
          </p:cNvSpPr>
          <p:nvPr/>
        </p:nvSpPr>
        <p:spPr>
          <a:xfrm xmlns:a="http://schemas.openxmlformats.org/drawingml/2006/main">
            <a:off x="800100" y="4114800"/>
            <a:ext cx="2590800" cy="685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Goal: compact repetition without hiding the primary or its supporting context.</a:t>
            </a:r>
          </a:p>
        </p:txBody>
      </p:sp>
      <p:sp>
        <p:nvSpPr>
          <p:cNvPr id="11" name="arrow-404-322">
            <a:extLst xmlns:a="http://schemas.openxmlformats.org/drawingml/2006/main">
              <a:ext uri="{FF2B5EF4-FFF2-40B4-BE49-F238E27FC236}">
                <a16:creationId xmlns:a16="http://schemas.microsoft.com/office/drawing/2014/main" id="{1963F363-FA73-4D73-AE56-2D716E071FC8}"/>
              </a:ext>
            </a:extLst>
          </p:cNvPr>
          <p:cNvSpPr>
            <a:spLocks xmlns:a="http://schemas.openxmlformats.org/drawingml/2006/main" noGrp="1"/>
          </p:cNvSpPr>
          <p:nvPr/>
        </p:nvSpPr>
        <p:spPr>
          <a:xfrm xmlns:a="http://schemas.openxmlformats.org/drawingml/2006/main">
            <a:off x="3848100" y="3067050"/>
            <a:ext cx="400050" cy="2857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box-466-176">
            <a:extLst xmlns:a="http://schemas.openxmlformats.org/drawingml/2006/main">
              <a:ext uri="{FF2B5EF4-FFF2-40B4-BE49-F238E27FC236}">
                <a16:creationId xmlns:a16="http://schemas.microsoft.com/office/drawing/2014/main" id="{D63FC45D-D87B-49B8-9161-FBF0C6AD77E8}"/>
              </a:ext>
            </a:extLst>
          </p:cNvPr>
          <p:cNvSpPr>
            <a:spLocks xmlns:a="http://schemas.openxmlformats.org/drawingml/2006/main" noGrp="1"/>
          </p:cNvSpPr>
          <p:nvPr/>
        </p:nvSpPr>
        <p:spPr>
          <a:xfrm xmlns:a="http://schemas.openxmlformats.org/drawingml/2006/main">
            <a:off x="4438650" y="1676400"/>
            <a:ext cx="7124700" cy="32575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3" name="text-490-198">
            <a:extLst xmlns:a="http://schemas.openxmlformats.org/drawingml/2006/main">
              <a:ext uri="{FF2B5EF4-FFF2-40B4-BE49-F238E27FC236}">
                <a16:creationId xmlns:a16="http://schemas.microsoft.com/office/drawing/2014/main" id="{5776BE8D-3CA2-4172-A39E-F495CC4D62F6}"/>
              </a:ext>
            </a:extLst>
          </p:cNvPr>
          <p:cNvSpPr>
            <a:spLocks xmlns:a="http://schemas.openxmlformats.org/drawingml/2006/main" noGrp="1"/>
          </p:cNvSpPr>
          <p:nvPr/>
        </p:nvSpPr>
        <p:spPr>
          <a:xfrm xmlns:a="http://schemas.openxmlformats.org/drawingml/2006/main">
            <a:off x="4667250" y="1885950"/>
            <a:ext cx="333375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L0B MODEL VIEW</a:t>
            </a:r>
          </a:p>
        </p:txBody>
      </p:sp>
      <p:sp>
        <p:nvSpPr>
          <p:cNvPr id="14" name="text-490-238">
            <a:extLst xmlns:a="http://schemas.openxmlformats.org/drawingml/2006/main">
              <a:ext uri="{FF2B5EF4-FFF2-40B4-BE49-F238E27FC236}">
                <a16:creationId xmlns:a16="http://schemas.microsoft.com/office/drawing/2014/main" id="{44E218C9-036B-491A-954C-7CEB75C1A5EC}"/>
              </a:ext>
            </a:extLst>
          </p:cNvPr>
          <p:cNvSpPr>
            <a:spLocks xmlns:a="http://schemas.openxmlformats.org/drawingml/2006/main" noGrp="1"/>
          </p:cNvSpPr>
          <p:nvPr/>
        </p:nvSpPr>
        <p:spPr>
          <a:xfrm xmlns:a="http://schemas.openxmlformats.org/drawingml/2006/main">
            <a:off x="4667250" y="2266950"/>
            <a:ext cx="5810250" cy="247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Bounded first request</a:t>
            </a:r>
          </a:p>
        </p:txBody>
      </p:sp>
      <p:sp>
        <p:nvSpPr>
          <p:cNvPr id="15" name="dot-490-298">
            <a:extLst xmlns:a="http://schemas.openxmlformats.org/drawingml/2006/main">
              <a:ext uri="{FF2B5EF4-FFF2-40B4-BE49-F238E27FC236}">
                <a16:creationId xmlns:a16="http://schemas.microsoft.com/office/drawing/2014/main" id="{E9C753A7-BDFD-4B57-8A36-682F3D0B671D}"/>
              </a:ext>
            </a:extLst>
          </p:cNvPr>
          <p:cNvSpPr>
            <a:spLocks xmlns:a="http://schemas.openxmlformats.org/drawingml/2006/main" noGrp="1"/>
          </p:cNvSpPr>
          <p:nvPr/>
        </p:nvSpPr>
        <p:spPr>
          <a:xfrm xmlns:a="http://schemas.openxmlformats.org/drawingml/2006/main">
            <a:off x="4667250" y="2838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6" name="text-510-290">
            <a:extLst xmlns:a="http://schemas.openxmlformats.org/drawingml/2006/main">
              <a:ext uri="{FF2B5EF4-FFF2-40B4-BE49-F238E27FC236}">
                <a16:creationId xmlns:a16="http://schemas.microsoft.com/office/drawing/2014/main" id="{E9F79FE5-7359-4365-A9DE-169DEA4490E6}"/>
              </a:ext>
            </a:extLst>
          </p:cNvPr>
          <p:cNvSpPr>
            <a:spLocks xmlns:a="http://schemas.openxmlformats.org/drawingml/2006/main" noGrp="1"/>
          </p:cNvSpPr>
          <p:nvPr/>
        </p:nvSpPr>
        <p:spPr>
          <a:xfrm xmlns:a="http://schemas.openxmlformats.org/drawingml/2006/main">
            <a:off x="4857750" y="2762250"/>
            <a:ext cx="291465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Exact DecisionEvidence object</a:t>
            </a:r>
          </a:p>
        </p:txBody>
      </p:sp>
      <p:sp>
        <p:nvSpPr>
          <p:cNvPr id="17" name="dot-490-346">
            <a:extLst xmlns:a="http://schemas.openxmlformats.org/drawingml/2006/main">
              <a:ext uri="{FF2B5EF4-FFF2-40B4-BE49-F238E27FC236}">
                <a16:creationId xmlns:a16="http://schemas.microsoft.com/office/drawing/2014/main" id="{C898A21E-07E7-4712-AC3E-471B1EFAC116}"/>
              </a:ext>
            </a:extLst>
          </p:cNvPr>
          <p:cNvSpPr>
            <a:spLocks xmlns:a="http://schemas.openxmlformats.org/drawingml/2006/main" noGrp="1"/>
          </p:cNvSpPr>
          <p:nvPr/>
        </p:nvSpPr>
        <p:spPr>
          <a:xfrm xmlns:a="http://schemas.openxmlformats.org/drawingml/2006/main">
            <a:off x="46672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8" name="text-510-338">
            <a:extLst xmlns:a="http://schemas.openxmlformats.org/drawingml/2006/main">
              <a:ext uri="{FF2B5EF4-FFF2-40B4-BE49-F238E27FC236}">
                <a16:creationId xmlns:a16="http://schemas.microsoft.com/office/drawing/2014/main" id="{C9B73EC1-390E-4E73-8E11-0A7F9995957D}"/>
              </a:ext>
            </a:extLst>
          </p:cNvPr>
          <p:cNvSpPr>
            <a:spLocks xmlns:a="http://schemas.openxmlformats.org/drawingml/2006/main" noGrp="1"/>
          </p:cNvSpPr>
          <p:nvPr/>
        </p:nvSpPr>
        <p:spPr>
          <a:xfrm xmlns:a="http://schemas.openxmlformats.org/drawingml/2006/main">
            <a:off x="4857750" y="3219450"/>
            <a:ext cx="2914650" cy="3810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4 / 4 required lines represented</a:t>
            </a:r>
          </a:p>
        </p:txBody>
      </p:sp>
      <p:sp>
        <p:nvSpPr>
          <p:cNvPr id="19" name="dot-490-392">
            <a:extLst xmlns:a="http://schemas.openxmlformats.org/drawingml/2006/main">
              <a:ext uri="{FF2B5EF4-FFF2-40B4-BE49-F238E27FC236}">
                <a16:creationId xmlns:a16="http://schemas.microsoft.com/office/drawing/2014/main" id="{8FB9C6B7-246C-4D0D-A82E-B4B9A5C24026}"/>
              </a:ext>
            </a:extLst>
          </p:cNvPr>
          <p:cNvSpPr>
            <a:spLocks xmlns:a="http://schemas.openxmlformats.org/drawingml/2006/main" noGrp="1"/>
          </p:cNvSpPr>
          <p:nvPr/>
        </p:nvSpPr>
        <p:spPr>
          <a:xfrm xmlns:a="http://schemas.openxmlformats.org/drawingml/2006/main">
            <a:off x="4667250" y="37338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0" name="text-510-384">
            <a:extLst xmlns:a="http://schemas.openxmlformats.org/drawingml/2006/main">
              <a:ext uri="{FF2B5EF4-FFF2-40B4-BE49-F238E27FC236}">
                <a16:creationId xmlns:a16="http://schemas.microsoft.com/office/drawing/2014/main" id="{6FC415BB-49AB-47AD-B176-389DCDBCD2F4}"/>
              </a:ext>
            </a:extLst>
          </p:cNvPr>
          <p:cNvSpPr>
            <a:spLocks xmlns:a="http://schemas.openxmlformats.org/drawingml/2006/main" noGrp="1"/>
          </p:cNvSpPr>
          <p:nvPr/>
        </p:nvSpPr>
        <p:spPr>
          <a:xfrm xmlns:a="http://schemas.openxmlformats.org/drawingml/2006/main">
            <a:off x="4857750" y="3657600"/>
            <a:ext cx="291465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12083 remains visible</a:t>
            </a:r>
          </a:p>
        </p:txBody>
      </p:sp>
      <p:sp>
        <p:nvSpPr>
          <p:cNvPr id="21" name="dot-838-298">
            <a:extLst xmlns:a="http://schemas.openxmlformats.org/drawingml/2006/main">
              <a:ext uri="{FF2B5EF4-FFF2-40B4-BE49-F238E27FC236}">
                <a16:creationId xmlns:a16="http://schemas.microsoft.com/office/drawing/2014/main" id="{CB6E883A-0291-42F0-A8FE-A4809D609D18}"/>
              </a:ext>
            </a:extLst>
          </p:cNvPr>
          <p:cNvSpPr>
            <a:spLocks xmlns:a="http://schemas.openxmlformats.org/drawingml/2006/main" noGrp="1"/>
          </p:cNvSpPr>
          <p:nvPr/>
        </p:nvSpPr>
        <p:spPr>
          <a:xfrm xmlns:a="http://schemas.openxmlformats.org/drawingml/2006/main">
            <a:off x="7981950" y="2838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2" name="text-858-290">
            <a:extLst xmlns:a="http://schemas.openxmlformats.org/drawingml/2006/main">
              <a:ext uri="{FF2B5EF4-FFF2-40B4-BE49-F238E27FC236}">
                <a16:creationId xmlns:a16="http://schemas.microsoft.com/office/drawing/2014/main" id="{00410927-B9D6-4480-A2F8-5952CBBD57D2}"/>
              </a:ext>
            </a:extLst>
          </p:cNvPr>
          <p:cNvSpPr>
            <a:spLocks xmlns:a="http://schemas.openxmlformats.org/drawingml/2006/main" noGrp="1"/>
          </p:cNvSpPr>
          <p:nvPr/>
        </p:nvSpPr>
        <p:spPr>
          <a:xfrm xmlns:a="http://schemas.openxmlformats.org/drawingml/2006/main">
            <a:off x="8172450" y="2762250"/>
            <a:ext cx="30861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19 copies -&gt; 1 representative + count</a:t>
            </a:r>
          </a:p>
        </p:txBody>
      </p:sp>
      <p:sp>
        <p:nvSpPr>
          <p:cNvPr id="23" name="dot-838-346">
            <a:extLst xmlns:a="http://schemas.openxmlformats.org/drawingml/2006/main">
              <a:ext uri="{FF2B5EF4-FFF2-40B4-BE49-F238E27FC236}">
                <a16:creationId xmlns:a16="http://schemas.microsoft.com/office/drawing/2014/main" id="{08183EB0-E1DE-4929-8209-B48C358CE3A0}"/>
              </a:ext>
            </a:extLst>
          </p:cNvPr>
          <p:cNvSpPr>
            <a:spLocks xmlns:a="http://schemas.openxmlformats.org/drawingml/2006/main" noGrp="1"/>
          </p:cNvSpPr>
          <p:nvPr/>
        </p:nvSpPr>
        <p:spPr>
          <a:xfrm xmlns:a="http://schemas.openxmlformats.org/drawingml/2006/main">
            <a:off x="79819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text-858-338">
            <a:extLst xmlns:a="http://schemas.openxmlformats.org/drawingml/2006/main">
              <a:ext uri="{FF2B5EF4-FFF2-40B4-BE49-F238E27FC236}">
                <a16:creationId xmlns:a16="http://schemas.microsoft.com/office/drawing/2014/main" id="{D5A780E5-914F-447A-A001-E0FA146FA4FE}"/>
              </a:ext>
            </a:extLst>
          </p:cNvPr>
          <p:cNvSpPr>
            <a:spLocks xmlns:a="http://schemas.openxmlformats.org/drawingml/2006/main" noGrp="1"/>
          </p:cNvSpPr>
          <p:nvPr/>
        </p:nvSpPr>
        <p:spPr>
          <a:xfrm xmlns:a="http://schemas.openxmlformats.org/drawingml/2006/main">
            <a:off x="8172450" y="3219450"/>
            <a:ext cx="3086100" cy="3810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9 windows -&gt; 5 selected</a:t>
            </a:r>
          </a:p>
        </p:txBody>
      </p:sp>
      <p:sp>
        <p:nvSpPr>
          <p:cNvPr id="25" name="dot-838-392">
            <a:extLst xmlns:a="http://schemas.openxmlformats.org/drawingml/2006/main">
              <a:ext uri="{FF2B5EF4-FFF2-40B4-BE49-F238E27FC236}">
                <a16:creationId xmlns:a16="http://schemas.microsoft.com/office/drawing/2014/main" id="{019DB7DF-3603-45E2-8853-3B2B78FC61EC}"/>
              </a:ext>
            </a:extLst>
          </p:cNvPr>
          <p:cNvSpPr>
            <a:spLocks xmlns:a="http://schemas.openxmlformats.org/drawingml/2006/main" noGrp="1"/>
          </p:cNvSpPr>
          <p:nvPr/>
        </p:nvSpPr>
        <p:spPr>
          <a:xfrm xmlns:a="http://schemas.openxmlformats.org/drawingml/2006/main">
            <a:off x="7981950" y="37338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858-384">
            <a:extLst xmlns:a="http://schemas.openxmlformats.org/drawingml/2006/main">
              <a:ext uri="{FF2B5EF4-FFF2-40B4-BE49-F238E27FC236}">
                <a16:creationId xmlns:a16="http://schemas.microsoft.com/office/drawing/2014/main" id="{3B7AB232-6054-42AF-9D8F-3066CAFAD020}"/>
              </a:ext>
            </a:extLst>
          </p:cNvPr>
          <p:cNvSpPr>
            <a:spLocks xmlns:a="http://schemas.openxmlformats.org/drawingml/2006/main" noGrp="1"/>
          </p:cNvSpPr>
          <p:nvPr/>
        </p:nvSpPr>
        <p:spPr>
          <a:xfrm xmlns:a="http://schemas.openxmlformats.org/drawingml/2006/main">
            <a:off x="8172450" y="3657600"/>
            <a:ext cx="30861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Tool-only required evidence: 0</a:t>
            </a:r>
          </a:p>
        </p:txBody>
      </p:sp>
      <p:sp>
        <p:nvSpPr>
          <p:cNvPr id="27" name="text-490-458">
            <a:extLst xmlns:a="http://schemas.openxmlformats.org/drawingml/2006/main">
              <a:ext uri="{FF2B5EF4-FFF2-40B4-BE49-F238E27FC236}">
                <a16:creationId xmlns:a16="http://schemas.microsoft.com/office/drawing/2014/main" id="{59AC06E1-6E2F-4A48-83CD-5697527806E5}"/>
              </a:ext>
            </a:extLst>
          </p:cNvPr>
          <p:cNvSpPr>
            <a:spLocks xmlns:a="http://schemas.openxmlformats.org/drawingml/2006/main" noGrp="1"/>
          </p:cNvSpPr>
          <p:nvPr/>
        </p:nvSpPr>
        <p:spPr>
          <a:xfrm xmlns:a="http://schemas.openxmlformats.org/drawingml/2006/main">
            <a:off x="4667250" y="4362450"/>
            <a:ext cx="21907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Initial, not exclusive</a:t>
            </a:r>
          </a:p>
        </p:txBody>
      </p:sp>
      <p:sp>
        <p:nvSpPr>
          <p:cNvPr id="28" name="text-714-454">
            <a:extLst xmlns:a="http://schemas.openxmlformats.org/drawingml/2006/main">
              <a:ext uri="{FF2B5EF4-FFF2-40B4-BE49-F238E27FC236}">
                <a16:creationId xmlns:a16="http://schemas.microsoft.com/office/drawing/2014/main" id="{0C782FD9-CC28-4D8B-A553-EE0E792C472D}"/>
              </a:ext>
            </a:extLst>
          </p:cNvPr>
          <p:cNvSpPr>
            <a:spLocks xmlns:a="http://schemas.openxmlformats.org/drawingml/2006/main" noGrp="1"/>
          </p:cNvSpPr>
          <p:nvPr/>
        </p:nvSpPr>
        <p:spPr>
          <a:xfrm xmlns:a="http://schemas.openxmlformats.org/drawingml/2006/main">
            <a:off x="6896100" y="4324350"/>
            <a:ext cx="43624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200" b="0">
                <a:solidFill>
                  <a:srgbClr val="5D6470"/>
                </a:solidFill>
                <a:latin typeface="Helvetica Neue"/>
                <a:ea typeface="Helvetica Neue"/>
                <a:cs typeface="Helvetica Neue"/>
              </a:defRPr>
            </a:pPr>
            <a:r>
              <a:t>Tools remain available when the first view misses evidence.</a:t>
            </a:r>
          </a:p>
        </p:txBody>
      </p:sp>
      <p:sp>
        <p:nvSpPr>
          <p:cNvPr id="29" name="box-62-552">
            <a:extLst xmlns:a="http://schemas.openxmlformats.org/drawingml/2006/main">
              <a:ext uri="{FF2B5EF4-FFF2-40B4-BE49-F238E27FC236}">
                <a16:creationId xmlns:a16="http://schemas.microsoft.com/office/drawing/2014/main" id="{D5C3FD35-44DF-4E1A-9C5F-8D68A821E393}"/>
              </a:ext>
            </a:extLst>
          </p:cNvPr>
          <p:cNvSpPr>
            <a:spLocks xmlns:a="http://schemas.openxmlformats.org/drawingml/2006/main" noGrp="1"/>
          </p:cNvSpPr>
          <p:nvPr/>
        </p:nvSpPr>
        <p:spPr>
          <a:xfrm xmlns:a="http://schemas.openxmlformats.org/drawingml/2006/main">
            <a:off x="590550" y="5257800"/>
            <a:ext cx="10972800" cy="8572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0" name="text-84-572">
            <a:extLst xmlns:a="http://schemas.openxmlformats.org/drawingml/2006/main">
              <a:ext uri="{FF2B5EF4-FFF2-40B4-BE49-F238E27FC236}">
                <a16:creationId xmlns:a16="http://schemas.microsoft.com/office/drawing/2014/main" id="{E0C6C5B9-1478-47AE-B61F-E82B6D239DB2}"/>
              </a:ext>
            </a:extLst>
          </p:cNvPr>
          <p:cNvSpPr>
            <a:spLocks xmlns:a="http://schemas.openxmlformats.org/drawingml/2006/main" noGrp="1"/>
          </p:cNvSpPr>
          <p:nvPr/>
        </p:nvSpPr>
        <p:spPr>
          <a:xfrm xmlns:a="http://schemas.openxmlformats.org/drawingml/2006/main">
            <a:off x="800100" y="5448300"/>
            <a:ext cx="21907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KPI RESULTS (illustrative)</a:t>
            </a:r>
          </a:p>
        </p:txBody>
      </p:sp>
      <p:sp>
        <p:nvSpPr>
          <p:cNvPr id="31" name="text-338-572">
            <a:extLst xmlns:a="http://schemas.openxmlformats.org/drawingml/2006/main">
              <a:ext uri="{FF2B5EF4-FFF2-40B4-BE49-F238E27FC236}">
                <a16:creationId xmlns:a16="http://schemas.microsoft.com/office/drawing/2014/main" id="{50FD9278-7CDA-407D-806F-C16E436C1372}"/>
              </a:ext>
            </a:extLst>
          </p:cNvPr>
          <p:cNvSpPr>
            <a:spLocks xmlns:a="http://schemas.openxmlformats.org/drawingml/2006/main" noGrp="1"/>
          </p:cNvSpPr>
          <p:nvPr/>
        </p:nvSpPr>
        <p:spPr>
          <a:xfrm xmlns:a="http://schemas.openxmlformats.org/drawingml/2006/main">
            <a:off x="3219450" y="5448300"/>
            <a:ext cx="16192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coverage 4 / 4</a:t>
            </a:r>
          </a:p>
        </p:txBody>
      </p:sp>
      <p:sp>
        <p:nvSpPr>
          <p:cNvPr id="32" name="text-532-572">
            <a:extLst xmlns:a="http://schemas.openxmlformats.org/drawingml/2006/main">
              <a:ext uri="{FF2B5EF4-FFF2-40B4-BE49-F238E27FC236}">
                <a16:creationId xmlns:a16="http://schemas.microsoft.com/office/drawing/2014/main" id="{AA6C1F77-1D42-441E-B2B1-D65319786217}"/>
              </a:ext>
            </a:extLst>
          </p:cNvPr>
          <p:cNvSpPr>
            <a:spLocks xmlns:a="http://schemas.openxmlformats.org/drawingml/2006/main" noGrp="1"/>
          </p:cNvSpPr>
          <p:nvPr/>
        </p:nvSpPr>
        <p:spPr>
          <a:xfrm xmlns:a="http://schemas.openxmlformats.org/drawingml/2006/main">
            <a:off x="5067300" y="5448300"/>
            <a:ext cx="17145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primary PASS</a:t>
            </a:r>
          </a:p>
        </p:txBody>
      </p:sp>
      <p:sp>
        <p:nvSpPr>
          <p:cNvPr id="33" name="text-736-572">
            <a:extLst xmlns:a="http://schemas.openxmlformats.org/drawingml/2006/main">
              <a:ext uri="{FF2B5EF4-FFF2-40B4-BE49-F238E27FC236}">
                <a16:creationId xmlns:a16="http://schemas.microsoft.com/office/drawing/2014/main" id="{12D48A93-5156-4593-B156-997C788C4920}"/>
              </a:ext>
            </a:extLst>
          </p:cNvPr>
          <p:cNvSpPr>
            <a:spLocks xmlns:a="http://schemas.openxmlformats.org/drawingml/2006/main" noGrp="1"/>
          </p:cNvSpPr>
          <p:nvPr/>
        </p:nvSpPr>
        <p:spPr>
          <a:xfrm xmlns:a="http://schemas.openxmlformats.org/drawingml/2006/main">
            <a:off x="7010400" y="5448300"/>
            <a:ext cx="215265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context PASS</a:t>
            </a:r>
          </a:p>
        </p:txBody>
      </p:sp>
      <p:sp>
        <p:nvSpPr>
          <p:cNvPr id="34" name="text-986-572">
            <a:extLst xmlns:a="http://schemas.openxmlformats.org/drawingml/2006/main">
              <a:ext uri="{FF2B5EF4-FFF2-40B4-BE49-F238E27FC236}">
                <a16:creationId xmlns:a16="http://schemas.microsoft.com/office/drawing/2014/main" id="{C4E003D1-6870-4945-A8C7-8FCC558B3807}"/>
              </a:ext>
            </a:extLst>
          </p:cNvPr>
          <p:cNvSpPr>
            <a:spLocks xmlns:a="http://schemas.openxmlformats.org/drawingml/2006/main" noGrp="1"/>
          </p:cNvSpPr>
          <p:nvPr/>
        </p:nvSpPr>
        <p:spPr>
          <a:xfrm xmlns:a="http://schemas.openxmlformats.org/drawingml/2006/main">
            <a:off x="9391650" y="5448300"/>
            <a:ext cx="19431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200" b="1">
                <a:solidFill>
                  <a:srgbClr val="3D8DFF"/>
                </a:solidFill>
                <a:latin typeface="Helvetica Neue"/>
                <a:ea typeface="Helvetica Neue"/>
                <a:cs typeface="Helvetica Neue"/>
              </a:defRPr>
            </a:pPr>
            <a:r>
              <a:t>tool-only facts: 0</a:t>
            </a:r>
          </a:p>
        </p:txBody>
      </p:sp>
      <p:sp>
        <p:nvSpPr>
          <p:cNvPr id="35" name="text-84-610">
            <a:extLst xmlns:a="http://schemas.openxmlformats.org/drawingml/2006/main">
              <a:ext uri="{FF2B5EF4-FFF2-40B4-BE49-F238E27FC236}">
                <a16:creationId xmlns:a16="http://schemas.microsoft.com/office/drawing/2014/main" id="{C6DDE578-2C49-42DE-8F27-36672D3E2EA9}"/>
              </a:ext>
            </a:extLst>
          </p:cNvPr>
          <p:cNvSpPr>
            <a:spLocks xmlns:a="http://schemas.openxmlformats.org/drawingml/2006/main" noGrp="1"/>
          </p:cNvSpPr>
          <p:nvPr/>
        </p:nvSpPr>
        <p:spPr>
          <a:xfrm xmlns:a="http://schemas.openxmlformats.org/drawingml/2006/main">
            <a:off x="800100" y="5810250"/>
            <a:ext cx="105346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SECONDARY OPS  0.04 s projection | 24.8k estimated tokens | 78% budget | integrity PASS</a:t>
            </a:r>
          </a:p>
        </p:txBody>
      </p:sp>
    </p:spTree>
    <p:extLst>
      <p:ext uri="{BB962C8B-B14F-4D97-AF65-F5344CB8AC3E}">
        <p14:creationId xmlns:p14="http://schemas.microsoft.com/office/powerpoint/2010/main" val="63098302"/>
      </p:ext>
    </p:extLst>
  </p:cSld>
</p:sld>
</file>

<file path=ppt/slides/slide15.xml><?xml version="1.0" encoding="utf-8"?>
<p:sld xmlns:p="http://schemas.openxmlformats.org/presentationml/2006/main">
  <p:cSld>
    <p:bg>
      <p:bgPr>
        <a:solidFill xmlns:a="http://schemas.openxmlformats.org/drawingml/2006/main">
          <a:srgbClr val="F2F7FF"/>
        </a:solidFill>
      </p:bgPr>
    </p:bg>
    <p:spTree>
      <p:nvGrpSpPr>
        <p:cNvPr id="1" name=""/>
        <p:cNvGrpSpPr/>
        <p:nvPr/>
      </p:nvGrpSpPr>
      <p:grpSpPr>
        <a:xfrm xmlns:a="http://schemas.openxmlformats.org/drawingml/2006/main"/>
      </p:grpSpPr>
      <p:sp>
        <p:nvSpPr>
          <p:cNvPr id="18" name="stage-left-rule">
            <a:extLst xmlns:a="http://schemas.openxmlformats.org/drawingml/2006/main">
              <a:ext uri="{FF2B5EF4-FFF2-40B4-BE49-F238E27FC236}">
                <a16:creationId xmlns:a16="http://schemas.microsoft.com/office/drawing/2014/main" id="{8DCD44F9-11A9-4DB1-8601-F5B35E6E38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tage-eyebrow">
            <a:extLst xmlns:a="http://schemas.openxmlformats.org/drawingml/2006/main">
              <a:ext uri="{FF2B5EF4-FFF2-40B4-BE49-F238E27FC236}">
                <a16:creationId xmlns:a16="http://schemas.microsoft.com/office/drawing/2014/main" id="{891BF14A-5A39-487B-A12F-AB930DA4C608}"/>
              </a:ext>
            </a:extLst>
          </p:cNvPr>
          <p:cNvSpPr>
            <a:spLocks xmlns:a="http://schemas.openxmlformats.org/drawingml/2006/main" noGrp="1"/>
          </p:cNvSpPr>
          <p:nvPr/>
        </p:nvSpPr>
        <p:spPr>
          <a:xfrm xmlns:a="http://schemas.openxmlformats.org/drawingml/2006/main">
            <a:off x="685800" y="8382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3B82F6"/>
                </a:solidFill>
                <a:latin typeface="Calibri"/>
                <a:ea typeface="Calibri"/>
                <a:cs typeface="Calibri"/>
              </a:defRPr>
            </a:pPr>
            <a:r>
              <a:rPr sz="975" b="1">
                <a:solidFill>
                  <a:srgbClr val="3B82F6"/>
                </a:solidFill>
                <a:latin typeface="Calibri"/>
                <a:ea typeface="Calibri"/>
                <a:cs typeface="Calibri"/>
              </a:rPr>
              <a:t>RUNTIME PIPELINE  /  STAGE 2 OF 5</a:t>
            </a:r>
          </a:p>
        </p:txBody>
      </p:sp>
      <p:sp>
        <p:nvSpPr>
          <p:cNvPr id="3" name="stage-code">
            <a:extLst xmlns:a="http://schemas.openxmlformats.org/drawingml/2006/main">
              <a:ext uri="{FF2B5EF4-FFF2-40B4-BE49-F238E27FC236}">
                <a16:creationId xmlns:a16="http://schemas.microsoft.com/office/drawing/2014/main" id="{147E89CE-800A-46A3-8673-9CD3177DF190}"/>
              </a:ext>
            </a:extLst>
          </p:cNvPr>
          <p:cNvSpPr>
            <a:spLocks xmlns:a="http://schemas.openxmlformats.org/drawingml/2006/main" noGrp="1"/>
          </p:cNvSpPr>
          <p:nvPr/>
        </p:nvSpPr>
        <p:spPr>
          <a:xfrm xmlns:a="http://schemas.openxmlformats.org/drawingml/2006/main">
            <a:off x="685800" y="1790700"/>
            <a:ext cx="1428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700" b="1">
                <a:solidFill>
                  <a:srgbClr val="3B82F6"/>
                </a:solidFill>
                <a:latin typeface="Calibri"/>
                <a:ea typeface="Calibri"/>
                <a:cs typeface="Calibri"/>
              </a:defRPr>
            </a:pPr>
            <a:r>
              <a:rPr sz="5700" b="1">
                <a:solidFill>
                  <a:srgbClr val="3B82F6"/>
                </a:solidFill>
                <a:latin typeface="Calibri"/>
                <a:ea typeface="Calibri"/>
                <a:cs typeface="Calibri"/>
              </a:rPr>
              <a:t>L1</a:t>
            </a:r>
          </a:p>
        </p:txBody>
      </p:sp>
      <p:sp>
        <p:nvSpPr>
          <p:cNvPr id="4" name="stage-divider-rule">
            <a:extLst xmlns:a="http://schemas.openxmlformats.org/drawingml/2006/main">
              <a:ext uri="{FF2B5EF4-FFF2-40B4-BE49-F238E27FC236}">
                <a16:creationId xmlns:a16="http://schemas.microsoft.com/office/drawing/2014/main" id="{AE33333D-62C3-48D1-AA73-46D4015BE131}"/>
              </a:ext>
            </a:extLst>
          </p:cNvPr>
          <p:cNvSpPr>
            <a:spLocks xmlns:a="http://schemas.openxmlformats.org/drawingml/2006/main" noGrp="1"/>
          </p:cNvSpPr>
          <p:nvPr/>
        </p:nvSpPr>
        <p:spPr>
          <a:xfrm xmlns:a="http://schemas.openxmlformats.org/drawingml/2006/main">
            <a:off x="2305050" y="1790700"/>
            <a:ext cx="19050" cy="1190625"/>
          </a:xfrm>
          <a:prstGeom xmlns:a="http://schemas.openxmlformats.org/drawingml/2006/main" prst="rect">
            <a:avLst/>
          </a:prstGeom>
          <a:solidFill xmlns:a="http://schemas.openxmlformats.org/drawingml/2006/main">
            <a:srgbClr val="B8D9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stage-title">
            <a:extLst xmlns:a="http://schemas.openxmlformats.org/drawingml/2006/main">
              <a:ext uri="{FF2B5EF4-FFF2-40B4-BE49-F238E27FC236}">
                <a16:creationId xmlns:a16="http://schemas.microsoft.com/office/drawing/2014/main" id="{A4D8981B-83C5-4FA2-912B-55168AB9F567}"/>
              </a:ext>
            </a:extLst>
          </p:cNvPr>
          <p:cNvSpPr>
            <a:spLocks xmlns:a="http://schemas.openxmlformats.org/drawingml/2006/main" noGrp="1"/>
          </p:cNvSpPr>
          <p:nvPr/>
        </p:nvSpPr>
        <p:spPr>
          <a:xfrm xmlns:a="http://schemas.openxmlformats.org/drawingml/2006/main">
            <a:off x="2686050" y="1790700"/>
            <a:ext cx="809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111111"/>
                </a:solidFill>
                <a:latin typeface="Calibri"/>
                <a:ea typeface="Calibri"/>
                <a:cs typeface="Calibri"/>
              </a:defRPr>
            </a:pPr>
            <a:r>
              <a:rPr sz="2850" b="1">
                <a:solidFill>
                  <a:srgbClr val="111111"/>
                </a:solidFill>
                <a:latin typeface="Calibri"/>
                <a:ea typeface="Calibri"/>
                <a:cs typeface="Calibri"/>
              </a:rPr>
              <a:t>Recovery Assessment</a:t>
            </a:r>
          </a:p>
        </p:txBody>
      </p:sp>
      <p:sp>
        <p:nvSpPr>
          <p:cNvPr id="6" name="stage-summary">
            <a:extLst xmlns:a="http://schemas.openxmlformats.org/drawingml/2006/main">
              <a:ext uri="{FF2B5EF4-FFF2-40B4-BE49-F238E27FC236}">
                <a16:creationId xmlns:a16="http://schemas.microsoft.com/office/drawing/2014/main" id="{6FFBF236-C213-422B-BD1F-48A93C331A29}"/>
              </a:ext>
            </a:extLst>
          </p:cNvPr>
          <p:cNvSpPr>
            <a:spLocks xmlns:a="http://schemas.openxmlformats.org/drawingml/2006/main" noGrp="1"/>
          </p:cNvSpPr>
          <p:nvPr/>
        </p:nvSpPr>
        <p:spPr>
          <a:xfrm xmlns:a="http://schemas.openxmlformats.org/drawingml/2006/main">
            <a:off x="2686050" y="2476500"/>
            <a:ext cx="833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5F6673"/>
                </a:solidFill>
                <a:latin typeface="Calibri"/>
                <a:ea typeface="Calibri"/>
                <a:cs typeface="Calibri"/>
              </a:defRPr>
            </a:pPr>
            <a:r>
              <a:rPr sz="1575">
                <a:solidFill>
                  <a:srgbClr val="5F6673"/>
                </a:solidFill>
                <a:latin typeface="Calibri"/>
                <a:ea typeface="Calibri"/>
                <a:cs typeface="Calibri"/>
              </a:rPr>
              <a:t>Explain what failed and whether an unchanged retry can recover.</a:t>
            </a:r>
          </a:p>
        </p:txBody>
      </p:sp>
      <p:sp>
        <p:nvSpPr>
          <p:cNvPr id="7" name="stage-progress-rail">
            <a:extLst xmlns:a="http://schemas.openxmlformats.org/drawingml/2006/main">
              <a:ext uri="{FF2B5EF4-FFF2-40B4-BE49-F238E27FC236}">
                <a16:creationId xmlns:a16="http://schemas.microsoft.com/office/drawing/2014/main" id="{0F34910F-7228-431D-9219-A0C2244BCF12}"/>
              </a:ext>
            </a:extLst>
          </p:cNvPr>
          <p:cNvSpPr>
            <a:spLocks xmlns:a="http://schemas.openxmlformats.org/drawingml/2006/main" noGrp="1"/>
          </p:cNvSpPr>
          <p:nvPr/>
        </p:nvSpPr>
        <p:spPr>
          <a:xfrm xmlns:a="http://schemas.openxmlformats.org/drawingml/2006/main">
            <a:off x="1066800" y="4762500"/>
            <a:ext cx="10058400" cy="2857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stage-progress-dot-0">
            <a:extLst xmlns:a="http://schemas.openxmlformats.org/drawingml/2006/main">
              <a:ext uri="{FF2B5EF4-FFF2-40B4-BE49-F238E27FC236}">
                <a16:creationId xmlns:a16="http://schemas.microsoft.com/office/drawing/2014/main" id="{941D7566-ECC0-462D-82ED-FD9F4506806C}"/>
              </a:ext>
            </a:extLst>
          </p:cNvPr>
          <p:cNvSpPr>
            <a:spLocks xmlns:a="http://schemas.openxmlformats.org/drawingml/2006/main" noGrp="1"/>
          </p:cNvSpPr>
          <p:nvPr/>
        </p:nvSpPr>
        <p:spPr>
          <a:xfrm xmlns:a="http://schemas.openxmlformats.org/drawingml/2006/main">
            <a:off x="10001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stage-progress-label-0">
            <a:extLst xmlns:a="http://schemas.openxmlformats.org/drawingml/2006/main">
              <a:ext uri="{FF2B5EF4-FFF2-40B4-BE49-F238E27FC236}">
                <a16:creationId xmlns:a16="http://schemas.microsoft.com/office/drawing/2014/main" id="{18540B16-C7EF-49C5-B6DE-F6C4EEF92488}"/>
              </a:ext>
            </a:extLst>
          </p:cNvPr>
          <p:cNvSpPr>
            <a:spLocks xmlns:a="http://schemas.openxmlformats.org/drawingml/2006/main" noGrp="1"/>
          </p:cNvSpPr>
          <p:nvPr/>
        </p:nvSpPr>
        <p:spPr>
          <a:xfrm xmlns:a="http://schemas.openxmlformats.org/drawingml/2006/main">
            <a:off x="7810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L0</a:t>
            </a:r>
          </a:p>
        </p:txBody>
      </p:sp>
      <p:sp>
        <p:nvSpPr>
          <p:cNvPr id="10" name="stage-progress-dot-1">
            <a:extLst xmlns:a="http://schemas.openxmlformats.org/drawingml/2006/main">
              <a:ext uri="{FF2B5EF4-FFF2-40B4-BE49-F238E27FC236}">
                <a16:creationId xmlns:a16="http://schemas.microsoft.com/office/drawing/2014/main" id="{DE70ACD2-4DB4-424C-A366-AC649F47C051}"/>
              </a:ext>
            </a:extLst>
          </p:cNvPr>
          <p:cNvSpPr>
            <a:spLocks xmlns:a="http://schemas.openxmlformats.org/drawingml/2006/main" noGrp="1"/>
          </p:cNvSpPr>
          <p:nvPr/>
        </p:nvSpPr>
        <p:spPr>
          <a:xfrm xmlns:a="http://schemas.openxmlformats.org/drawingml/2006/main">
            <a:off x="3486150" y="4681538"/>
            <a:ext cx="190500" cy="190500"/>
          </a:xfrm>
          <a:prstGeom xmlns:a="http://schemas.openxmlformats.org/drawingml/2006/main" prst="ellipse">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stage-progress-label-1">
            <a:extLst xmlns:a="http://schemas.openxmlformats.org/drawingml/2006/main">
              <a:ext uri="{FF2B5EF4-FFF2-40B4-BE49-F238E27FC236}">
                <a16:creationId xmlns:a16="http://schemas.microsoft.com/office/drawing/2014/main" id="{E92ED936-0287-44D3-BE18-D25C7D5CCA57}"/>
              </a:ext>
            </a:extLst>
          </p:cNvPr>
          <p:cNvSpPr>
            <a:spLocks xmlns:a="http://schemas.openxmlformats.org/drawingml/2006/main" noGrp="1"/>
          </p:cNvSpPr>
          <p:nvPr/>
        </p:nvSpPr>
        <p:spPr>
          <a:xfrm xmlns:a="http://schemas.openxmlformats.org/drawingml/2006/main">
            <a:off x="32956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3B82F6"/>
                </a:solidFill>
                <a:latin typeface="Calibri"/>
                <a:ea typeface="Calibri"/>
                <a:cs typeface="Calibri"/>
              </a:defRPr>
            </a:pPr>
            <a:r>
              <a:rPr sz="975" b="1">
                <a:solidFill>
                  <a:srgbClr val="3B82F6"/>
                </a:solidFill>
                <a:latin typeface="Calibri"/>
                <a:ea typeface="Calibri"/>
                <a:cs typeface="Calibri"/>
              </a:rPr>
              <a:t>L1</a:t>
            </a:r>
          </a:p>
        </p:txBody>
      </p:sp>
      <p:sp>
        <p:nvSpPr>
          <p:cNvPr id="12" name="stage-progress-dot-2">
            <a:extLst xmlns:a="http://schemas.openxmlformats.org/drawingml/2006/main">
              <a:ext uri="{FF2B5EF4-FFF2-40B4-BE49-F238E27FC236}">
                <a16:creationId xmlns:a16="http://schemas.microsoft.com/office/drawing/2014/main" id="{E58AE94E-C1C2-49B5-B03F-03A01C916036}"/>
              </a:ext>
            </a:extLst>
          </p:cNvPr>
          <p:cNvSpPr>
            <a:spLocks xmlns:a="http://schemas.openxmlformats.org/drawingml/2006/main" noGrp="1"/>
          </p:cNvSpPr>
          <p:nvPr/>
        </p:nvSpPr>
        <p:spPr>
          <a:xfrm xmlns:a="http://schemas.openxmlformats.org/drawingml/2006/main">
            <a:off x="60293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stage-progress-label-2">
            <a:extLst xmlns:a="http://schemas.openxmlformats.org/drawingml/2006/main">
              <a:ext uri="{FF2B5EF4-FFF2-40B4-BE49-F238E27FC236}">
                <a16:creationId xmlns:a16="http://schemas.microsoft.com/office/drawing/2014/main" id="{EBA6069F-DE70-4806-B4C4-1D62F264994E}"/>
              </a:ext>
            </a:extLst>
          </p:cNvPr>
          <p:cNvSpPr>
            <a:spLocks xmlns:a="http://schemas.openxmlformats.org/drawingml/2006/main" noGrp="1"/>
          </p:cNvSpPr>
          <p:nvPr/>
        </p:nvSpPr>
        <p:spPr>
          <a:xfrm xmlns:a="http://schemas.openxmlformats.org/drawingml/2006/main">
            <a:off x="58102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L2</a:t>
            </a:r>
          </a:p>
        </p:txBody>
      </p:sp>
      <p:sp>
        <p:nvSpPr>
          <p:cNvPr id="14" name="stage-progress-dot-3">
            <a:extLst xmlns:a="http://schemas.openxmlformats.org/drawingml/2006/main">
              <a:ext uri="{FF2B5EF4-FFF2-40B4-BE49-F238E27FC236}">
                <a16:creationId xmlns:a16="http://schemas.microsoft.com/office/drawing/2014/main" id="{CAB559EB-A810-4EDB-A62D-ED15D2C991FD}"/>
              </a:ext>
            </a:extLst>
          </p:cNvPr>
          <p:cNvSpPr>
            <a:spLocks xmlns:a="http://schemas.openxmlformats.org/drawingml/2006/main" noGrp="1"/>
          </p:cNvSpPr>
          <p:nvPr/>
        </p:nvSpPr>
        <p:spPr>
          <a:xfrm xmlns:a="http://schemas.openxmlformats.org/drawingml/2006/main">
            <a:off x="85439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stage-progress-label-3">
            <a:extLst xmlns:a="http://schemas.openxmlformats.org/drawingml/2006/main">
              <a:ext uri="{FF2B5EF4-FFF2-40B4-BE49-F238E27FC236}">
                <a16:creationId xmlns:a16="http://schemas.microsoft.com/office/drawing/2014/main" id="{0EB0C8EE-F872-4CE3-8FCD-10A053C8D6EE}"/>
              </a:ext>
            </a:extLst>
          </p:cNvPr>
          <p:cNvSpPr>
            <a:spLocks xmlns:a="http://schemas.openxmlformats.org/drawingml/2006/main" noGrp="1"/>
          </p:cNvSpPr>
          <p:nvPr/>
        </p:nvSpPr>
        <p:spPr>
          <a:xfrm xmlns:a="http://schemas.openxmlformats.org/drawingml/2006/main">
            <a:off x="83248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L3</a:t>
            </a:r>
          </a:p>
        </p:txBody>
      </p:sp>
      <p:sp>
        <p:nvSpPr>
          <p:cNvPr id="16" name="stage-progress-dot-4">
            <a:extLst xmlns:a="http://schemas.openxmlformats.org/drawingml/2006/main">
              <a:ext uri="{FF2B5EF4-FFF2-40B4-BE49-F238E27FC236}">
                <a16:creationId xmlns:a16="http://schemas.microsoft.com/office/drawing/2014/main" id="{7D612C79-A1A3-40EF-89E4-1571382426ED}"/>
              </a:ext>
            </a:extLst>
          </p:cNvPr>
          <p:cNvSpPr>
            <a:spLocks xmlns:a="http://schemas.openxmlformats.org/drawingml/2006/main" noGrp="1"/>
          </p:cNvSpPr>
          <p:nvPr/>
        </p:nvSpPr>
        <p:spPr>
          <a:xfrm xmlns:a="http://schemas.openxmlformats.org/drawingml/2006/main">
            <a:off x="110585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stage-progress-label-4">
            <a:extLst xmlns:a="http://schemas.openxmlformats.org/drawingml/2006/main">
              <a:ext uri="{FF2B5EF4-FFF2-40B4-BE49-F238E27FC236}">
                <a16:creationId xmlns:a16="http://schemas.microsoft.com/office/drawing/2014/main" id="{D24C1FEA-BD76-44E7-8667-E9225CF87E18}"/>
              </a:ext>
            </a:extLst>
          </p:cNvPr>
          <p:cNvSpPr>
            <a:spLocks xmlns:a="http://schemas.openxmlformats.org/drawingml/2006/main" noGrp="1"/>
          </p:cNvSpPr>
          <p:nvPr/>
        </p:nvSpPr>
        <p:spPr>
          <a:xfrm xmlns:a="http://schemas.openxmlformats.org/drawingml/2006/main">
            <a:off x="108394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L4</a:t>
            </a:r>
          </a:p>
        </p:txBody>
      </p:sp>
    </p:spTree>
    <p:extLst>
      <p:ext uri="{BB962C8B-B14F-4D97-AF65-F5344CB8AC3E}">
        <p14:creationId xmlns:p14="http://schemas.microsoft.com/office/powerpoint/2010/main" val="38711664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42-26">
            <a:extLst xmlns:a="http://schemas.openxmlformats.org/drawingml/2006/main">
              <a:ext uri="{FF2B5EF4-FFF2-40B4-BE49-F238E27FC236}">
                <a16:creationId xmlns:a16="http://schemas.microsoft.com/office/drawing/2014/main" id="{2E8F24E5-5740-41D5-B242-3068F26B0941}"/>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L1 BOUNDARY</a:t>
            </a:r>
          </a:p>
        </p:txBody>
      </p:sp>
      <p:sp>
        <p:nvSpPr>
          <p:cNvPr id="2" name="text-42-54">
            <a:extLst xmlns:a="http://schemas.openxmlformats.org/drawingml/2006/main">
              <a:ext uri="{FF2B5EF4-FFF2-40B4-BE49-F238E27FC236}">
                <a16:creationId xmlns:a16="http://schemas.microsoft.com/office/drawing/2014/main" id="{15E178E7-8FEA-40C1-A1BD-5B7AF32A7B5F}"/>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L1 turns evidence into a semantic recovery assessment</a:t>
            </a:r>
          </a:p>
        </p:txBody>
      </p:sp>
      <p:sp>
        <p:nvSpPr>
          <p:cNvPr id="3" name="line-42-133">
            <a:extLst xmlns:a="http://schemas.openxmlformats.org/drawingml/2006/main">
              <a:ext uri="{FF2B5EF4-FFF2-40B4-BE49-F238E27FC236}">
                <a16:creationId xmlns:a16="http://schemas.microsoft.com/office/drawing/2014/main" id="{35E6AFDC-0A28-4A7A-9F85-9F537488B8ED}"/>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2-168">
            <a:extLst xmlns:a="http://schemas.openxmlformats.org/drawingml/2006/main">
              <a:ext uri="{FF2B5EF4-FFF2-40B4-BE49-F238E27FC236}">
                <a16:creationId xmlns:a16="http://schemas.microsoft.com/office/drawing/2014/main" id="{3EE8BA63-C352-4D93-B5D8-E4175EE848CA}"/>
              </a:ext>
            </a:extLst>
          </p:cNvPr>
          <p:cNvSpPr>
            <a:spLocks xmlns:a="http://schemas.openxmlformats.org/drawingml/2006/main" noGrp="1"/>
          </p:cNvSpPr>
          <p:nvPr/>
        </p:nvSpPr>
        <p:spPr>
          <a:xfrm xmlns:a="http://schemas.openxmlformats.org/drawingml/2006/main">
            <a:off x="590550" y="1600200"/>
            <a:ext cx="16954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INPUT</a:t>
            </a:r>
          </a:p>
        </p:txBody>
      </p:sp>
      <p:sp>
        <p:nvSpPr>
          <p:cNvPr id="5" name="arrow-244-170">
            <a:extLst xmlns:a="http://schemas.openxmlformats.org/drawingml/2006/main">
              <a:ext uri="{FF2B5EF4-FFF2-40B4-BE49-F238E27FC236}">
                <a16:creationId xmlns:a16="http://schemas.microsoft.com/office/drawing/2014/main" id="{C9DF21FA-F5C4-4127-9271-052ABE07877F}"/>
              </a:ext>
            </a:extLst>
          </p:cNvPr>
          <p:cNvSpPr>
            <a:spLocks xmlns:a="http://schemas.openxmlformats.org/drawingml/2006/main" noGrp="1"/>
          </p:cNvSpPr>
          <p:nvPr/>
        </p:nvSpPr>
        <p:spPr>
          <a:xfrm xmlns:a="http://schemas.openxmlformats.org/drawingml/2006/main">
            <a:off x="23241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text-288-168">
            <a:extLst xmlns:a="http://schemas.openxmlformats.org/drawingml/2006/main">
              <a:ext uri="{FF2B5EF4-FFF2-40B4-BE49-F238E27FC236}">
                <a16:creationId xmlns:a16="http://schemas.microsoft.com/office/drawing/2014/main" id="{78F62E56-55F0-4BF5-B0A6-43A27CBEDF83}"/>
              </a:ext>
            </a:extLst>
          </p:cNvPr>
          <p:cNvSpPr>
            <a:spLocks xmlns:a="http://schemas.openxmlformats.org/drawingml/2006/main" noGrp="1"/>
          </p:cNvSpPr>
          <p:nvPr/>
        </p:nvSpPr>
        <p:spPr>
          <a:xfrm xmlns:a="http://schemas.openxmlformats.org/drawingml/2006/main">
            <a:off x="2743200" y="1600200"/>
            <a:ext cx="209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INTERPRET</a:t>
            </a:r>
          </a:p>
        </p:txBody>
      </p:sp>
      <p:sp>
        <p:nvSpPr>
          <p:cNvPr id="7" name="arrow-514-170">
            <a:extLst xmlns:a="http://schemas.openxmlformats.org/drawingml/2006/main">
              <a:ext uri="{FF2B5EF4-FFF2-40B4-BE49-F238E27FC236}">
                <a16:creationId xmlns:a16="http://schemas.microsoft.com/office/drawing/2014/main" id="{0DC265A1-9463-4855-873D-E309B86EA660}"/>
              </a:ext>
            </a:extLst>
          </p:cNvPr>
          <p:cNvSpPr>
            <a:spLocks xmlns:a="http://schemas.openxmlformats.org/drawingml/2006/main" noGrp="1"/>
          </p:cNvSpPr>
          <p:nvPr/>
        </p:nvSpPr>
        <p:spPr>
          <a:xfrm xmlns:a="http://schemas.openxmlformats.org/drawingml/2006/main">
            <a:off x="489585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558-168">
            <a:extLst xmlns:a="http://schemas.openxmlformats.org/drawingml/2006/main">
              <a:ext uri="{FF2B5EF4-FFF2-40B4-BE49-F238E27FC236}">
                <a16:creationId xmlns:a16="http://schemas.microsoft.com/office/drawing/2014/main" id="{82FBAFBB-1CEB-4A73-83B6-BFE4F4A233EE}"/>
              </a:ext>
            </a:extLst>
          </p:cNvPr>
          <p:cNvSpPr>
            <a:spLocks xmlns:a="http://schemas.openxmlformats.org/drawingml/2006/main" noGrp="1"/>
          </p:cNvSpPr>
          <p:nvPr/>
        </p:nvSpPr>
        <p:spPr>
          <a:xfrm xmlns:a="http://schemas.openxmlformats.org/drawingml/2006/main">
            <a:off x="5314950" y="1600200"/>
            <a:ext cx="21336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ASSESS</a:t>
            </a:r>
          </a:p>
        </p:txBody>
      </p:sp>
      <p:sp>
        <p:nvSpPr>
          <p:cNvPr id="9" name="arrow-788-170">
            <a:extLst xmlns:a="http://schemas.openxmlformats.org/drawingml/2006/main">
              <a:ext uri="{FF2B5EF4-FFF2-40B4-BE49-F238E27FC236}">
                <a16:creationId xmlns:a16="http://schemas.microsoft.com/office/drawing/2014/main" id="{27BAD463-5A42-44D2-AA51-FA4C1F11166A}"/>
              </a:ext>
            </a:extLst>
          </p:cNvPr>
          <p:cNvSpPr>
            <a:spLocks xmlns:a="http://schemas.openxmlformats.org/drawingml/2006/main" noGrp="1"/>
          </p:cNvSpPr>
          <p:nvPr/>
        </p:nvSpPr>
        <p:spPr>
          <a:xfrm xmlns:a="http://schemas.openxmlformats.org/drawingml/2006/main">
            <a:off x="75057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832-168">
            <a:extLst xmlns:a="http://schemas.openxmlformats.org/drawingml/2006/main">
              <a:ext uri="{FF2B5EF4-FFF2-40B4-BE49-F238E27FC236}">
                <a16:creationId xmlns:a16="http://schemas.microsoft.com/office/drawing/2014/main" id="{09A1E003-46A4-4B36-91C7-95414EDE0162}"/>
              </a:ext>
            </a:extLst>
          </p:cNvPr>
          <p:cNvSpPr>
            <a:spLocks xmlns:a="http://schemas.openxmlformats.org/drawingml/2006/main" noGrp="1"/>
          </p:cNvSpPr>
          <p:nvPr/>
        </p:nvSpPr>
        <p:spPr>
          <a:xfrm xmlns:a="http://schemas.openxmlformats.org/drawingml/2006/main">
            <a:off x="7924800" y="1600200"/>
            <a:ext cx="3429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NEXT: L2</a:t>
            </a:r>
          </a:p>
        </p:txBody>
      </p:sp>
      <p:sp>
        <p:nvSpPr>
          <p:cNvPr id="11" name="box-62-228">
            <a:extLst xmlns:a="http://schemas.openxmlformats.org/drawingml/2006/main">
              <a:ext uri="{FF2B5EF4-FFF2-40B4-BE49-F238E27FC236}">
                <a16:creationId xmlns:a16="http://schemas.microsoft.com/office/drawing/2014/main" id="{395A74B4-5D3B-4EDE-A24B-5D70C0961FA6}"/>
              </a:ext>
            </a:extLst>
          </p:cNvPr>
          <p:cNvSpPr>
            <a:spLocks xmlns:a="http://schemas.openxmlformats.org/drawingml/2006/main" noGrp="1"/>
          </p:cNvSpPr>
          <p:nvPr/>
        </p:nvSpPr>
        <p:spPr>
          <a:xfrm xmlns:a="http://schemas.openxmlformats.org/drawingml/2006/main">
            <a:off x="590550" y="2171700"/>
            <a:ext cx="31623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2" name="text-82-250">
            <a:extLst xmlns:a="http://schemas.openxmlformats.org/drawingml/2006/main">
              <a:ext uri="{FF2B5EF4-FFF2-40B4-BE49-F238E27FC236}">
                <a16:creationId xmlns:a16="http://schemas.microsoft.com/office/drawing/2014/main" id="{1DF51230-E9D0-4ECB-AD5E-FF3619A866E6}"/>
              </a:ext>
            </a:extLst>
          </p:cNvPr>
          <p:cNvSpPr>
            <a:spLocks xmlns:a="http://schemas.openxmlformats.org/drawingml/2006/main" noGrp="1"/>
          </p:cNvSpPr>
          <p:nvPr/>
        </p:nvSpPr>
        <p:spPr>
          <a:xfrm xmlns:a="http://schemas.openxmlformats.org/drawingml/2006/main">
            <a:off x="781050" y="2381250"/>
            <a:ext cx="27813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L1 receives</a:t>
            </a:r>
          </a:p>
        </p:txBody>
      </p:sp>
      <p:sp>
        <p:nvSpPr>
          <p:cNvPr id="13" name="text-82-310">
            <a:extLst xmlns:a="http://schemas.openxmlformats.org/drawingml/2006/main">
              <a:ext uri="{FF2B5EF4-FFF2-40B4-BE49-F238E27FC236}">
                <a16:creationId xmlns:a16="http://schemas.microsoft.com/office/drawing/2014/main" id="{5E1B19B2-D558-4267-9A43-328298658A0B}"/>
              </a:ext>
            </a:extLst>
          </p:cNvPr>
          <p:cNvSpPr>
            <a:spLocks xmlns:a="http://schemas.openxmlformats.org/drawingml/2006/main" noGrp="1"/>
          </p:cNvSpPr>
          <p:nvPr/>
        </p:nvSpPr>
        <p:spPr>
          <a:xfrm xmlns:a="http://schemas.openxmlformats.org/drawingml/2006/main">
            <a:off x="7810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Evidence + declared context + tools</a:t>
            </a:r>
          </a:p>
        </p:txBody>
      </p:sp>
      <p:sp>
        <p:nvSpPr>
          <p:cNvPr id="14" name="dot-82-362">
            <a:extLst xmlns:a="http://schemas.openxmlformats.org/drawingml/2006/main">
              <a:ext uri="{FF2B5EF4-FFF2-40B4-BE49-F238E27FC236}">
                <a16:creationId xmlns:a16="http://schemas.microsoft.com/office/drawing/2014/main" id="{68AAB549-B5B2-42FD-A23C-B5D2D4337F38}"/>
              </a:ext>
            </a:extLst>
          </p:cNvPr>
          <p:cNvSpPr>
            <a:spLocks xmlns:a="http://schemas.openxmlformats.org/drawingml/2006/main" noGrp="1"/>
          </p:cNvSpPr>
          <p:nvPr/>
        </p:nvSpPr>
        <p:spPr>
          <a:xfrm xmlns:a="http://schemas.openxmlformats.org/drawingml/2006/main">
            <a:off x="7810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2-354">
            <a:extLst xmlns:a="http://schemas.openxmlformats.org/drawingml/2006/main">
              <a:ext uri="{FF2B5EF4-FFF2-40B4-BE49-F238E27FC236}">
                <a16:creationId xmlns:a16="http://schemas.microsoft.com/office/drawing/2014/main" id="{9CA6E212-9295-476D-BFD7-D28BF629A025}"/>
              </a:ext>
            </a:extLst>
          </p:cNvPr>
          <p:cNvSpPr>
            <a:spLocks xmlns:a="http://schemas.openxmlformats.org/drawingml/2006/main" noGrp="1"/>
          </p:cNvSpPr>
          <p:nvPr/>
        </p:nvSpPr>
        <p:spPr>
          <a:xfrm xmlns:a="http://schemas.openxmlformats.org/drawingml/2006/main">
            <a:off x="9715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decision_evidence + evidence_bundle</a:t>
            </a:r>
          </a:p>
        </p:txBody>
      </p:sp>
      <p:sp>
        <p:nvSpPr>
          <p:cNvPr id="16" name="dot-82-416">
            <a:extLst xmlns:a="http://schemas.openxmlformats.org/drawingml/2006/main">
              <a:ext uri="{FF2B5EF4-FFF2-40B4-BE49-F238E27FC236}">
                <a16:creationId xmlns:a16="http://schemas.microsoft.com/office/drawing/2014/main" id="{3729A78D-A319-40E0-B9DF-A3E8F5CE4AE7}"/>
              </a:ext>
            </a:extLst>
          </p:cNvPr>
          <p:cNvSpPr>
            <a:spLocks xmlns:a="http://schemas.openxmlformats.org/drawingml/2006/main" noGrp="1"/>
          </p:cNvSpPr>
          <p:nvPr/>
        </p:nvSpPr>
        <p:spPr>
          <a:xfrm xmlns:a="http://schemas.openxmlformats.org/drawingml/2006/main">
            <a:off x="7810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102-408">
            <a:extLst xmlns:a="http://schemas.openxmlformats.org/drawingml/2006/main">
              <a:ext uri="{FF2B5EF4-FFF2-40B4-BE49-F238E27FC236}">
                <a16:creationId xmlns:a16="http://schemas.microsoft.com/office/drawing/2014/main" id="{A6477598-51D1-4C66-B090-A033E20E4995}"/>
              </a:ext>
            </a:extLst>
          </p:cNvPr>
          <p:cNvSpPr>
            <a:spLocks xmlns:a="http://schemas.openxmlformats.org/drawingml/2006/main" noGrp="1"/>
          </p:cNvSpPr>
          <p:nvPr/>
        </p:nvSpPr>
        <p:spPr>
          <a:xfrm xmlns:a="http://schemas.openxmlformats.org/drawingml/2006/main">
            <a:off x="9715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Execution context + restart context</a:t>
            </a:r>
          </a:p>
        </p:txBody>
      </p:sp>
      <p:sp>
        <p:nvSpPr>
          <p:cNvPr id="18" name="dot-82-470">
            <a:extLst xmlns:a="http://schemas.openxmlformats.org/drawingml/2006/main">
              <a:ext uri="{FF2B5EF4-FFF2-40B4-BE49-F238E27FC236}">
                <a16:creationId xmlns:a16="http://schemas.microsoft.com/office/drawing/2014/main" id="{97C62568-0B41-452D-B123-73FCC3FE3E0C}"/>
              </a:ext>
            </a:extLst>
          </p:cNvPr>
          <p:cNvSpPr>
            <a:spLocks xmlns:a="http://schemas.openxmlformats.org/drawingml/2006/main" noGrp="1"/>
          </p:cNvSpPr>
          <p:nvPr/>
        </p:nvSpPr>
        <p:spPr>
          <a:xfrm xmlns:a="http://schemas.openxmlformats.org/drawingml/2006/main">
            <a:off x="7810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102-462">
            <a:extLst xmlns:a="http://schemas.openxmlformats.org/drawingml/2006/main">
              <a:ext uri="{FF2B5EF4-FFF2-40B4-BE49-F238E27FC236}">
                <a16:creationId xmlns:a16="http://schemas.microsoft.com/office/drawing/2014/main" id="{1AE84897-7006-4F8C-BBFA-7B87792648E5}"/>
              </a:ext>
            </a:extLst>
          </p:cNvPr>
          <p:cNvSpPr>
            <a:spLocks xmlns:a="http://schemas.openxmlformats.org/drawingml/2006/main" noGrp="1"/>
          </p:cNvSpPr>
          <p:nvPr/>
        </p:nvSpPr>
        <p:spPr>
          <a:xfrm xmlns:a="http://schemas.openxmlformats.org/drawingml/2006/main">
            <a:off x="9715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Provider-advertised read-only tools</a:t>
            </a:r>
          </a:p>
        </p:txBody>
      </p:sp>
      <p:sp>
        <p:nvSpPr>
          <p:cNvPr id="20" name="box-434-228">
            <a:extLst xmlns:a="http://schemas.openxmlformats.org/drawingml/2006/main">
              <a:ext uri="{FF2B5EF4-FFF2-40B4-BE49-F238E27FC236}">
                <a16:creationId xmlns:a16="http://schemas.microsoft.com/office/drawing/2014/main" id="{C18E8717-5015-47D5-A0C5-8927B47AD929}"/>
              </a:ext>
            </a:extLst>
          </p:cNvPr>
          <p:cNvSpPr>
            <a:spLocks xmlns:a="http://schemas.openxmlformats.org/drawingml/2006/main" noGrp="1"/>
          </p:cNvSpPr>
          <p:nvPr/>
        </p:nvSpPr>
        <p:spPr>
          <a:xfrm xmlns:a="http://schemas.openxmlformats.org/drawingml/2006/main">
            <a:off x="41338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454-250">
            <a:extLst xmlns:a="http://schemas.openxmlformats.org/drawingml/2006/main">
              <a:ext uri="{FF2B5EF4-FFF2-40B4-BE49-F238E27FC236}">
                <a16:creationId xmlns:a16="http://schemas.microsoft.com/office/drawing/2014/main" id="{4A64CE5D-113E-4D9E-9862-3E8BAC75122A}"/>
              </a:ext>
            </a:extLst>
          </p:cNvPr>
          <p:cNvSpPr>
            <a:spLocks xmlns:a="http://schemas.openxmlformats.org/drawingml/2006/main" noGrp="1"/>
          </p:cNvSpPr>
          <p:nvPr/>
        </p:nvSpPr>
        <p:spPr>
          <a:xfrm xmlns:a="http://schemas.openxmlformats.org/drawingml/2006/main">
            <a:off x="4324350" y="2381250"/>
            <a:ext cx="2781300" cy="514350"/>
          </a:xfrm>
          <a:prstGeom xmlns:a="http://schemas.openxmlformats.org/drawingml/2006/main" prst="rect">
            <a:avLst/>
          </a:prstGeom>
        </p:spPr>
        <p:txBody>
          <a:bodyPr xmlns:a="http://schemas.openxmlformats.org/drawingml/2006/main" wrap="square" lIns="0" tIns="0" rIns="0" bIns="0" anchor="t">
            <a:normAutofit fontScale="100000" lnSpcReduction="1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the model does</a:t>
            </a:r>
          </a:p>
        </p:txBody>
      </p:sp>
      <p:sp>
        <p:nvSpPr>
          <p:cNvPr id="22" name="text-454-310">
            <a:extLst xmlns:a="http://schemas.openxmlformats.org/drawingml/2006/main">
              <a:ext uri="{FF2B5EF4-FFF2-40B4-BE49-F238E27FC236}">
                <a16:creationId xmlns:a16="http://schemas.microsoft.com/office/drawing/2014/main" id="{FD2180B6-9D2C-4A94-BB6F-3360EEADD78E}"/>
              </a:ext>
            </a:extLst>
          </p:cNvPr>
          <p:cNvSpPr>
            <a:spLocks xmlns:a="http://schemas.openxmlformats.org/drawingml/2006/main" noGrp="1"/>
          </p:cNvSpPr>
          <p:nvPr/>
        </p:nvSpPr>
        <p:spPr>
          <a:xfrm xmlns:a="http://schemas.openxmlformats.org/drawingml/2006/main">
            <a:off x="43243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Semantic reasoning over this attempt</a:t>
            </a:r>
          </a:p>
        </p:txBody>
      </p:sp>
      <p:sp>
        <p:nvSpPr>
          <p:cNvPr id="23" name="dot-454-362">
            <a:extLst xmlns:a="http://schemas.openxmlformats.org/drawingml/2006/main">
              <a:ext uri="{FF2B5EF4-FFF2-40B4-BE49-F238E27FC236}">
                <a16:creationId xmlns:a16="http://schemas.microsoft.com/office/drawing/2014/main" id="{2B5ABAAE-328B-43DB-BB67-B19F6355BBF4}"/>
              </a:ext>
            </a:extLst>
          </p:cNvPr>
          <p:cNvSpPr>
            <a:spLocks xmlns:a="http://schemas.openxmlformats.org/drawingml/2006/main" noGrp="1"/>
          </p:cNvSpPr>
          <p:nvPr/>
        </p:nvSpPr>
        <p:spPr>
          <a:xfrm xmlns:a="http://schemas.openxmlformats.org/drawingml/2006/main">
            <a:off x="43243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text-474-354">
            <a:extLst xmlns:a="http://schemas.openxmlformats.org/drawingml/2006/main">
              <a:ext uri="{FF2B5EF4-FFF2-40B4-BE49-F238E27FC236}">
                <a16:creationId xmlns:a16="http://schemas.microsoft.com/office/drawing/2014/main" id="{9CC8E4EF-4C62-4E65-A043-4EB6C61778AB}"/>
              </a:ext>
            </a:extLst>
          </p:cNvPr>
          <p:cNvSpPr>
            <a:spLocks xmlns:a="http://schemas.openxmlformats.org/drawingml/2006/main" noGrp="1"/>
          </p:cNvSpPr>
          <p:nvPr/>
        </p:nvSpPr>
        <p:spPr>
          <a:xfrm xmlns:a="http://schemas.openxmlformats.org/drawingml/2006/main">
            <a:off x="45148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Select primary + causal role</a:t>
            </a:r>
          </a:p>
        </p:txBody>
      </p:sp>
      <p:sp>
        <p:nvSpPr>
          <p:cNvPr id="25" name="dot-454-416">
            <a:extLst xmlns:a="http://schemas.openxmlformats.org/drawingml/2006/main">
              <a:ext uri="{FF2B5EF4-FFF2-40B4-BE49-F238E27FC236}">
                <a16:creationId xmlns:a16="http://schemas.microsoft.com/office/drawing/2014/main" id="{CBBD01F2-9E0B-4739-BF76-7F02F9DB340D}"/>
              </a:ext>
            </a:extLst>
          </p:cNvPr>
          <p:cNvSpPr>
            <a:spLocks xmlns:a="http://schemas.openxmlformats.org/drawingml/2006/main" noGrp="1"/>
          </p:cNvSpPr>
          <p:nvPr/>
        </p:nvSpPr>
        <p:spPr>
          <a:xfrm xmlns:a="http://schemas.openxmlformats.org/drawingml/2006/main">
            <a:off x="43243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474-408">
            <a:extLst xmlns:a="http://schemas.openxmlformats.org/drawingml/2006/main">
              <a:ext uri="{FF2B5EF4-FFF2-40B4-BE49-F238E27FC236}">
                <a16:creationId xmlns:a16="http://schemas.microsoft.com/office/drawing/2014/main" id="{1494D069-AB8A-4A24-9766-4E838433FEEA}"/>
              </a:ext>
            </a:extLst>
          </p:cNvPr>
          <p:cNvSpPr>
            <a:spLocks xmlns:a="http://schemas.openxmlformats.org/drawingml/2006/main" noGrp="1"/>
          </p:cNvSpPr>
          <p:nvPr/>
        </p:nvSpPr>
        <p:spPr>
          <a:xfrm xmlns:a="http://schemas.openxmlformats.org/drawingml/2006/main">
            <a:off x="45148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Assess RCA and alternatives</a:t>
            </a:r>
          </a:p>
        </p:txBody>
      </p:sp>
      <p:sp>
        <p:nvSpPr>
          <p:cNvPr id="27" name="dot-454-470">
            <a:extLst xmlns:a="http://schemas.openxmlformats.org/drawingml/2006/main">
              <a:ext uri="{FF2B5EF4-FFF2-40B4-BE49-F238E27FC236}">
                <a16:creationId xmlns:a16="http://schemas.microsoft.com/office/drawing/2014/main" id="{EDCB2778-EADA-461E-973D-2465A5F347BF}"/>
              </a:ext>
            </a:extLst>
          </p:cNvPr>
          <p:cNvSpPr>
            <a:spLocks xmlns:a="http://schemas.openxmlformats.org/drawingml/2006/main" noGrp="1"/>
          </p:cNvSpPr>
          <p:nvPr/>
        </p:nvSpPr>
        <p:spPr>
          <a:xfrm xmlns:a="http://schemas.openxmlformats.org/drawingml/2006/main">
            <a:off x="43243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474-462">
            <a:extLst xmlns:a="http://schemas.openxmlformats.org/drawingml/2006/main">
              <a:ext uri="{FF2B5EF4-FFF2-40B4-BE49-F238E27FC236}">
                <a16:creationId xmlns:a16="http://schemas.microsoft.com/office/drawing/2014/main" id="{D2FDBF89-79F2-4F08-8459-5343202244D4}"/>
              </a:ext>
            </a:extLst>
          </p:cNvPr>
          <p:cNvSpPr>
            <a:spLocks xmlns:a="http://schemas.openxmlformats.org/drawingml/2006/main" noGrp="1"/>
          </p:cNvSpPr>
          <p:nvPr/>
        </p:nvSpPr>
        <p:spPr>
          <a:xfrm xmlns:a="http://schemas.openxmlformats.org/drawingml/2006/main">
            <a:off x="45148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Request a specific extra log excerpt when evidence is missing</a:t>
            </a:r>
          </a:p>
        </p:txBody>
      </p:sp>
      <p:sp>
        <p:nvSpPr>
          <p:cNvPr id="29" name="box-806-228">
            <a:extLst xmlns:a="http://schemas.openxmlformats.org/drawingml/2006/main">
              <a:ext uri="{FF2B5EF4-FFF2-40B4-BE49-F238E27FC236}">
                <a16:creationId xmlns:a16="http://schemas.microsoft.com/office/drawing/2014/main" id="{16EC43A0-C165-4FC1-8943-192E174D1BBC}"/>
              </a:ext>
            </a:extLst>
          </p:cNvPr>
          <p:cNvSpPr>
            <a:spLocks xmlns:a="http://schemas.openxmlformats.org/drawingml/2006/main" noGrp="1"/>
          </p:cNvSpPr>
          <p:nvPr/>
        </p:nvSpPr>
        <p:spPr>
          <a:xfrm xmlns:a="http://schemas.openxmlformats.org/drawingml/2006/main">
            <a:off x="76771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30" name="text-826-250">
            <a:extLst xmlns:a="http://schemas.openxmlformats.org/drawingml/2006/main">
              <a:ext uri="{FF2B5EF4-FFF2-40B4-BE49-F238E27FC236}">
                <a16:creationId xmlns:a16="http://schemas.microsoft.com/office/drawing/2014/main" id="{63C996DE-9285-43D2-877E-E4A36953608D}"/>
              </a:ext>
            </a:extLst>
          </p:cNvPr>
          <p:cNvSpPr>
            <a:spLocks xmlns:a="http://schemas.openxmlformats.org/drawingml/2006/main" noGrp="1"/>
          </p:cNvSpPr>
          <p:nvPr/>
        </p:nvSpPr>
        <p:spPr>
          <a:xfrm xmlns:a="http://schemas.openxmlformats.org/drawingml/2006/main">
            <a:off x="7867650" y="2381250"/>
            <a:ext cx="27813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L1 emits</a:t>
            </a:r>
          </a:p>
        </p:txBody>
      </p:sp>
      <p:sp>
        <p:nvSpPr>
          <p:cNvPr id="31" name="text-826-310">
            <a:extLst xmlns:a="http://schemas.openxmlformats.org/drawingml/2006/main">
              <a:ext uri="{FF2B5EF4-FFF2-40B4-BE49-F238E27FC236}">
                <a16:creationId xmlns:a16="http://schemas.microsoft.com/office/drawing/2014/main" id="{B9CD621D-79C4-4765-99E5-90F20A1E69EB}"/>
              </a:ext>
            </a:extLst>
          </p:cNvPr>
          <p:cNvSpPr>
            <a:spLocks xmlns:a="http://schemas.openxmlformats.org/drawingml/2006/main" noGrp="1"/>
          </p:cNvSpPr>
          <p:nvPr/>
        </p:nvSpPr>
        <p:spPr>
          <a:xfrm xmlns:a="http://schemas.openxmlformats.org/drawingml/2006/main">
            <a:off x="78676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Raw semantics; no action</a:t>
            </a:r>
          </a:p>
        </p:txBody>
      </p:sp>
      <p:sp>
        <p:nvSpPr>
          <p:cNvPr id="32" name="dot-826-362">
            <a:extLst xmlns:a="http://schemas.openxmlformats.org/drawingml/2006/main">
              <a:ext uri="{FF2B5EF4-FFF2-40B4-BE49-F238E27FC236}">
                <a16:creationId xmlns:a16="http://schemas.microsoft.com/office/drawing/2014/main" id="{A4D5F9F5-806C-4E86-98D8-634E9E9775D5}"/>
              </a:ext>
            </a:extLst>
          </p:cNvPr>
          <p:cNvSpPr>
            <a:spLocks xmlns:a="http://schemas.openxmlformats.org/drawingml/2006/main" noGrp="1"/>
          </p:cNvSpPr>
          <p:nvPr/>
        </p:nvSpPr>
        <p:spPr>
          <a:xfrm xmlns:a="http://schemas.openxmlformats.org/drawingml/2006/main">
            <a:off x="78676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46-354">
            <a:extLst xmlns:a="http://schemas.openxmlformats.org/drawingml/2006/main">
              <a:ext uri="{FF2B5EF4-FFF2-40B4-BE49-F238E27FC236}">
                <a16:creationId xmlns:a16="http://schemas.microsoft.com/office/drawing/2014/main" id="{E36A2BDA-007D-4045-81D4-1FA5081557E8}"/>
              </a:ext>
            </a:extLst>
          </p:cNvPr>
          <p:cNvSpPr>
            <a:spLocks xmlns:a="http://schemas.openxmlformats.org/drawingml/2006/main" noGrp="1"/>
          </p:cNvSpPr>
          <p:nvPr/>
        </p:nvSpPr>
        <p:spPr>
          <a:xfrm xmlns:a="http://schemas.openxmlformats.org/drawingml/2006/main">
            <a:off x="80581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Failure domain: value + status + confidence</a:t>
            </a:r>
          </a:p>
        </p:txBody>
      </p:sp>
      <p:sp>
        <p:nvSpPr>
          <p:cNvPr id="34" name="dot-826-416">
            <a:extLst xmlns:a="http://schemas.openxmlformats.org/drawingml/2006/main">
              <a:ext uri="{FF2B5EF4-FFF2-40B4-BE49-F238E27FC236}">
                <a16:creationId xmlns:a16="http://schemas.microsoft.com/office/drawing/2014/main" id="{7C380AC4-4795-4BB2-A3F8-72DE52309B59}"/>
              </a:ext>
            </a:extLst>
          </p:cNvPr>
          <p:cNvSpPr>
            <a:spLocks xmlns:a="http://schemas.openxmlformats.org/drawingml/2006/main" noGrp="1"/>
          </p:cNvSpPr>
          <p:nvPr/>
        </p:nvSpPr>
        <p:spPr>
          <a:xfrm xmlns:a="http://schemas.openxmlformats.org/drawingml/2006/main">
            <a:off x="78676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5" name="text-846-408">
            <a:extLst xmlns:a="http://schemas.openxmlformats.org/drawingml/2006/main">
              <a:ext uri="{FF2B5EF4-FFF2-40B4-BE49-F238E27FC236}">
                <a16:creationId xmlns:a16="http://schemas.microsoft.com/office/drawing/2014/main" id="{DA96D7C3-76CD-420D-8F07-1CE7E8D23ED5}"/>
              </a:ext>
            </a:extLst>
          </p:cNvPr>
          <p:cNvSpPr>
            <a:spLocks xmlns:a="http://schemas.openxmlformats.org/drawingml/2006/main" noGrp="1"/>
          </p:cNvSpPr>
          <p:nvPr/>
        </p:nvSpPr>
        <p:spPr>
          <a:xfrm xmlns:a="http://schemas.openxmlformats.org/drawingml/2006/main">
            <a:off x="80581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Retry outlook: value + status + confidence</a:t>
            </a:r>
          </a:p>
        </p:txBody>
      </p:sp>
      <p:sp>
        <p:nvSpPr>
          <p:cNvPr id="36" name="dot-826-470">
            <a:extLst xmlns:a="http://schemas.openxmlformats.org/drawingml/2006/main">
              <a:ext uri="{FF2B5EF4-FFF2-40B4-BE49-F238E27FC236}">
                <a16:creationId xmlns:a16="http://schemas.microsoft.com/office/drawing/2014/main" id="{62124110-26B5-4CA7-BC5C-5D09491EA52E}"/>
              </a:ext>
            </a:extLst>
          </p:cNvPr>
          <p:cNvSpPr>
            <a:spLocks xmlns:a="http://schemas.openxmlformats.org/drawingml/2006/main" noGrp="1"/>
          </p:cNvSpPr>
          <p:nvPr/>
        </p:nvSpPr>
        <p:spPr>
          <a:xfrm xmlns:a="http://schemas.openxmlformats.org/drawingml/2006/main">
            <a:off x="78676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7" name="text-846-462">
            <a:extLst xmlns:a="http://schemas.openxmlformats.org/drawingml/2006/main">
              <a:ext uri="{FF2B5EF4-FFF2-40B4-BE49-F238E27FC236}">
                <a16:creationId xmlns:a16="http://schemas.microsoft.com/office/drawing/2014/main" id="{A6111747-2FEB-4B1F-BDD8-3A25F23F4533}"/>
              </a:ext>
            </a:extLst>
          </p:cNvPr>
          <p:cNvSpPr>
            <a:spLocks xmlns:a="http://schemas.openxmlformats.org/drawingml/2006/main" noGrp="1"/>
          </p:cNvSpPr>
          <p:nvPr/>
        </p:nvSpPr>
        <p:spPr>
          <a:xfrm xmlns:a="http://schemas.openxmlformats.org/drawingml/2006/main">
            <a:off x="80581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Claim-tagged citations + rationale</a:t>
            </a:r>
          </a:p>
        </p:txBody>
      </p:sp>
      <p:sp>
        <p:nvSpPr>
          <p:cNvPr id="38" name="box-62-574">
            <a:extLst xmlns:a="http://schemas.openxmlformats.org/drawingml/2006/main">
              <a:ext uri="{FF2B5EF4-FFF2-40B4-BE49-F238E27FC236}">
                <a16:creationId xmlns:a16="http://schemas.microsoft.com/office/drawing/2014/main" id="{6F8D4551-C523-45BB-B880-9B0BCB4F2A00}"/>
              </a:ext>
            </a:extLst>
          </p:cNvPr>
          <p:cNvSpPr>
            <a:spLocks xmlns:a="http://schemas.openxmlformats.org/drawingml/2006/main" noGrp="1"/>
          </p:cNvSpPr>
          <p:nvPr/>
        </p:nvSpPr>
        <p:spPr>
          <a:xfrm xmlns:a="http://schemas.openxmlformats.org/drawingml/2006/main">
            <a:off x="590550" y="5467350"/>
            <a:ext cx="1097280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9" name="text-86-593">
            <a:extLst xmlns:a="http://schemas.openxmlformats.org/drawingml/2006/main">
              <a:ext uri="{FF2B5EF4-FFF2-40B4-BE49-F238E27FC236}">
                <a16:creationId xmlns:a16="http://schemas.microsoft.com/office/drawing/2014/main" id="{6A5F2A43-1399-44A9-9BCD-5851656455F4}"/>
              </a:ext>
            </a:extLst>
          </p:cNvPr>
          <p:cNvSpPr>
            <a:spLocks xmlns:a="http://schemas.openxmlformats.org/drawingml/2006/main" noGrp="1"/>
          </p:cNvSpPr>
          <p:nvPr/>
        </p:nvSpPr>
        <p:spPr>
          <a:xfrm xmlns:a="http://schemas.openxmlformats.org/drawingml/2006/main">
            <a:off x="819150" y="5648325"/>
            <a:ext cx="8763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D7A5B"/>
                </a:solidFill>
                <a:latin typeface="Helvetica Neue"/>
                <a:ea typeface="Helvetica Neue"/>
                <a:cs typeface="Helvetica Neue"/>
              </a:defRPr>
            </a:pPr>
            <a:r>
              <a:t>OUTPUT</a:t>
            </a:r>
          </a:p>
        </p:txBody>
      </p:sp>
      <p:sp>
        <p:nvSpPr>
          <p:cNvPr id="40" name="text-176-593">
            <a:extLst xmlns:a="http://schemas.openxmlformats.org/drawingml/2006/main">
              <a:ext uri="{FF2B5EF4-FFF2-40B4-BE49-F238E27FC236}">
                <a16:creationId xmlns:a16="http://schemas.microsoft.com/office/drawing/2014/main" id="{1390676A-746F-425B-9CB4-2FF15446570C}"/>
              </a:ext>
            </a:extLst>
          </p:cNvPr>
          <p:cNvSpPr>
            <a:spLocks xmlns:a="http://schemas.openxmlformats.org/drawingml/2006/main" noGrp="1"/>
          </p:cNvSpPr>
          <p:nvPr/>
        </p:nvSpPr>
        <p:spPr>
          <a:xfrm xmlns:a="http://schemas.openxmlformats.org/drawingml/2006/main">
            <a:off x="1676400" y="5648325"/>
            <a:ext cx="3905250" cy="228600"/>
          </a:xfrm>
          <a:prstGeom xmlns:a="http://schemas.openxmlformats.org/drawingml/2006/main" prst="rect">
            <a:avLst/>
          </a:prstGeom>
        </p:spPr>
        <p:txBody>
          <a:bodyPr xmlns:a="http://schemas.openxmlformats.org/drawingml/2006/main" wrap="square" lIns="0" tIns="0" rIns="0" bIns="0" anchor="t">
            <a:normAutofit fontScale="96473"/>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L1RawSemanticOutput is immutable and fully traced</a:t>
            </a:r>
          </a:p>
        </p:txBody>
      </p:sp>
      <p:sp>
        <p:nvSpPr>
          <p:cNvPr id="41" name="text-650-593">
            <a:extLst xmlns:a="http://schemas.openxmlformats.org/drawingml/2006/main">
              <a:ext uri="{FF2B5EF4-FFF2-40B4-BE49-F238E27FC236}">
                <a16:creationId xmlns:a16="http://schemas.microsoft.com/office/drawing/2014/main" id="{78B230B8-BCC1-4534-8E62-AD12DE0FCB0D}"/>
              </a:ext>
            </a:extLst>
          </p:cNvPr>
          <p:cNvSpPr>
            <a:spLocks xmlns:a="http://schemas.openxmlformats.org/drawingml/2006/main" noGrp="1"/>
          </p:cNvSpPr>
          <p:nvPr/>
        </p:nvSpPr>
        <p:spPr>
          <a:xfrm xmlns:a="http://schemas.openxmlformats.org/drawingml/2006/main">
            <a:off x="6191250" y="5648325"/>
            <a:ext cx="10668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B25D00"/>
                </a:solidFill>
                <a:latin typeface="Helvetica Neue"/>
                <a:ea typeface="Helvetica Neue"/>
                <a:cs typeface="Helvetica Neue"/>
              </a:defRPr>
            </a:pPr>
            <a:r>
              <a:t>NOT OWNED</a:t>
            </a:r>
          </a:p>
        </p:txBody>
      </p:sp>
      <p:sp>
        <p:nvSpPr>
          <p:cNvPr id="42" name="text-760-593">
            <a:extLst xmlns:a="http://schemas.openxmlformats.org/drawingml/2006/main">
              <a:ext uri="{FF2B5EF4-FFF2-40B4-BE49-F238E27FC236}">
                <a16:creationId xmlns:a16="http://schemas.microsoft.com/office/drawing/2014/main" id="{D6461CE0-5651-4641-A5AC-13692A7A746A}"/>
              </a:ext>
            </a:extLst>
          </p:cNvPr>
          <p:cNvSpPr>
            <a:spLocks xmlns:a="http://schemas.openxmlformats.org/drawingml/2006/main" noGrp="1"/>
          </p:cNvSpPr>
          <p:nvPr/>
        </p:nvSpPr>
        <p:spPr>
          <a:xfrm xmlns:a="http://schemas.openxmlformats.org/drawingml/2006/main">
            <a:off x="7239000" y="5648325"/>
            <a:ext cx="40576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00000"/>
                </a:solidFill>
                <a:latin typeface="Helvetica Neue"/>
                <a:ea typeface="Helvetica Neue"/>
                <a:cs typeface="Helvetica Neue"/>
              </a:defRPr>
            </a:pPr>
            <a:r>
              <a:t>grounding + audit, history, retry policy, STOP / RESTART</a:t>
            </a:r>
          </a:p>
        </p:txBody>
      </p:sp>
    </p:spTree>
    <p:extLst>
      <p:ext uri="{BB962C8B-B14F-4D97-AF65-F5344CB8AC3E}">
        <p14:creationId xmlns:p14="http://schemas.microsoft.com/office/powerpoint/2010/main" val="152350585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L1 INPUT</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Declared restart context defines the next attempt</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SUPPLIED BY NVRx + ANALYZER</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not inferred from the log</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90398"/>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Next-attempt facts</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The unchanged workload crosses a declared restart transition</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Workload + configuration unchanged</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Process-local state recreated</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Normal restart delay applies</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Hardware allocation may change</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External-service state may change</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None of these facts promises recovery</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Why L1 needs it</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Judge recovery under explicit conditions</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Port bind may clear after teardown</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Node fault may disappear on reallocation</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Bad data can repeat unchanged</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Context informs; L4 decides</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RULE  MAY change is not evidence that state WILL change.</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The context is traced with every L1 request.</a:t>
            </a:r>
          </a:p>
        </p:txBody>
      </p:sp>
    </p:spTree>
    <p:extLst>
      <p:ext uri="{BB962C8B-B14F-4D97-AF65-F5344CB8AC3E}">
        <p14:creationId xmlns:p14="http://schemas.microsoft.com/office/powerpoint/2010/main" val="10623063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L1 TOOLS</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The tool profile exposes concrete read-only operations</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DEFAULT TOOL-ENABLED PROFILE</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same shape in production + evaluation</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80661"/>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Advertised by default</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Use only when L0B is missing evidence needed for assessment</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overview()</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grep_log(pattern)</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read_window(start, end)</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Log structure, metadata, and progress</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Find matching lines across the raw log</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Read a bounded original-log excerpt</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Available, default off</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Implemented for controlled A/B evaluation</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get_evidence_objects(ids)</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Fetch retained typed L0A objects</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Not advertised by default</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Enable through the route profile</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TRACE  name • arguments • returned lines/objects • latency • tokens</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Tool use is an optimization signal, not the main analysis path.</a:t>
            </a:r>
          </a:p>
        </p:txBody>
      </p:sp>
    </p:spTree>
    <p:extLst>
      <p:ext uri="{BB962C8B-B14F-4D97-AF65-F5344CB8AC3E}">
        <p14:creationId xmlns:p14="http://schemas.microsoft.com/office/powerpoint/2010/main" val="1062306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ext-42-26">
            <a:extLst xmlns:a="http://schemas.openxmlformats.org/drawingml/2006/main">
              <a:ext uri="{FF2B5EF4-FFF2-40B4-BE49-F238E27FC236}">
                <a16:creationId xmlns:a16="http://schemas.microsoft.com/office/drawing/2014/main" id="{A8D87286-607C-4520-A097-C0294F7098A8}"/>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L1 OUTPUT</a:t>
            </a:r>
          </a:p>
        </p:txBody>
      </p:sp>
      <p:sp>
        <p:nvSpPr>
          <p:cNvPr id="2" name="text-42-54">
            <a:extLst xmlns:a="http://schemas.openxmlformats.org/drawingml/2006/main">
              <a:ext uri="{FF2B5EF4-FFF2-40B4-BE49-F238E27FC236}">
                <a16:creationId xmlns:a16="http://schemas.microsoft.com/office/drawing/2014/main" id="{F0632451-F307-43AD-9F81-B62FC37CA4AF}"/>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L1 emits semantics; it does not repeat its input context</a:t>
            </a:r>
          </a:p>
        </p:txBody>
      </p:sp>
      <p:sp>
        <p:nvSpPr>
          <p:cNvPr id="3" name="line-42-133">
            <a:extLst xmlns:a="http://schemas.openxmlformats.org/drawingml/2006/main">
              <a:ext uri="{FF2B5EF4-FFF2-40B4-BE49-F238E27FC236}">
                <a16:creationId xmlns:a16="http://schemas.microsoft.com/office/drawing/2014/main" id="{48E7CC37-F360-42FB-976F-0105ED811414}"/>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78">
            <a:extLst xmlns:a="http://schemas.openxmlformats.org/drawingml/2006/main">
              <a:ext uri="{FF2B5EF4-FFF2-40B4-BE49-F238E27FC236}">
                <a16:creationId xmlns:a16="http://schemas.microsoft.com/office/drawing/2014/main" id="{E5230AB0-53E8-48CE-A1C8-FEF60B751AE2}"/>
              </a:ext>
            </a:extLst>
          </p:cNvPr>
          <p:cNvSpPr>
            <a:spLocks xmlns:a="http://schemas.openxmlformats.org/drawingml/2006/main" noGrp="1"/>
          </p:cNvSpPr>
          <p:nvPr/>
        </p:nvSpPr>
        <p:spPr>
          <a:xfrm xmlns:a="http://schemas.openxmlformats.org/drawingml/2006/main">
            <a:off x="590550" y="1695450"/>
            <a:ext cx="333375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5" name="text-82-204">
            <a:extLst xmlns:a="http://schemas.openxmlformats.org/drawingml/2006/main">
              <a:ext uri="{FF2B5EF4-FFF2-40B4-BE49-F238E27FC236}">
                <a16:creationId xmlns:a16="http://schemas.microsoft.com/office/drawing/2014/main" id="{6B017EA0-1288-40DF-8DF2-F518BD54055C}"/>
              </a:ext>
            </a:extLst>
          </p:cNvPr>
          <p:cNvSpPr>
            <a:spLocks xmlns:a="http://schemas.openxmlformats.org/drawingml/2006/main" noGrp="1"/>
          </p:cNvSpPr>
          <p:nvPr/>
        </p:nvSpPr>
        <p:spPr>
          <a:xfrm xmlns:a="http://schemas.openxmlformats.org/drawingml/2006/main">
            <a:off x="781050" y="1943100"/>
            <a:ext cx="29527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Observed failure + RCA</a:t>
            </a:r>
          </a:p>
        </p:txBody>
      </p:sp>
      <p:sp>
        <p:nvSpPr>
          <p:cNvPr id="6" name="text-82-248">
            <a:extLst xmlns:a="http://schemas.openxmlformats.org/drawingml/2006/main">
              <a:ext uri="{FF2B5EF4-FFF2-40B4-BE49-F238E27FC236}">
                <a16:creationId xmlns:a16="http://schemas.microsoft.com/office/drawing/2014/main" id="{A908C30F-F781-41F3-B07D-FEAE6D3CDD76}"/>
              </a:ext>
            </a:extLst>
          </p:cNvPr>
          <p:cNvSpPr>
            <a:spLocks xmlns:a="http://schemas.openxmlformats.org/drawingml/2006/main" noGrp="1"/>
          </p:cNvSpPr>
          <p:nvPr/>
        </p:nvSpPr>
        <p:spPr>
          <a:xfrm xmlns:a="http://schemas.openxmlformats.org/drawingml/2006/main">
            <a:off x="781050" y="2362200"/>
            <a:ext cx="2952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What happened, and how certain?</a:t>
            </a:r>
          </a:p>
        </p:txBody>
      </p:sp>
      <p:sp>
        <p:nvSpPr>
          <p:cNvPr id="7" name="dot-82-312">
            <a:extLst xmlns:a="http://schemas.openxmlformats.org/drawingml/2006/main">
              <a:ext uri="{FF2B5EF4-FFF2-40B4-BE49-F238E27FC236}">
                <a16:creationId xmlns:a16="http://schemas.microsoft.com/office/drawing/2014/main" id="{5F365050-1EE5-4A5B-8DE7-2F13D04B46E6}"/>
              </a:ext>
            </a:extLst>
          </p:cNvPr>
          <p:cNvSpPr>
            <a:spLocks xmlns:a="http://schemas.openxmlformats.org/drawingml/2006/main" noGrp="1"/>
          </p:cNvSpPr>
          <p:nvPr/>
        </p:nvSpPr>
        <p:spPr>
          <a:xfrm xmlns:a="http://schemas.openxmlformats.org/drawingml/2006/main">
            <a:off x="781050" y="29718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102-304">
            <a:extLst xmlns:a="http://schemas.openxmlformats.org/drawingml/2006/main">
              <a:ext uri="{FF2B5EF4-FFF2-40B4-BE49-F238E27FC236}">
                <a16:creationId xmlns:a16="http://schemas.microsoft.com/office/drawing/2014/main" id="{478F66C6-1022-4395-B5E7-57C6B571BD42}"/>
              </a:ext>
            </a:extLst>
          </p:cNvPr>
          <p:cNvSpPr>
            <a:spLocks xmlns:a="http://schemas.openxmlformats.org/drawingml/2006/main" noGrp="1"/>
          </p:cNvSpPr>
          <p:nvPr/>
        </p:nvSpPr>
        <p:spPr>
          <a:xfrm xmlns:a="http://schemas.openxmlformats.org/drawingml/2006/main">
            <a:off x="971550" y="2895600"/>
            <a:ext cx="2762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mechanism, anchor, causal role</a:t>
            </a:r>
          </a:p>
        </p:txBody>
      </p:sp>
      <p:sp>
        <p:nvSpPr>
          <p:cNvPr id="9" name="dot-82-366">
            <a:extLst xmlns:a="http://schemas.openxmlformats.org/drawingml/2006/main">
              <a:ext uri="{FF2B5EF4-FFF2-40B4-BE49-F238E27FC236}">
                <a16:creationId xmlns:a16="http://schemas.microsoft.com/office/drawing/2014/main" id="{BBC53DC0-31CC-49E2-B6A9-A7A07760AD52}"/>
              </a:ext>
            </a:extLst>
          </p:cNvPr>
          <p:cNvSpPr>
            <a:spLocks xmlns:a="http://schemas.openxmlformats.org/drawingml/2006/main" noGrp="1"/>
          </p:cNvSpPr>
          <p:nvPr/>
        </p:nvSpPr>
        <p:spPr>
          <a:xfrm xmlns:a="http://schemas.openxmlformats.org/drawingml/2006/main">
            <a:off x="781050" y="34861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102-358">
            <a:extLst xmlns:a="http://schemas.openxmlformats.org/drawingml/2006/main">
              <a:ext uri="{FF2B5EF4-FFF2-40B4-BE49-F238E27FC236}">
                <a16:creationId xmlns:a16="http://schemas.microsoft.com/office/drawing/2014/main" id="{1EEFF1D9-85E4-4074-B564-14AE7E12C7A8}"/>
              </a:ext>
            </a:extLst>
          </p:cNvPr>
          <p:cNvSpPr>
            <a:spLocks xmlns:a="http://schemas.openxmlformats.org/drawingml/2006/main" noGrp="1"/>
          </p:cNvSpPr>
          <p:nvPr/>
        </p:nvSpPr>
        <p:spPr>
          <a:xfrm xmlns:a="http://schemas.openxmlformats.org/drawingml/2006/main">
            <a:off x="971550" y="3409950"/>
            <a:ext cx="2762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RCA status, alternatives, missing evidence</a:t>
            </a:r>
          </a:p>
        </p:txBody>
      </p:sp>
      <p:sp>
        <p:nvSpPr>
          <p:cNvPr id="11" name="dot-82-420">
            <a:extLst xmlns:a="http://schemas.openxmlformats.org/drawingml/2006/main">
              <a:ext uri="{FF2B5EF4-FFF2-40B4-BE49-F238E27FC236}">
                <a16:creationId xmlns:a16="http://schemas.microsoft.com/office/drawing/2014/main" id="{C36B764D-7CF2-4E09-BFD4-CE48C1256881}"/>
              </a:ext>
            </a:extLst>
          </p:cNvPr>
          <p:cNvSpPr>
            <a:spLocks xmlns:a="http://schemas.openxmlformats.org/drawingml/2006/main" noGrp="1"/>
          </p:cNvSpPr>
          <p:nvPr/>
        </p:nvSpPr>
        <p:spPr>
          <a:xfrm xmlns:a="http://schemas.openxmlformats.org/drawingml/2006/main">
            <a:off x="781050" y="40005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text-102-412">
            <a:extLst xmlns:a="http://schemas.openxmlformats.org/drawingml/2006/main">
              <a:ext uri="{FF2B5EF4-FFF2-40B4-BE49-F238E27FC236}">
                <a16:creationId xmlns:a16="http://schemas.microsoft.com/office/drawing/2014/main" id="{9793980E-C252-40B7-A7D9-E297AFEFA2F4}"/>
              </a:ext>
            </a:extLst>
          </p:cNvPr>
          <p:cNvSpPr>
            <a:spLocks xmlns:a="http://schemas.openxmlformats.org/drawingml/2006/main" noGrp="1"/>
          </p:cNvSpPr>
          <p:nvPr/>
        </p:nvSpPr>
        <p:spPr>
          <a:xfrm xmlns:a="http://schemas.openxmlformats.org/drawingml/2006/main">
            <a:off x="971550" y="3924300"/>
            <a:ext cx="2762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Related failures, citations, justification</a:t>
            </a:r>
          </a:p>
        </p:txBody>
      </p:sp>
      <p:sp>
        <p:nvSpPr>
          <p:cNvPr id="13" name="box-444-178">
            <a:extLst xmlns:a="http://schemas.openxmlformats.org/drawingml/2006/main">
              <a:ext uri="{FF2B5EF4-FFF2-40B4-BE49-F238E27FC236}">
                <a16:creationId xmlns:a16="http://schemas.microsoft.com/office/drawing/2014/main" id="{B65F7922-B272-491A-A81D-F1C324E07E54}"/>
              </a:ext>
            </a:extLst>
          </p:cNvPr>
          <p:cNvSpPr>
            <a:spLocks xmlns:a="http://schemas.openxmlformats.org/drawingml/2006/main" noGrp="1"/>
          </p:cNvSpPr>
          <p:nvPr/>
        </p:nvSpPr>
        <p:spPr>
          <a:xfrm xmlns:a="http://schemas.openxmlformats.org/drawingml/2006/main">
            <a:off x="4229100" y="1695450"/>
            <a:ext cx="333375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4" name="text-464-204">
            <a:extLst xmlns:a="http://schemas.openxmlformats.org/drawingml/2006/main">
              <a:ext uri="{FF2B5EF4-FFF2-40B4-BE49-F238E27FC236}">
                <a16:creationId xmlns:a16="http://schemas.microsoft.com/office/drawing/2014/main" id="{E1EC8AA5-288C-4A2F-9581-E9E6B1901417}"/>
              </a:ext>
            </a:extLst>
          </p:cNvPr>
          <p:cNvSpPr>
            <a:spLocks xmlns:a="http://schemas.openxmlformats.org/drawingml/2006/main" noGrp="1"/>
          </p:cNvSpPr>
          <p:nvPr/>
        </p:nvSpPr>
        <p:spPr>
          <a:xfrm xmlns:a="http://schemas.openxmlformats.org/drawingml/2006/main">
            <a:off x="4419600" y="1943100"/>
            <a:ext cx="295275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Two recovery claims</a:t>
            </a:r>
          </a:p>
        </p:txBody>
      </p:sp>
      <p:sp>
        <p:nvSpPr>
          <p:cNvPr id="15" name="text-464-248">
            <a:extLst xmlns:a="http://schemas.openxmlformats.org/drawingml/2006/main">
              <a:ext uri="{FF2B5EF4-FFF2-40B4-BE49-F238E27FC236}">
                <a16:creationId xmlns:a16="http://schemas.microsoft.com/office/drawing/2014/main" id="{7114DFBD-7AB7-4FDE-8756-192634FA05D9}"/>
              </a:ext>
            </a:extLst>
          </p:cNvPr>
          <p:cNvSpPr>
            <a:spLocks xmlns:a="http://schemas.openxmlformats.org/drawingml/2006/main" noGrp="1"/>
          </p:cNvSpPr>
          <p:nvPr/>
        </p:nvSpPr>
        <p:spPr>
          <a:xfrm xmlns:a="http://schemas.openxmlformats.org/drawingml/2006/main">
            <a:off x="4419600" y="2362200"/>
            <a:ext cx="2952750" cy="247650"/>
          </a:xfrm>
          <a:prstGeom xmlns:a="http://schemas.openxmlformats.org/drawingml/2006/main" prst="rect">
            <a:avLst/>
          </a:prstGeom>
        </p:spPr>
        <p:txBody>
          <a:bodyPr xmlns:a="http://schemas.openxmlformats.org/drawingml/2006/main" wrap="square" lIns="0" tIns="0" rIns="0" bIns="0" anchor="t">
            <a:normAutofit fontScale="89478"/>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What does the next unchanged attempt face?</a:t>
            </a:r>
          </a:p>
        </p:txBody>
      </p:sp>
      <p:sp>
        <p:nvSpPr>
          <p:cNvPr id="16" name="dot-464-312">
            <a:extLst xmlns:a="http://schemas.openxmlformats.org/drawingml/2006/main">
              <a:ext uri="{FF2B5EF4-FFF2-40B4-BE49-F238E27FC236}">
                <a16:creationId xmlns:a16="http://schemas.microsoft.com/office/drawing/2014/main" id="{534B0A96-73EC-4811-9024-D372EC7F3C39}"/>
              </a:ext>
            </a:extLst>
          </p:cNvPr>
          <p:cNvSpPr>
            <a:spLocks xmlns:a="http://schemas.openxmlformats.org/drawingml/2006/main" noGrp="1"/>
          </p:cNvSpPr>
          <p:nvPr/>
        </p:nvSpPr>
        <p:spPr>
          <a:xfrm xmlns:a="http://schemas.openxmlformats.org/drawingml/2006/main">
            <a:off x="4419600" y="29718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84-304">
            <a:extLst xmlns:a="http://schemas.openxmlformats.org/drawingml/2006/main">
              <a:ext uri="{FF2B5EF4-FFF2-40B4-BE49-F238E27FC236}">
                <a16:creationId xmlns:a16="http://schemas.microsoft.com/office/drawing/2014/main" id="{51A5A6D6-C024-4BA0-89F2-1D3AA96E2273}"/>
              </a:ext>
            </a:extLst>
          </p:cNvPr>
          <p:cNvSpPr>
            <a:spLocks xmlns:a="http://schemas.openxmlformats.org/drawingml/2006/main" noGrp="1"/>
          </p:cNvSpPr>
          <p:nvPr/>
        </p:nvSpPr>
        <p:spPr>
          <a:xfrm xmlns:a="http://schemas.openxmlformats.org/drawingml/2006/main">
            <a:off x="4610100" y="2895600"/>
            <a:ext cx="2762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failure_domain
{value, status, confidence}</a:t>
            </a:r>
          </a:p>
        </p:txBody>
      </p:sp>
      <p:sp>
        <p:nvSpPr>
          <p:cNvPr id="18" name="dot-464-366">
            <a:extLst xmlns:a="http://schemas.openxmlformats.org/drawingml/2006/main">
              <a:ext uri="{FF2B5EF4-FFF2-40B4-BE49-F238E27FC236}">
                <a16:creationId xmlns:a16="http://schemas.microsoft.com/office/drawing/2014/main" id="{DC5EE61E-F42A-4E57-A128-7D2C93ABB499}"/>
              </a:ext>
            </a:extLst>
          </p:cNvPr>
          <p:cNvSpPr>
            <a:spLocks xmlns:a="http://schemas.openxmlformats.org/drawingml/2006/main" noGrp="1"/>
          </p:cNvSpPr>
          <p:nvPr/>
        </p:nvSpPr>
        <p:spPr>
          <a:xfrm xmlns:a="http://schemas.openxmlformats.org/drawingml/2006/main">
            <a:off x="4419600" y="34861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84-358">
            <a:extLst xmlns:a="http://schemas.openxmlformats.org/drawingml/2006/main">
              <a:ext uri="{FF2B5EF4-FFF2-40B4-BE49-F238E27FC236}">
                <a16:creationId xmlns:a16="http://schemas.microsoft.com/office/drawing/2014/main" id="{EC24A5EE-088F-48F5-B059-5F5658C02F1A}"/>
              </a:ext>
            </a:extLst>
          </p:cNvPr>
          <p:cNvSpPr>
            <a:spLocks xmlns:a="http://schemas.openxmlformats.org/drawingml/2006/main" noGrp="1"/>
          </p:cNvSpPr>
          <p:nvPr/>
        </p:nvSpPr>
        <p:spPr>
          <a:xfrm xmlns:a="http://schemas.openxmlformats.org/drawingml/2006/main">
            <a:off x="4610100" y="3409950"/>
            <a:ext cx="2762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retry_outlook_without_
workload_change</a:t>
            </a:r>
          </a:p>
        </p:txBody>
      </p:sp>
      <p:sp>
        <p:nvSpPr>
          <p:cNvPr id="20" name="dot-464-420">
            <a:extLst xmlns:a="http://schemas.openxmlformats.org/drawingml/2006/main">
              <a:ext uri="{FF2B5EF4-FFF2-40B4-BE49-F238E27FC236}">
                <a16:creationId xmlns:a16="http://schemas.microsoft.com/office/drawing/2014/main" id="{6D504D57-4D16-4F8E-A1AA-FF47B5439676}"/>
              </a:ext>
            </a:extLst>
          </p:cNvPr>
          <p:cNvSpPr>
            <a:spLocks xmlns:a="http://schemas.openxmlformats.org/drawingml/2006/main" noGrp="1"/>
          </p:cNvSpPr>
          <p:nvPr/>
        </p:nvSpPr>
        <p:spPr>
          <a:xfrm xmlns:a="http://schemas.openxmlformats.org/drawingml/2006/main">
            <a:off x="4419600" y="40005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84-412">
            <a:extLst xmlns:a="http://schemas.openxmlformats.org/drawingml/2006/main">
              <a:ext uri="{FF2B5EF4-FFF2-40B4-BE49-F238E27FC236}">
                <a16:creationId xmlns:a16="http://schemas.microsoft.com/office/drawing/2014/main" id="{80AB233F-896C-424E-B405-35DC2F3E811C}"/>
              </a:ext>
            </a:extLst>
          </p:cNvPr>
          <p:cNvSpPr>
            <a:spLocks xmlns:a="http://schemas.openxmlformats.org/drawingml/2006/main" noGrp="1"/>
          </p:cNvSpPr>
          <p:nvPr/>
        </p:nvSpPr>
        <p:spPr>
          <a:xfrm xmlns:a="http://schemas.openxmlformats.org/drawingml/2006/main">
            <a:off x="4610100" y="3924300"/>
            <a:ext cx="2762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shared rationale for both claims</a:t>
            </a:r>
          </a:p>
        </p:txBody>
      </p:sp>
      <p:sp>
        <p:nvSpPr>
          <p:cNvPr id="22" name="box-826-178">
            <a:extLst xmlns:a="http://schemas.openxmlformats.org/drawingml/2006/main">
              <a:ext uri="{FF2B5EF4-FFF2-40B4-BE49-F238E27FC236}">
                <a16:creationId xmlns:a16="http://schemas.microsoft.com/office/drawing/2014/main" id="{E485261B-E05F-4639-84FA-0722D7C968BE}"/>
              </a:ext>
            </a:extLst>
          </p:cNvPr>
          <p:cNvSpPr>
            <a:spLocks xmlns:a="http://schemas.openxmlformats.org/drawingml/2006/main" noGrp="1"/>
          </p:cNvSpPr>
          <p:nvPr/>
        </p:nvSpPr>
        <p:spPr>
          <a:xfrm xmlns:a="http://schemas.openxmlformats.org/drawingml/2006/main">
            <a:off x="7867650" y="1695450"/>
            <a:ext cx="36957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3" name="text-846-204">
            <a:extLst xmlns:a="http://schemas.openxmlformats.org/drawingml/2006/main">
              <a:ext uri="{FF2B5EF4-FFF2-40B4-BE49-F238E27FC236}">
                <a16:creationId xmlns:a16="http://schemas.microsoft.com/office/drawing/2014/main" id="{8DF1EC1C-E00C-4D3C-B3CC-49AA168B5D21}"/>
              </a:ext>
            </a:extLst>
          </p:cNvPr>
          <p:cNvSpPr>
            <a:spLocks xmlns:a="http://schemas.openxmlformats.org/drawingml/2006/main" noGrp="1"/>
          </p:cNvSpPr>
          <p:nvPr/>
        </p:nvSpPr>
        <p:spPr>
          <a:xfrm xmlns:a="http://schemas.openxmlformats.org/drawingml/2006/main">
            <a:off x="8058150" y="1943100"/>
            <a:ext cx="33147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Evidence + calibration</a:t>
            </a:r>
          </a:p>
        </p:txBody>
      </p:sp>
      <p:sp>
        <p:nvSpPr>
          <p:cNvPr id="24" name="text-846-248">
            <a:extLst xmlns:a="http://schemas.openxmlformats.org/drawingml/2006/main">
              <a:ext uri="{FF2B5EF4-FFF2-40B4-BE49-F238E27FC236}">
                <a16:creationId xmlns:a16="http://schemas.microsoft.com/office/drawing/2014/main" id="{CBB1540E-5D62-4FEC-9383-C6F1545A43F6}"/>
              </a:ext>
            </a:extLst>
          </p:cNvPr>
          <p:cNvSpPr>
            <a:spLocks xmlns:a="http://schemas.openxmlformats.org/drawingml/2006/main" noGrp="1"/>
          </p:cNvSpPr>
          <p:nvPr/>
        </p:nvSpPr>
        <p:spPr>
          <a:xfrm xmlns:a="http://schemas.openxmlformats.org/drawingml/2006/main">
            <a:off x="8058150" y="2362200"/>
            <a:ext cx="33147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How strongly is the assessment supported?</a:t>
            </a:r>
          </a:p>
        </p:txBody>
      </p:sp>
      <p:sp>
        <p:nvSpPr>
          <p:cNvPr id="25" name="dot-846-312">
            <a:extLst xmlns:a="http://schemas.openxmlformats.org/drawingml/2006/main">
              <a:ext uri="{FF2B5EF4-FFF2-40B4-BE49-F238E27FC236}">
                <a16:creationId xmlns:a16="http://schemas.microsoft.com/office/drawing/2014/main" id="{A901F23A-E9BA-4E74-BD16-7FEE9C95443B}"/>
              </a:ext>
            </a:extLst>
          </p:cNvPr>
          <p:cNvSpPr>
            <a:spLocks xmlns:a="http://schemas.openxmlformats.org/drawingml/2006/main" noGrp="1"/>
          </p:cNvSpPr>
          <p:nvPr/>
        </p:nvSpPr>
        <p:spPr>
          <a:xfrm xmlns:a="http://schemas.openxmlformats.org/drawingml/2006/main">
            <a:off x="8058150" y="29718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866-304">
            <a:extLst xmlns:a="http://schemas.openxmlformats.org/drawingml/2006/main">
              <a:ext uri="{FF2B5EF4-FFF2-40B4-BE49-F238E27FC236}">
                <a16:creationId xmlns:a16="http://schemas.microsoft.com/office/drawing/2014/main" id="{EBFC1CC0-E352-445A-9CC3-3A026164E982}"/>
              </a:ext>
            </a:extLst>
          </p:cNvPr>
          <p:cNvSpPr>
            <a:spLocks xmlns:a="http://schemas.openxmlformats.org/drawingml/2006/main" noGrp="1"/>
          </p:cNvSpPr>
          <p:nvPr/>
        </p:nvSpPr>
        <p:spPr>
          <a:xfrm xmlns:a="http://schemas.openxmlformats.org/drawingml/2006/main">
            <a:off x="8248650" y="2895600"/>
            <a:ext cx="31242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claim-tagged citations + causal roles</a:t>
            </a:r>
          </a:p>
        </p:txBody>
      </p:sp>
      <p:sp>
        <p:nvSpPr>
          <p:cNvPr id="27" name="dot-846-366">
            <a:extLst xmlns:a="http://schemas.openxmlformats.org/drawingml/2006/main">
              <a:ext uri="{FF2B5EF4-FFF2-40B4-BE49-F238E27FC236}">
                <a16:creationId xmlns:a16="http://schemas.microsoft.com/office/drawing/2014/main" id="{885780B4-E1EC-4058-8009-24DBC4A834ED}"/>
              </a:ext>
            </a:extLst>
          </p:cNvPr>
          <p:cNvSpPr>
            <a:spLocks xmlns:a="http://schemas.openxmlformats.org/drawingml/2006/main" noGrp="1"/>
          </p:cNvSpPr>
          <p:nvPr/>
        </p:nvSpPr>
        <p:spPr>
          <a:xfrm xmlns:a="http://schemas.openxmlformats.org/drawingml/2006/main">
            <a:off x="8058150" y="34861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866-358">
            <a:extLst xmlns:a="http://schemas.openxmlformats.org/drawingml/2006/main">
              <a:ext uri="{FF2B5EF4-FFF2-40B4-BE49-F238E27FC236}">
                <a16:creationId xmlns:a16="http://schemas.microsoft.com/office/drawing/2014/main" id="{9B948A92-D73E-4EAC-9C1D-62871870489D}"/>
              </a:ext>
            </a:extLst>
          </p:cNvPr>
          <p:cNvSpPr>
            <a:spLocks xmlns:a="http://schemas.openxmlformats.org/drawingml/2006/main" noGrp="1"/>
          </p:cNvSpPr>
          <p:nvPr/>
        </p:nvSpPr>
        <p:spPr>
          <a:xfrm xmlns:a="http://schemas.openxmlformats.org/drawingml/2006/main">
            <a:off x="8248650" y="3409950"/>
            <a:ext cx="31242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plausible causes + missing evidence</a:t>
            </a:r>
          </a:p>
        </p:txBody>
      </p:sp>
      <p:sp>
        <p:nvSpPr>
          <p:cNvPr id="29" name="dot-846-420">
            <a:extLst xmlns:a="http://schemas.openxmlformats.org/drawingml/2006/main">
              <a:ext uri="{FF2B5EF4-FFF2-40B4-BE49-F238E27FC236}">
                <a16:creationId xmlns:a16="http://schemas.microsoft.com/office/drawing/2014/main" id="{E7084357-41F7-4D79-A608-FB4F99E8B1C1}"/>
              </a:ext>
            </a:extLst>
          </p:cNvPr>
          <p:cNvSpPr>
            <a:spLocks xmlns:a="http://schemas.openxmlformats.org/drawingml/2006/main" noGrp="1"/>
          </p:cNvSpPr>
          <p:nvPr/>
        </p:nvSpPr>
        <p:spPr>
          <a:xfrm xmlns:a="http://schemas.openxmlformats.org/drawingml/2006/main">
            <a:off x="8058150" y="40005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0" name="text-866-412">
            <a:extLst xmlns:a="http://schemas.openxmlformats.org/drawingml/2006/main">
              <a:ext uri="{FF2B5EF4-FFF2-40B4-BE49-F238E27FC236}">
                <a16:creationId xmlns:a16="http://schemas.microsoft.com/office/drawing/2014/main" id="{48F4234D-E824-4D16-BAC3-2166AE3BEF11}"/>
              </a:ext>
            </a:extLst>
          </p:cNvPr>
          <p:cNvSpPr>
            <a:spLocks xmlns:a="http://schemas.openxmlformats.org/drawingml/2006/main" noGrp="1"/>
          </p:cNvSpPr>
          <p:nvPr/>
        </p:nvSpPr>
        <p:spPr>
          <a:xfrm xmlns:a="http://schemas.openxmlformats.org/drawingml/2006/main">
            <a:off x="8248650" y="3924300"/>
            <a:ext cx="31242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independent confidence per claim</a:t>
            </a:r>
          </a:p>
        </p:txBody>
      </p:sp>
      <p:sp>
        <p:nvSpPr>
          <p:cNvPr id="31" name="box-62-520">
            <a:extLst xmlns:a="http://schemas.openxmlformats.org/drawingml/2006/main">
              <a:ext uri="{FF2B5EF4-FFF2-40B4-BE49-F238E27FC236}">
                <a16:creationId xmlns:a16="http://schemas.microsoft.com/office/drawing/2014/main" id="{33741E5B-6736-4439-B057-6036DFC6A987}"/>
              </a:ext>
            </a:extLst>
          </p:cNvPr>
          <p:cNvSpPr>
            <a:spLocks xmlns:a="http://schemas.openxmlformats.org/drawingml/2006/main" noGrp="1"/>
          </p:cNvSpPr>
          <p:nvPr/>
        </p:nvSpPr>
        <p:spPr>
          <a:xfrm xmlns:a="http://schemas.openxmlformats.org/drawingml/2006/main">
            <a:off x="590550" y="4953000"/>
            <a:ext cx="10972800" cy="12001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2" name="text-84-542">
            <a:extLst xmlns:a="http://schemas.openxmlformats.org/drawingml/2006/main">
              <a:ext uri="{FF2B5EF4-FFF2-40B4-BE49-F238E27FC236}">
                <a16:creationId xmlns:a16="http://schemas.microsoft.com/office/drawing/2014/main" id="{C25F95DF-DCB4-4ABE-A13A-5312DB8E1283}"/>
              </a:ext>
            </a:extLst>
          </p:cNvPr>
          <p:cNvSpPr>
            <a:spLocks xmlns:a="http://schemas.openxmlformats.org/drawingml/2006/main" noGrp="1"/>
          </p:cNvSpPr>
          <p:nvPr/>
        </p:nvSpPr>
        <p:spPr>
          <a:xfrm xmlns:a="http://schemas.openxmlformats.org/drawingml/2006/main">
            <a:off x="800100" y="5162550"/>
            <a:ext cx="1714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L1 raw assessment</a:t>
            </a:r>
          </a:p>
        </p:txBody>
      </p:sp>
      <p:sp>
        <p:nvSpPr>
          <p:cNvPr id="33" name="arrow-266-544">
            <a:extLst xmlns:a="http://schemas.openxmlformats.org/drawingml/2006/main">
              <a:ext uri="{FF2B5EF4-FFF2-40B4-BE49-F238E27FC236}">
                <a16:creationId xmlns:a16="http://schemas.microsoft.com/office/drawing/2014/main" id="{18FC6094-AB74-41FD-B122-60E90FFE7C9C}"/>
              </a:ext>
            </a:extLst>
          </p:cNvPr>
          <p:cNvSpPr>
            <a:spLocks xmlns:a="http://schemas.openxmlformats.org/drawingml/2006/main" noGrp="1"/>
          </p:cNvSpPr>
          <p:nvPr/>
        </p:nvSpPr>
        <p:spPr>
          <a:xfrm xmlns:a="http://schemas.openxmlformats.org/drawingml/2006/main">
            <a:off x="2533650" y="5181600"/>
            <a:ext cx="285750" cy="1905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4" name="text-306-542">
            <a:extLst xmlns:a="http://schemas.openxmlformats.org/drawingml/2006/main">
              <a:ext uri="{FF2B5EF4-FFF2-40B4-BE49-F238E27FC236}">
                <a16:creationId xmlns:a16="http://schemas.microsoft.com/office/drawing/2014/main" id="{5B69BB87-8813-452E-9ED1-4765AEB89240}"/>
              </a:ext>
            </a:extLst>
          </p:cNvPr>
          <p:cNvSpPr>
            <a:spLocks xmlns:a="http://schemas.openxmlformats.org/drawingml/2006/main" noGrp="1"/>
          </p:cNvSpPr>
          <p:nvPr/>
        </p:nvSpPr>
        <p:spPr>
          <a:xfrm xmlns:a="http://schemas.openxmlformats.org/drawingml/2006/main">
            <a:off x="2914650" y="5162550"/>
            <a:ext cx="13525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L2 grounding</a:t>
            </a:r>
          </a:p>
        </p:txBody>
      </p:sp>
      <p:sp>
        <p:nvSpPr>
          <p:cNvPr id="35" name="arrow-450-544">
            <a:extLst xmlns:a="http://schemas.openxmlformats.org/drawingml/2006/main">
              <a:ext uri="{FF2B5EF4-FFF2-40B4-BE49-F238E27FC236}">
                <a16:creationId xmlns:a16="http://schemas.microsoft.com/office/drawing/2014/main" id="{B9B092EF-7C95-4801-A623-68825176DBD3}"/>
              </a:ext>
            </a:extLst>
          </p:cNvPr>
          <p:cNvSpPr>
            <a:spLocks xmlns:a="http://schemas.openxmlformats.org/drawingml/2006/main" noGrp="1"/>
          </p:cNvSpPr>
          <p:nvPr/>
        </p:nvSpPr>
        <p:spPr>
          <a:xfrm xmlns:a="http://schemas.openxmlformats.org/drawingml/2006/main">
            <a:off x="4286250" y="5181600"/>
            <a:ext cx="285750" cy="1905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6" name="text-490-542">
            <a:extLst xmlns:a="http://schemas.openxmlformats.org/drawingml/2006/main">
              <a:ext uri="{FF2B5EF4-FFF2-40B4-BE49-F238E27FC236}">
                <a16:creationId xmlns:a16="http://schemas.microsoft.com/office/drawing/2014/main" id="{E70D8AA2-F782-4DA7-9A5D-21BBD50C766A}"/>
              </a:ext>
            </a:extLst>
          </p:cNvPr>
          <p:cNvSpPr>
            <a:spLocks xmlns:a="http://schemas.openxmlformats.org/drawingml/2006/main" noGrp="1"/>
          </p:cNvSpPr>
          <p:nvPr/>
        </p:nvSpPr>
        <p:spPr>
          <a:xfrm xmlns:a="http://schemas.openxmlformats.org/drawingml/2006/main">
            <a:off x="4667250" y="5162550"/>
            <a:ext cx="11620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L3 history</a:t>
            </a:r>
          </a:p>
        </p:txBody>
      </p:sp>
      <p:sp>
        <p:nvSpPr>
          <p:cNvPr id="37" name="arrow-614-544">
            <a:extLst xmlns:a="http://schemas.openxmlformats.org/drawingml/2006/main">
              <a:ext uri="{FF2B5EF4-FFF2-40B4-BE49-F238E27FC236}">
                <a16:creationId xmlns:a16="http://schemas.microsoft.com/office/drawing/2014/main" id="{D2E3C3AC-F0E6-4686-A497-C43C2FA9A36B}"/>
              </a:ext>
            </a:extLst>
          </p:cNvPr>
          <p:cNvSpPr>
            <a:spLocks xmlns:a="http://schemas.openxmlformats.org/drawingml/2006/main" noGrp="1"/>
          </p:cNvSpPr>
          <p:nvPr/>
        </p:nvSpPr>
        <p:spPr>
          <a:xfrm xmlns:a="http://schemas.openxmlformats.org/drawingml/2006/main">
            <a:off x="5848350" y="5181600"/>
            <a:ext cx="285750" cy="1905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8" name="text-654-542">
            <a:extLst xmlns:a="http://schemas.openxmlformats.org/drawingml/2006/main">
              <a:ext uri="{FF2B5EF4-FFF2-40B4-BE49-F238E27FC236}">
                <a16:creationId xmlns:a16="http://schemas.microsoft.com/office/drawing/2014/main" id="{A0A19CB6-CE2D-43A0-A05E-06304B9B5329}"/>
              </a:ext>
            </a:extLst>
          </p:cNvPr>
          <p:cNvSpPr>
            <a:spLocks xmlns:a="http://schemas.openxmlformats.org/drawingml/2006/main" noGrp="1"/>
          </p:cNvSpPr>
          <p:nvPr/>
        </p:nvSpPr>
        <p:spPr>
          <a:xfrm xmlns:a="http://schemas.openxmlformats.org/drawingml/2006/main">
            <a:off x="6229350" y="5162550"/>
            <a:ext cx="21336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L4 deterministic policy</a:t>
            </a:r>
          </a:p>
        </p:txBody>
      </p:sp>
      <p:sp>
        <p:nvSpPr>
          <p:cNvPr id="39" name="text-886-542">
            <a:extLst xmlns:a="http://schemas.openxmlformats.org/drawingml/2006/main">
              <a:ext uri="{FF2B5EF4-FFF2-40B4-BE49-F238E27FC236}">
                <a16:creationId xmlns:a16="http://schemas.microsoft.com/office/drawing/2014/main" id="{F3EE90BA-BFE9-4B23-BD61-3BDB6918497F}"/>
              </a:ext>
            </a:extLst>
          </p:cNvPr>
          <p:cNvSpPr>
            <a:spLocks xmlns:a="http://schemas.openxmlformats.org/drawingml/2006/main" noGrp="1"/>
          </p:cNvSpPr>
          <p:nvPr/>
        </p:nvSpPr>
        <p:spPr>
          <a:xfrm xmlns:a="http://schemas.openxmlformats.org/drawingml/2006/main">
            <a:off x="8439150" y="5162550"/>
            <a:ext cx="2876550" cy="228600"/>
          </a:xfrm>
          <a:prstGeom xmlns:a="http://schemas.openxmlformats.org/drawingml/2006/main" prst="rect">
            <a:avLst/>
          </a:prstGeom>
        </p:spPr>
        <p:txBody>
          <a:bodyPr xmlns:a="http://schemas.openxmlformats.org/drawingml/2006/main" wrap="square" lIns="0" tIns="0" rIns="0" bIns="0" anchor="t">
            <a:normAutofit fontScale="88016"/>
          </a:bodyPr>
          <a:lstStyle xmlns:a="http://schemas.openxmlformats.org/drawingml/2006/main"/>
          <a:p xmlns:a="http://schemas.openxmlformats.org/drawingml/2006/main">
            <a:pPr algn="r">
              <a:buNone/>
              <a:defRPr sz="1200" b="1">
                <a:solidFill>
                  <a:srgbClr val="3D8DFF"/>
                </a:solidFill>
                <a:latin typeface="Helvetica Neue"/>
                <a:ea typeface="Helvetica Neue"/>
                <a:cs typeface="Helvetica Neue"/>
              </a:defRPr>
            </a:pPr>
            <a:r>
              <a:t>Only L4 emits retry policy + STOP / RESTART</a:t>
            </a:r>
          </a:p>
        </p:txBody>
      </p:sp>
      <p:sp>
        <p:nvSpPr>
          <p:cNvPr id="40" name="text-84-582">
            <a:extLst xmlns:a="http://schemas.openxmlformats.org/drawingml/2006/main">
              <a:ext uri="{FF2B5EF4-FFF2-40B4-BE49-F238E27FC236}">
                <a16:creationId xmlns:a16="http://schemas.microsoft.com/office/drawing/2014/main" id="{3932CDBD-A011-4117-B4CC-71DFBA87C01C}"/>
              </a:ext>
            </a:extLst>
          </p:cNvPr>
          <p:cNvSpPr>
            <a:spLocks xmlns:a="http://schemas.openxmlformats.org/drawingml/2006/main" noGrp="1"/>
          </p:cNvSpPr>
          <p:nvPr/>
        </p:nvSpPr>
        <p:spPr>
          <a:xfrm xmlns:a="http://schemas.openxmlformats.org/drawingml/2006/main">
            <a:off x="800100" y="5543550"/>
            <a:ext cx="11430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1D7A5B"/>
                </a:solidFill>
                <a:latin typeface="Helvetica Neue"/>
                <a:ea typeface="Helvetica Neue"/>
                <a:cs typeface="Helvetica Neue"/>
              </a:defRPr>
            </a:pPr>
            <a:r>
              <a:t>After L2</a:t>
            </a:r>
          </a:p>
        </p:txBody>
      </p:sp>
      <p:sp>
        <p:nvSpPr>
          <p:cNvPr id="41" name="text-204-582">
            <a:extLst xmlns:a="http://schemas.openxmlformats.org/drawingml/2006/main">
              <a:ext uri="{FF2B5EF4-FFF2-40B4-BE49-F238E27FC236}">
                <a16:creationId xmlns:a16="http://schemas.microsoft.com/office/drawing/2014/main" id="{E08340EF-E7EA-4E63-B33C-A0D3C4F24C24}"/>
              </a:ext>
            </a:extLst>
          </p:cNvPr>
          <p:cNvSpPr>
            <a:spLocks xmlns:a="http://schemas.openxmlformats.org/drawingml/2006/main" noGrp="1"/>
          </p:cNvSpPr>
          <p:nvPr/>
        </p:nvSpPr>
        <p:spPr>
          <a:xfrm xmlns:a="http://schemas.openxmlformats.org/drawingml/2006/main">
            <a:off x="1943100" y="5543550"/>
            <a:ext cx="93726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000000"/>
                </a:solidFill>
                <a:latin typeface="Courier New"/>
                <a:ea typeface="Courier New"/>
                <a:cs typeface="Courier New"/>
              </a:defRPr>
            </a:pPr>
            <a:r>
              <a:t>domain value/status | retry outlook value/status</a:t>
            </a:r>
          </a:p>
        </p:txBody>
      </p:sp>
      <p:sp>
        <p:nvSpPr>
          <p:cNvPr id="42" name="text-84-614">
            <a:extLst xmlns:a="http://schemas.openxmlformats.org/drawingml/2006/main">
              <a:ext uri="{FF2B5EF4-FFF2-40B4-BE49-F238E27FC236}">
                <a16:creationId xmlns:a16="http://schemas.microsoft.com/office/drawing/2014/main" id="{591B9628-EEF8-4332-9022-D3AA748BA925}"/>
              </a:ext>
            </a:extLst>
          </p:cNvPr>
          <p:cNvSpPr>
            <a:spLocks xmlns:a="http://schemas.openxmlformats.org/drawingml/2006/main" noGrp="1"/>
          </p:cNvSpPr>
          <p:nvPr/>
        </p:nvSpPr>
        <p:spPr>
          <a:xfrm xmlns:a="http://schemas.openxmlformats.org/drawingml/2006/main">
            <a:off x="800100" y="5848350"/>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5D6470"/>
                </a:solidFill>
                <a:latin typeface="Helvetica Neue"/>
                <a:ea typeface="Helvetica Neue"/>
                <a:cs typeface="Helvetica Neue"/>
              </a:defRPr>
            </a:pPr>
            <a:r>
              <a:t>Observe + calibrate</a:t>
            </a:r>
          </a:p>
        </p:txBody>
      </p:sp>
      <p:sp>
        <p:nvSpPr>
          <p:cNvPr id="43" name="text-234-614">
            <a:extLst xmlns:a="http://schemas.openxmlformats.org/drawingml/2006/main">
              <a:ext uri="{FF2B5EF4-FFF2-40B4-BE49-F238E27FC236}">
                <a16:creationId xmlns:a16="http://schemas.microsoft.com/office/drawing/2014/main" id="{A7AE2626-83B0-46FE-B398-8D8E5699A6B7}"/>
              </a:ext>
            </a:extLst>
          </p:cNvPr>
          <p:cNvSpPr>
            <a:spLocks xmlns:a="http://schemas.openxmlformats.org/drawingml/2006/main" noGrp="1"/>
          </p:cNvSpPr>
          <p:nvPr/>
        </p:nvSpPr>
        <p:spPr>
          <a:xfrm xmlns:a="http://schemas.openxmlformats.org/drawingml/2006/main">
            <a:off x="2228850" y="5848350"/>
            <a:ext cx="90868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Courier New"/>
                <a:ea typeface="Courier New"/>
                <a:cs typeface="Courier New"/>
              </a:defRPr>
            </a:pPr>
            <a:r>
              <a:t>claim confidences | RCA status</a:t>
            </a:r>
          </a:p>
        </p:txBody>
      </p:sp>
    </p:spTree>
    <p:extLst>
      <p:ext uri="{BB962C8B-B14F-4D97-AF65-F5344CB8AC3E}">
        <p14:creationId xmlns:p14="http://schemas.microsoft.com/office/powerpoint/2010/main" val="174794685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L1 EXAMPLE</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Checkpoint decode separates mechanism from recovery</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WORKED CHECKPOINT CASE / accepted primary = 12083</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root cause remains ambiguous</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Observed + gold</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One cycle identifies the mechanism, not durable corruption</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11800  iteration 418 completed</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12000  loading checkpoint metadata</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12083  UnicodeDecodeError</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12135  cleanup FileNotFoundError</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checkpoint_load</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Mechanism: metadata deserialization</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Acceptable L1 output</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No STOP / RESTART field</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domain: unknown / workload / infrastructure</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retry outlook: may_recover / unknown</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claim status: supported / unknown</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RCA: unknown or unconfirmed</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MEANING  A retry may succeed; this log alone does not prove corruption.</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L4 decides later, after L2 grounding and L3 history.</a:t>
            </a:r>
          </a:p>
        </p:txBody>
      </p:sp>
    </p:spTree>
    <p:extLst>
      <p:ext uri="{BB962C8B-B14F-4D97-AF65-F5344CB8AC3E}">
        <p14:creationId xmlns:p14="http://schemas.microsoft.com/office/powerpoint/2010/main" val="10623063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ext-42-26">
            <a:extLst xmlns:a="http://schemas.openxmlformats.org/drawingml/2006/main">
              <a:ext uri="{FF2B5EF4-FFF2-40B4-BE49-F238E27FC236}">
                <a16:creationId xmlns:a16="http://schemas.microsoft.com/office/drawing/2014/main" id="{930288FF-C910-4EAF-AA10-7450FB7B1D73}"/>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L1 PROMPT</a:t>
            </a:r>
          </a:p>
        </p:txBody>
      </p:sp>
      <p:sp>
        <p:nvSpPr>
          <p:cNvPr id="2" name="text-42-54">
            <a:extLst xmlns:a="http://schemas.openxmlformats.org/drawingml/2006/main">
              <a:ext uri="{FF2B5EF4-FFF2-40B4-BE49-F238E27FC236}">
                <a16:creationId xmlns:a16="http://schemas.microsoft.com/office/drawing/2014/main" id="{37EE0EA3-2080-44AC-A764-89F477F340BB}"/>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99208"/>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System contract and evidence payload have different jobs</a:t>
            </a:r>
          </a:p>
        </p:txBody>
      </p:sp>
      <p:sp>
        <p:nvSpPr>
          <p:cNvPr id="3" name="line-42-133">
            <a:extLst xmlns:a="http://schemas.openxmlformats.org/drawingml/2006/main">
              <a:ext uri="{FF2B5EF4-FFF2-40B4-BE49-F238E27FC236}">
                <a16:creationId xmlns:a16="http://schemas.microsoft.com/office/drawing/2014/main" id="{C14BD575-DCD3-4A84-A9B2-5612E12279C1}"/>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arrow-406-330">
            <a:extLst xmlns:a="http://schemas.openxmlformats.org/drawingml/2006/main">
              <a:ext uri="{FF2B5EF4-FFF2-40B4-BE49-F238E27FC236}">
                <a16:creationId xmlns:a16="http://schemas.microsoft.com/office/drawing/2014/main" id="{6BB3E94B-F8BE-4E7C-8634-7ACF2E6D4496}"/>
              </a:ext>
            </a:extLst>
          </p:cNvPr>
          <p:cNvSpPr>
            <a:spLocks xmlns:a="http://schemas.openxmlformats.org/drawingml/2006/main" noGrp="1"/>
          </p:cNvSpPr>
          <p:nvPr/>
        </p:nvSpPr>
        <p:spPr>
          <a:xfrm xmlns:a="http://schemas.openxmlformats.org/drawingml/2006/main">
            <a:off x="3867150" y="3143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 name="arrow-798-330">
            <a:extLst xmlns:a="http://schemas.openxmlformats.org/drawingml/2006/main">
              <a:ext uri="{FF2B5EF4-FFF2-40B4-BE49-F238E27FC236}">
                <a16:creationId xmlns:a16="http://schemas.microsoft.com/office/drawing/2014/main" id="{26B3191B-869E-4FA4-87AA-6E8184BBDDAC}"/>
              </a:ext>
            </a:extLst>
          </p:cNvPr>
          <p:cNvSpPr>
            <a:spLocks xmlns:a="http://schemas.openxmlformats.org/drawingml/2006/main" noGrp="1"/>
          </p:cNvSpPr>
          <p:nvPr/>
        </p:nvSpPr>
        <p:spPr>
          <a:xfrm xmlns:a="http://schemas.openxmlformats.org/drawingml/2006/main">
            <a:off x="7600950" y="3143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box-62-194">
            <a:extLst xmlns:a="http://schemas.openxmlformats.org/drawingml/2006/main">
              <a:ext uri="{FF2B5EF4-FFF2-40B4-BE49-F238E27FC236}">
                <a16:creationId xmlns:a16="http://schemas.microsoft.com/office/drawing/2014/main" id="{FDC80E04-1D9C-4662-A073-A1E4DAB3BD0B}"/>
              </a:ext>
            </a:extLst>
          </p:cNvPr>
          <p:cNvSpPr>
            <a:spLocks xmlns:a="http://schemas.openxmlformats.org/drawingml/2006/main" noGrp="1"/>
          </p:cNvSpPr>
          <p:nvPr/>
        </p:nvSpPr>
        <p:spPr>
          <a:xfrm xmlns:a="http://schemas.openxmlformats.org/drawingml/2006/main">
            <a:off x="590550" y="1847850"/>
            <a:ext cx="3162300" cy="28575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7" name="text-82-218">
            <a:extLst xmlns:a="http://schemas.openxmlformats.org/drawingml/2006/main">
              <a:ext uri="{FF2B5EF4-FFF2-40B4-BE49-F238E27FC236}">
                <a16:creationId xmlns:a16="http://schemas.microsoft.com/office/drawing/2014/main" id="{3A9A03FE-69B4-4BD6-8D6A-658330C89063}"/>
              </a:ext>
            </a:extLst>
          </p:cNvPr>
          <p:cNvSpPr>
            <a:spLocks xmlns:a="http://schemas.openxmlformats.org/drawingml/2006/main" noGrp="1"/>
          </p:cNvSpPr>
          <p:nvPr/>
        </p:nvSpPr>
        <p:spPr>
          <a:xfrm xmlns:a="http://schemas.openxmlformats.org/drawingml/2006/main">
            <a:off x="781050" y="207645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Static system contract</a:t>
            </a:r>
          </a:p>
        </p:txBody>
      </p:sp>
      <p:sp>
        <p:nvSpPr>
          <p:cNvPr id="8" name="text-82-260">
            <a:extLst xmlns:a="http://schemas.openxmlformats.org/drawingml/2006/main">
              <a:ext uri="{FF2B5EF4-FFF2-40B4-BE49-F238E27FC236}">
                <a16:creationId xmlns:a16="http://schemas.microsoft.com/office/drawing/2014/main" id="{362DA406-19E2-4B30-95F0-EEE60AFA8E92}"/>
              </a:ext>
            </a:extLst>
          </p:cNvPr>
          <p:cNvSpPr>
            <a:spLocks xmlns:a="http://schemas.openxmlformats.org/drawingml/2006/main" noGrp="1"/>
          </p:cNvSpPr>
          <p:nvPr/>
        </p:nvSpPr>
        <p:spPr>
          <a:xfrm xmlns:a="http://schemas.openxmlformats.org/drawingml/2006/main">
            <a:off x="781050" y="2476500"/>
            <a:ext cx="2781300" cy="247650"/>
          </a:xfrm>
          <a:prstGeom xmlns:a="http://schemas.openxmlformats.org/drawingml/2006/main" prst="rect">
            <a:avLst/>
          </a:prstGeom>
        </p:spPr>
        <p:txBody>
          <a:bodyPr xmlns:a="http://schemas.openxmlformats.org/drawingml/2006/main" wrap="square" lIns="0" tIns="0" rIns="0" bIns="0" anchor="t">
            <a:normAutofit fontScale="92553"/>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Same for every log at one prompt version</a:t>
            </a:r>
          </a:p>
        </p:txBody>
      </p:sp>
      <p:sp>
        <p:nvSpPr>
          <p:cNvPr id="9" name="dot-82-318">
            <a:extLst xmlns:a="http://schemas.openxmlformats.org/drawingml/2006/main">
              <a:ext uri="{FF2B5EF4-FFF2-40B4-BE49-F238E27FC236}">
                <a16:creationId xmlns:a16="http://schemas.microsoft.com/office/drawing/2014/main" id="{886A5EB0-B19B-480F-97E7-DF1D1E18235C}"/>
              </a:ext>
            </a:extLst>
          </p:cNvPr>
          <p:cNvSpPr>
            <a:spLocks xmlns:a="http://schemas.openxmlformats.org/drawingml/2006/main" noGrp="1"/>
          </p:cNvSpPr>
          <p:nvPr/>
        </p:nvSpPr>
        <p:spPr>
          <a:xfrm xmlns:a="http://schemas.openxmlformats.org/drawingml/2006/main">
            <a:off x="781050" y="3028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102-310">
            <a:extLst xmlns:a="http://schemas.openxmlformats.org/drawingml/2006/main">
              <a:ext uri="{FF2B5EF4-FFF2-40B4-BE49-F238E27FC236}">
                <a16:creationId xmlns:a16="http://schemas.microsoft.com/office/drawing/2014/main" id="{CBBF85AF-CAFA-4456-A89B-8EAE615E0A63}"/>
              </a:ext>
            </a:extLst>
          </p:cNvPr>
          <p:cNvSpPr>
            <a:spLocks xmlns:a="http://schemas.openxmlformats.org/drawingml/2006/main" noGrp="1"/>
          </p:cNvSpPr>
          <p:nvPr/>
        </p:nvSpPr>
        <p:spPr>
          <a:xfrm xmlns:a="http://schemas.openxmlformats.org/drawingml/2006/main">
            <a:off x="971550" y="29527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SYSTEM_PROMPT</a:t>
            </a:r>
          </a:p>
        </p:txBody>
      </p:sp>
      <p:sp>
        <p:nvSpPr>
          <p:cNvPr id="11" name="dot-82-372">
            <a:extLst xmlns:a="http://schemas.openxmlformats.org/drawingml/2006/main">
              <a:ext uri="{FF2B5EF4-FFF2-40B4-BE49-F238E27FC236}">
                <a16:creationId xmlns:a16="http://schemas.microsoft.com/office/drawing/2014/main" id="{A1C3F190-1C17-4EA8-87CB-56041376A751}"/>
              </a:ext>
            </a:extLst>
          </p:cNvPr>
          <p:cNvSpPr>
            <a:spLocks xmlns:a="http://schemas.openxmlformats.org/drawingml/2006/main" noGrp="1"/>
          </p:cNvSpPr>
          <p:nvPr/>
        </p:nvSpPr>
        <p:spPr>
          <a:xfrm xmlns:a="http://schemas.openxmlformats.org/drawingml/2006/main">
            <a:off x="781050" y="3543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text-102-364">
            <a:extLst xmlns:a="http://schemas.openxmlformats.org/drawingml/2006/main">
              <a:ext uri="{FF2B5EF4-FFF2-40B4-BE49-F238E27FC236}">
                <a16:creationId xmlns:a16="http://schemas.microsoft.com/office/drawing/2014/main" id="{BF7F2F6F-8770-4EFC-AC33-7E3FB964E45F}"/>
              </a:ext>
            </a:extLst>
          </p:cNvPr>
          <p:cNvSpPr>
            <a:spLocks xmlns:a="http://schemas.openxmlformats.org/drawingml/2006/main" noGrp="1"/>
          </p:cNvSpPr>
          <p:nvPr/>
        </p:nvSpPr>
        <p:spPr>
          <a:xfrm xmlns:a="http://schemas.openxmlformats.org/drawingml/2006/main">
            <a:off x="971550" y="34671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Generic causal + recovery semantics</a:t>
            </a:r>
          </a:p>
        </p:txBody>
      </p:sp>
      <p:sp>
        <p:nvSpPr>
          <p:cNvPr id="13" name="dot-82-426">
            <a:extLst xmlns:a="http://schemas.openxmlformats.org/drawingml/2006/main">
              <a:ext uri="{FF2B5EF4-FFF2-40B4-BE49-F238E27FC236}">
                <a16:creationId xmlns:a16="http://schemas.microsoft.com/office/drawing/2014/main" id="{5B039CE3-AF0B-483A-BBFC-FDD019D93B84}"/>
              </a:ext>
            </a:extLst>
          </p:cNvPr>
          <p:cNvSpPr>
            <a:spLocks xmlns:a="http://schemas.openxmlformats.org/drawingml/2006/main" noGrp="1"/>
          </p:cNvSpPr>
          <p:nvPr/>
        </p:nvSpPr>
        <p:spPr>
          <a:xfrm xmlns:a="http://schemas.openxmlformats.org/drawingml/2006/main">
            <a:off x="781050" y="4057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4" name="text-102-418">
            <a:extLst xmlns:a="http://schemas.openxmlformats.org/drawingml/2006/main">
              <a:ext uri="{FF2B5EF4-FFF2-40B4-BE49-F238E27FC236}">
                <a16:creationId xmlns:a16="http://schemas.microsoft.com/office/drawing/2014/main" id="{F59F8E33-F45C-4B87-B7A6-2D6A4E65FAA0}"/>
              </a:ext>
            </a:extLst>
          </p:cNvPr>
          <p:cNvSpPr>
            <a:spLocks xmlns:a="http://schemas.openxmlformats.org/drawingml/2006/main" noGrp="1"/>
          </p:cNvSpPr>
          <p:nvPr/>
        </p:nvSpPr>
        <p:spPr>
          <a:xfrm xmlns:a="http://schemas.openxmlformats.org/drawingml/2006/main">
            <a:off x="971550" y="39814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Execution + restart-fact interpretation</a:t>
            </a:r>
          </a:p>
        </p:txBody>
      </p:sp>
      <p:sp>
        <p:nvSpPr>
          <p:cNvPr id="15" name="box-454-194">
            <a:extLst xmlns:a="http://schemas.openxmlformats.org/drawingml/2006/main">
              <a:ext uri="{FF2B5EF4-FFF2-40B4-BE49-F238E27FC236}">
                <a16:creationId xmlns:a16="http://schemas.microsoft.com/office/drawing/2014/main" id="{523FE4E9-65EF-437E-8891-9766889B3D7A}"/>
              </a:ext>
            </a:extLst>
          </p:cNvPr>
          <p:cNvSpPr>
            <a:spLocks xmlns:a="http://schemas.openxmlformats.org/drawingml/2006/main" noGrp="1"/>
          </p:cNvSpPr>
          <p:nvPr/>
        </p:nvSpPr>
        <p:spPr>
          <a:xfrm xmlns:a="http://schemas.openxmlformats.org/drawingml/2006/main">
            <a:off x="4324350" y="1847850"/>
            <a:ext cx="3162300" cy="28575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6" name="text-474-218">
            <a:extLst xmlns:a="http://schemas.openxmlformats.org/drawingml/2006/main">
              <a:ext uri="{FF2B5EF4-FFF2-40B4-BE49-F238E27FC236}">
                <a16:creationId xmlns:a16="http://schemas.microsoft.com/office/drawing/2014/main" id="{5C4FB71F-4BB2-4CD3-A92C-270105DE7245}"/>
              </a:ext>
            </a:extLst>
          </p:cNvPr>
          <p:cNvSpPr>
            <a:spLocks xmlns:a="http://schemas.openxmlformats.org/drawingml/2006/main" noGrp="1"/>
          </p:cNvSpPr>
          <p:nvPr/>
        </p:nvSpPr>
        <p:spPr>
          <a:xfrm xmlns:a="http://schemas.openxmlformats.org/drawingml/2006/main">
            <a:off x="4514850" y="207645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Per-attempt user payload</a:t>
            </a:r>
          </a:p>
        </p:txBody>
      </p:sp>
      <p:sp>
        <p:nvSpPr>
          <p:cNvPr id="17" name="text-474-260">
            <a:extLst xmlns:a="http://schemas.openxmlformats.org/drawingml/2006/main">
              <a:ext uri="{FF2B5EF4-FFF2-40B4-BE49-F238E27FC236}">
                <a16:creationId xmlns:a16="http://schemas.microsoft.com/office/drawing/2014/main" id="{56F11D61-2B06-400A-A33C-9AB32DE3778C}"/>
              </a:ext>
            </a:extLst>
          </p:cNvPr>
          <p:cNvSpPr>
            <a:spLocks xmlns:a="http://schemas.openxmlformats.org/drawingml/2006/main" noGrp="1"/>
          </p:cNvSpPr>
          <p:nvPr/>
        </p:nvSpPr>
        <p:spPr>
          <a:xfrm xmlns:a="http://schemas.openxmlformats.org/drawingml/2006/main">
            <a:off x="4514850" y="2476500"/>
            <a:ext cx="27813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Rebuilt from current-log facts</a:t>
            </a:r>
          </a:p>
        </p:txBody>
      </p:sp>
      <p:sp>
        <p:nvSpPr>
          <p:cNvPr id="18" name="dot-474-318">
            <a:extLst xmlns:a="http://schemas.openxmlformats.org/drawingml/2006/main">
              <a:ext uri="{FF2B5EF4-FFF2-40B4-BE49-F238E27FC236}">
                <a16:creationId xmlns:a16="http://schemas.microsoft.com/office/drawing/2014/main" id="{B6B9B183-9782-4C66-863A-97B09433BD8B}"/>
              </a:ext>
            </a:extLst>
          </p:cNvPr>
          <p:cNvSpPr>
            <a:spLocks xmlns:a="http://schemas.openxmlformats.org/drawingml/2006/main" noGrp="1"/>
          </p:cNvSpPr>
          <p:nvPr/>
        </p:nvSpPr>
        <p:spPr>
          <a:xfrm xmlns:a="http://schemas.openxmlformats.org/drawingml/2006/main">
            <a:off x="4514850" y="3028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94-310">
            <a:extLst xmlns:a="http://schemas.openxmlformats.org/drawingml/2006/main">
              <a:ext uri="{FF2B5EF4-FFF2-40B4-BE49-F238E27FC236}">
                <a16:creationId xmlns:a16="http://schemas.microsoft.com/office/drawing/2014/main" id="{3AB5E6E5-AAF3-46DE-A5F0-DB27918CBC8C}"/>
              </a:ext>
            </a:extLst>
          </p:cNvPr>
          <p:cNvSpPr>
            <a:spLocks xmlns:a="http://schemas.openxmlformats.org/drawingml/2006/main" noGrp="1"/>
          </p:cNvSpPr>
          <p:nvPr/>
        </p:nvSpPr>
        <p:spPr>
          <a:xfrm xmlns:a="http://schemas.openxmlformats.org/drawingml/2006/main">
            <a:off x="4705350" y="29527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response_schema + decision_evidence</a:t>
            </a:r>
          </a:p>
        </p:txBody>
      </p:sp>
      <p:sp>
        <p:nvSpPr>
          <p:cNvPr id="20" name="dot-474-372">
            <a:extLst xmlns:a="http://schemas.openxmlformats.org/drawingml/2006/main">
              <a:ext uri="{FF2B5EF4-FFF2-40B4-BE49-F238E27FC236}">
                <a16:creationId xmlns:a16="http://schemas.microsoft.com/office/drawing/2014/main" id="{B9B1C934-C0C2-4F67-B02F-0B22B91EFAF4}"/>
              </a:ext>
            </a:extLst>
          </p:cNvPr>
          <p:cNvSpPr>
            <a:spLocks xmlns:a="http://schemas.openxmlformats.org/drawingml/2006/main" noGrp="1"/>
          </p:cNvSpPr>
          <p:nvPr/>
        </p:nvSpPr>
        <p:spPr>
          <a:xfrm xmlns:a="http://schemas.openxmlformats.org/drawingml/2006/main">
            <a:off x="4514850" y="3543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94-364">
            <a:extLst xmlns:a="http://schemas.openxmlformats.org/drawingml/2006/main">
              <a:ext uri="{FF2B5EF4-FFF2-40B4-BE49-F238E27FC236}">
                <a16:creationId xmlns:a16="http://schemas.microsoft.com/office/drawing/2014/main" id="{8BC57256-5A3E-43F3-BDBD-1203BF2A99D3}"/>
              </a:ext>
            </a:extLst>
          </p:cNvPr>
          <p:cNvSpPr>
            <a:spLocks xmlns:a="http://schemas.openxmlformats.org/drawingml/2006/main" noGrp="1"/>
          </p:cNvSpPr>
          <p:nvPr/>
        </p:nvSpPr>
        <p:spPr>
          <a:xfrm xmlns:a="http://schemas.openxmlformats.org/drawingml/2006/main">
            <a:off x="4705350" y="34671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execution + restart context</a:t>
            </a:r>
          </a:p>
        </p:txBody>
      </p:sp>
      <p:sp>
        <p:nvSpPr>
          <p:cNvPr id="22" name="dot-474-426">
            <a:extLst xmlns:a="http://schemas.openxmlformats.org/drawingml/2006/main">
              <a:ext uri="{FF2B5EF4-FFF2-40B4-BE49-F238E27FC236}">
                <a16:creationId xmlns:a16="http://schemas.microsoft.com/office/drawing/2014/main" id="{186916DA-6166-4C66-A562-081726B22EB2}"/>
              </a:ext>
            </a:extLst>
          </p:cNvPr>
          <p:cNvSpPr>
            <a:spLocks xmlns:a="http://schemas.openxmlformats.org/drawingml/2006/main" noGrp="1"/>
          </p:cNvSpPr>
          <p:nvPr/>
        </p:nvSpPr>
        <p:spPr>
          <a:xfrm xmlns:a="http://schemas.openxmlformats.org/drawingml/2006/main">
            <a:off x="4514850" y="4057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text-494-418">
            <a:extLst xmlns:a="http://schemas.openxmlformats.org/drawingml/2006/main">
              <a:ext uri="{FF2B5EF4-FFF2-40B4-BE49-F238E27FC236}">
                <a16:creationId xmlns:a16="http://schemas.microsoft.com/office/drawing/2014/main" id="{DD53B621-D350-4115-B9C7-2CC401441096}"/>
              </a:ext>
            </a:extLst>
          </p:cNvPr>
          <p:cNvSpPr>
            <a:spLocks xmlns:a="http://schemas.openxmlformats.org/drawingml/2006/main" noGrp="1"/>
          </p:cNvSpPr>
          <p:nvPr/>
        </p:nvSpPr>
        <p:spPr>
          <a:xfrm xmlns:a="http://schemas.openxmlformats.org/drawingml/2006/main">
            <a:off x="4705350" y="39814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bounded evidence_bundle</a:t>
            </a:r>
          </a:p>
        </p:txBody>
      </p:sp>
      <p:sp>
        <p:nvSpPr>
          <p:cNvPr id="24" name="box-846-194">
            <a:extLst xmlns:a="http://schemas.openxmlformats.org/drawingml/2006/main">
              <a:ext uri="{FF2B5EF4-FFF2-40B4-BE49-F238E27FC236}">
                <a16:creationId xmlns:a16="http://schemas.microsoft.com/office/drawing/2014/main" id="{7197D71C-F9C5-4C5E-BD75-5225FAA846FB}"/>
              </a:ext>
            </a:extLst>
          </p:cNvPr>
          <p:cNvSpPr>
            <a:spLocks xmlns:a="http://schemas.openxmlformats.org/drawingml/2006/main" noGrp="1"/>
          </p:cNvSpPr>
          <p:nvPr/>
        </p:nvSpPr>
        <p:spPr>
          <a:xfrm xmlns:a="http://schemas.openxmlformats.org/drawingml/2006/main">
            <a:off x="8058150" y="1847850"/>
            <a:ext cx="3162300" cy="28575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5" name="text-866-218">
            <a:extLst xmlns:a="http://schemas.openxmlformats.org/drawingml/2006/main">
              <a:ext uri="{FF2B5EF4-FFF2-40B4-BE49-F238E27FC236}">
                <a16:creationId xmlns:a16="http://schemas.microsoft.com/office/drawing/2014/main" id="{5EABFCD1-AC09-498C-99C2-7C99379FFA33}"/>
              </a:ext>
            </a:extLst>
          </p:cNvPr>
          <p:cNvSpPr>
            <a:spLocks xmlns:a="http://schemas.openxmlformats.org/drawingml/2006/main" noGrp="1"/>
          </p:cNvSpPr>
          <p:nvPr/>
        </p:nvSpPr>
        <p:spPr>
          <a:xfrm xmlns:a="http://schemas.openxmlformats.org/drawingml/2006/main">
            <a:off x="8248650" y="207645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Provider request</a:t>
            </a:r>
          </a:p>
        </p:txBody>
      </p:sp>
      <p:sp>
        <p:nvSpPr>
          <p:cNvPr id="26" name="text-866-260">
            <a:extLst xmlns:a="http://schemas.openxmlformats.org/drawingml/2006/main">
              <a:ext uri="{FF2B5EF4-FFF2-40B4-BE49-F238E27FC236}">
                <a16:creationId xmlns:a16="http://schemas.microsoft.com/office/drawing/2014/main" id="{FCCAF5BD-8E00-4896-82DE-9E6884CDB5CC}"/>
              </a:ext>
            </a:extLst>
          </p:cNvPr>
          <p:cNvSpPr>
            <a:spLocks xmlns:a="http://schemas.openxmlformats.org/drawingml/2006/main" noGrp="1"/>
          </p:cNvSpPr>
          <p:nvPr/>
        </p:nvSpPr>
        <p:spPr>
          <a:xfrm xmlns:a="http://schemas.openxmlformats.org/drawingml/2006/main">
            <a:off x="8248650" y="2476500"/>
            <a:ext cx="27813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What is actually sent</a:t>
            </a:r>
          </a:p>
        </p:txBody>
      </p:sp>
      <p:sp>
        <p:nvSpPr>
          <p:cNvPr id="27" name="dot-866-318">
            <a:extLst xmlns:a="http://schemas.openxmlformats.org/drawingml/2006/main">
              <a:ext uri="{FF2B5EF4-FFF2-40B4-BE49-F238E27FC236}">
                <a16:creationId xmlns:a16="http://schemas.microsoft.com/office/drawing/2014/main" id="{791C5990-32D8-4547-82EE-0F0A11679CA8}"/>
              </a:ext>
            </a:extLst>
          </p:cNvPr>
          <p:cNvSpPr>
            <a:spLocks xmlns:a="http://schemas.openxmlformats.org/drawingml/2006/main" noGrp="1"/>
          </p:cNvSpPr>
          <p:nvPr/>
        </p:nvSpPr>
        <p:spPr>
          <a:xfrm xmlns:a="http://schemas.openxmlformats.org/drawingml/2006/main">
            <a:off x="8248650" y="3028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886-310">
            <a:extLst xmlns:a="http://schemas.openxmlformats.org/drawingml/2006/main">
              <a:ext uri="{FF2B5EF4-FFF2-40B4-BE49-F238E27FC236}">
                <a16:creationId xmlns:a16="http://schemas.microsoft.com/office/drawing/2014/main" id="{F4CBDA5D-7B93-474E-8A7D-F90FD46B1A50}"/>
              </a:ext>
            </a:extLst>
          </p:cNvPr>
          <p:cNvSpPr>
            <a:spLocks xmlns:a="http://schemas.openxmlformats.org/drawingml/2006/main" noGrp="1"/>
          </p:cNvSpPr>
          <p:nvPr/>
        </p:nvSpPr>
        <p:spPr>
          <a:xfrm xmlns:a="http://schemas.openxmlformats.org/drawingml/2006/main">
            <a:off x="8439150" y="29527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system: SYSTEM_PROMPT</a:t>
            </a:r>
          </a:p>
        </p:txBody>
      </p:sp>
      <p:sp>
        <p:nvSpPr>
          <p:cNvPr id="29" name="dot-866-372">
            <a:extLst xmlns:a="http://schemas.openxmlformats.org/drawingml/2006/main">
              <a:ext uri="{FF2B5EF4-FFF2-40B4-BE49-F238E27FC236}">
                <a16:creationId xmlns:a16="http://schemas.microsoft.com/office/drawing/2014/main" id="{3A7D6F0F-64BE-4868-87A1-942A34900FE2}"/>
              </a:ext>
            </a:extLst>
          </p:cNvPr>
          <p:cNvSpPr>
            <a:spLocks xmlns:a="http://schemas.openxmlformats.org/drawingml/2006/main" noGrp="1"/>
          </p:cNvSpPr>
          <p:nvPr/>
        </p:nvSpPr>
        <p:spPr>
          <a:xfrm xmlns:a="http://schemas.openxmlformats.org/drawingml/2006/main">
            <a:off x="8248650" y="3543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0" name="text-886-364">
            <a:extLst xmlns:a="http://schemas.openxmlformats.org/drawingml/2006/main">
              <a:ext uri="{FF2B5EF4-FFF2-40B4-BE49-F238E27FC236}">
                <a16:creationId xmlns:a16="http://schemas.microsoft.com/office/drawing/2014/main" id="{4CEFD34D-9DF0-4D09-9F2A-BD964DC9E84E}"/>
              </a:ext>
            </a:extLst>
          </p:cNvPr>
          <p:cNvSpPr>
            <a:spLocks xmlns:a="http://schemas.openxmlformats.org/drawingml/2006/main" noGrp="1"/>
          </p:cNvSpPr>
          <p:nvPr/>
        </p:nvSpPr>
        <p:spPr>
          <a:xfrm xmlns:a="http://schemas.openxmlformats.org/drawingml/2006/main">
            <a:off x="8439150" y="34671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user: facts-only JSON payload</a:t>
            </a:r>
          </a:p>
        </p:txBody>
      </p:sp>
      <p:sp>
        <p:nvSpPr>
          <p:cNvPr id="31" name="dot-866-426">
            <a:extLst xmlns:a="http://schemas.openxmlformats.org/drawingml/2006/main">
              <a:ext uri="{FF2B5EF4-FFF2-40B4-BE49-F238E27FC236}">
                <a16:creationId xmlns:a16="http://schemas.microsoft.com/office/drawing/2014/main" id="{E61F45D1-FE7A-406C-A4FE-582B7EBADB55}"/>
              </a:ext>
            </a:extLst>
          </p:cNvPr>
          <p:cNvSpPr>
            <a:spLocks xmlns:a="http://schemas.openxmlformats.org/drawingml/2006/main" noGrp="1"/>
          </p:cNvSpPr>
          <p:nvPr/>
        </p:nvSpPr>
        <p:spPr>
          <a:xfrm xmlns:a="http://schemas.openxmlformats.org/drawingml/2006/main">
            <a:off x="8248650" y="4057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2" name="text-886-418">
            <a:extLst xmlns:a="http://schemas.openxmlformats.org/drawingml/2006/main">
              <a:ext uri="{FF2B5EF4-FFF2-40B4-BE49-F238E27FC236}">
                <a16:creationId xmlns:a16="http://schemas.microsoft.com/office/drawing/2014/main" id="{9E7763E7-8479-41A6-8E87-7E51071AA417}"/>
              </a:ext>
            </a:extLst>
          </p:cNvPr>
          <p:cNvSpPr>
            <a:spLocks xmlns:a="http://schemas.openxmlformats.org/drawingml/2006/main" noGrp="1"/>
          </p:cNvSpPr>
          <p:nvPr/>
        </p:nvSpPr>
        <p:spPr>
          <a:xfrm xmlns:a="http://schemas.openxmlformats.org/drawingml/2006/main">
            <a:off x="8439150" y="39814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tools: optional function schemas</a:t>
            </a:r>
          </a:p>
        </p:txBody>
      </p:sp>
      <p:sp>
        <p:nvSpPr>
          <p:cNvPr id="33" name="box-62-526">
            <a:extLst xmlns:a="http://schemas.openxmlformats.org/drawingml/2006/main">
              <a:ext uri="{FF2B5EF4-FFF2-40B4-BE49-F238E27FC236}">
                <a16:creationId xmlns:a16="http://schemas.microsoft.com/office/drawing/2014/main" id="{43B26E4C-48D3-4772-A02C-43AD135BFE22}"/>
              </a:ext>
            </a:extLst>
          </p:cNvPr>
          <p:cNvSpPr>
            <a:spLocks xmlns:a="http://schemas.openxmlformats.org/drawingml/2006/main" noGrp="1"/>
          </p:cNvSpPr>
          <p:nvPr/>
        </p:nvSpPr>
        <p:spPr>
          <a:xfrm xmlns:a="http://schemas.openxmlformats.org/drawingml/2006/main">
            <a:off x="590550" y="5010150"/>
            <a:ext cx="10972800" cy="110490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4" name="text-84-546">
            <a:extLst xmlns:a="http://schemas.openxmlformats.org/drawingml/2006/main">
              <a:ext uri="{FF2B5EF4-FFF2-40B4-BE49-F238E27FC236}">
                <a16:creationId xmlns:a16="http://schemas.microsoft.com/office/drawing/2014/main" id="{7C33BB9E-8522-4DEB-9460-6719EEC3ACE4}"/>
              </a:ext>
            </a:extLst>
          </p:cNvPr>
          <p:cNvSpPr>
            <a:spLocks xmlns:a="http://schemas.openxmlformats.org/drawingml/2006/main" noGrp="1"/>
          </p:cNvSpPr>
          <p:nvPr/>
        </p:nvSpPr>
        <p:spPr>
          <a:xfrm xmlns:a="http://schemas.openxmlformats.org/drawingml/2006/main">
            <a:off x="800100" y="5200650"/>
            <a:ext cx="15049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t>ACTUAL SHAPE</a:t>
            </a:r>
          </a:p>
        </p:txBody>
      </p:sp>
      <p:sp>
        <p:nvSpPr>
          <p:cNvPr id="35" name="text-256-544">
            <a:extLst xmlns:a="http://schemas.openxmlformats.org/drawingml/2006/main">
              <a:ext uri="{FF2B5EF4-FFF2-40B4-BE49-F238E27FC236}">
                <a16:creationId xmlns:a16="http://schemas.microsoft.com/office/drawing/2014/main" id="{80D4CC17-0793-4D43-9B18-86F77684D6B5}"/>
              </a:ext>
            </a:extLst>
          </p:cNvPr>
          <p:cNvSpPr>
            <a:spLocks xmlns:a="http://schemas.openxmlformats.org/drawingml/2006/main" noGrp="1"/>
          </p:cNvSpPr>
          <p:nvPr/>
        </p:nvSpPr>
        <p:spPr>
          <a:xfrm xmlns:a="http://schemas.openxmlformats.org/drawingml/2006/main">
            <a:off x="2438400" y="5181600"/>
            <a:ext cx="6610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messages = [system contract, current-log facts]</a:t>
            </a:r>
          </a:p>
        </p:txBody>
      </p:sp>
      <p:sp>
        <p:nvSpPr>
          <p:cNvPr id="36" name="text-84-582">
            <a:extLst xmlns:a="http://schemas.openxmlformats.org/drawingml/2006/main">
              <a:ext uri="{FF2B5EF4-FFF2-40B4-BE49-F238E27FC236}">
                <a16:creationId xmlns:a16="http://schemas.microsoft.com/office/drawing/2014/main" id="{E369739B-C58F-4F83-8CE8-50F16CF2F4F2}"/>
              </a:ext>
            </a:extLst>
          </p:cNvPr>
          <p:cNvSpPr>
            <a:spLocks xmlns:a="http://schemas.openxmlformats.org/drawingml/2006/main" noGrp="1"/>
          </p:cNvSpPr>
          <p:nvPr/>
        </p:nvSpPr>
        <p:spPr>
          <a:xfrm xmlns:a="http://schemas.openxmlformats.org/drawingml/2006/main">
            <a:off x="800100" y="5543550"/>
            <a:ext cx="8001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00000"/>
                </a:solidFill>
                <a:latin typeface="Helvetica Neue"/>
                <a:ea typeface="Helvetica Neue"/>
                <a:cs typeface="Helvetica Neue"/>
              </a:defRPr>
            </a:pPr>
            <a:r>
              <a:t>Stable</a:t>
            </a:r>
          </a:p>
        </p:txBody>
      </p:sp>
      <p:sp>
        <p:nvSpPr>
          <p:cNvPr id="37" name="text-176-582">
            <a:extLst xmlns:a="http://schemas.openxmlformats.org/drawingml/2006/main">
              <a:ext uri="{FF2B5EF4-FFF2-40B4-BE49-F238E27FC236}">
                <a16:creationId xmlns:a16="http://schemas.microsoft.com/office/drawing/2014/main" id="{5DFC408C-9D37-4E91-8148-0BFE1F5915A1}"/>
              </a:ext>
            </a:extLst>
          </p:cNvPr>
          <p:cNvSpPr>
            <a:spLocks xmlns:a="http://schemas.openxmlformats.org/drawingml/2006/main" noGrp="1"/>
          </p:cNvSpPr>
          <p:nvPr/>
        </p:nvSpPr>
        <p:spPr>
          <a:xfrm xmlns:a="http://schemas.openxmlformats.org/drawingml/2006/main">
            <a:off x="1676400" y="5543550"/>
            <a:ext cx="9620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causal rules | recovery enums | evidence discipline | uncertainty</a:t>
            </a:r>
          </a:p>
        </p:txBody>
      </p:sp>
      <p:sp>
        <p:nvSpPr>
          <p:cNvPr id="38" name="text-84-612">
            <a:extLst xmlns:a="http://schemas.openxmlformats.org/drawingml/2006/main">
              <a:ext uri="{FF2B5EF4-FFF2-40B4-BE49-F238E27FC236}">
                <a16:creationId xmlns:a16="http://schemas.microsoft.com/office/drawing/2014/main" id="{C5442805-116A-4481-8992-D58B9F02558C}"/>
              </a:ext>
            </a:extLst>
          </p:cNvPr>
          <p:cNvSpPr>
            <a:spLocks xmlns:a="http://schemas.openxmlformats.org/drawingml/2006/main" noGrp="1"/>
          </p:cNvSpPr>
          <p:nvPr/>
        </p:nvSpPr>
        <p:spPr>
          <a:xfrm xmlns:a="http://schemas.openxmlformats.org/drawingml/2006/main">
            <a:off x="800100" y="5829300"/>
            <a:ext cx="8001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B25D00"/>
                </a:solidFill>
                <a:latin typeface="Helvetica Neue"/>
                <a:ea typeface="Helvetica Neue"/>
                <a:cs typeface="Helvetica Neue"/>
              </a:defRPr>
            </a:pPr>
            <a:r>
              <a:t>Variable</a:t>
            </a:r>
          </a:p>
        </p:txBody>
      </p:sp>
      <p:sp>
        <p:nvSpPr>
          <p:cNvPr id="39" name="text-176-612">
            <a:extLst xmlns:a="http://schemas.openxmlformats.org/drawingml/2006/main">
              <a:ext uri="{FF2B5EF4-FFF2-40B4-BE49-F238E27FC236}">
                <a16:creationId xmlns:a16="http://schemas.microsoft.com/office/drawing/2014/main" id="{5359F993-76FB-4692-ABA0-C66E3FE75728}"/>
              </a:ext>
            </a:extLst>
          </p:cNvPr>
          <p:cNvSpPr>
            <a:spLocks xmlns:a="http://schemas.openxmlformats.org/drawingml/2006/main" noGrp="1"/>
          </p:cNvSpPr>
          <p:nvPr/>
        </p:nvSpPr>
        <p:spPr>
          <a:xfrm xmlns:a="http://schemas.openxmlformats.org/drawingml/2006/main">
            <a:off x="1676400" y="5829300"/>
            <a:ext cx="9620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schema | decision evidence | execution facts | restart context | evidence bundle</a:t>
            </a:r>
          </a:p>
        </p:txBody>
      </p:sp>
    </p:spTree>
    <p:extLst>
      <p:ext uri="{BB962C8B-B14F-4D97-AF65-F5344CB8AC3E}">
        <p14:creationId xmlns:p14="http://schemas.microsoft.com/office/powerpoint/2010/main" val="70251042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ext-42-26">
            <a:extLst xmlns:a="http://schemas.openxmlformats.org/drawingml/2006/main">
              <a:ext uri="{FF2B5EF4-FFF2-40B4-BE49-F238E27FC236}">
                <a16:creationId xmlns:a16="http://schemas.microsoft.com/office/drawing/2014/main" id="{930288FF-C910-4EAF-AA10-7450FB7B1D73}"/>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A. TUNE / PROMPT</a:t>
            </a:r>
          </a:p>
        </p:txBody>
      </p:sp>
      <p:sp>
        <p:nvSpPr>
          <p:cNvPr id="2" name="text-42-54">
            <a:extLst xmlns:a="http://schemas.openxmlformats.org/drawingml/2006/main">
              <a:ext uri="{FF2B5EF4-FFF2-40B4-BE49-F238E27FC236}">
                <a16:creationId xmlns:a16="http://schemas.microsoft.com/office/drawing/2014/main" id="{37EE0EA3-2080-44AC-A764-89F477F340BB}"/>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94939"/>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Prompt tuning changes the stable contract, not the evidence</a:t>
            </a:r>
          </a:p>
        </p:txBody>
      </p:sp>
      <p:sp>
        <p:nvSpPr>
          <p:cNvPr id="3" name="line-42-133">
            <a:extLst xmlns:a="http://schemas.openxmlformats.org/drawingml/2006/main">
              <a:ext uri="{FF2B5EF4-FFF2-40B4-BE49-F238E27FC236}">
                <a16:creationId xmlns:a16="http://schemas.microsoft.com/office/drawing/2014/main" id="{C14BD575-DCD3-4A84-A9B2-5612E12279C1}"/>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arrow-406-330">
            <a:extLst xmlns:a="http://schemas.openxmlformats.org/drawingml/2006/main">
              <a:ext uri="{FF2B5EF4-FFF2-40B4-BE49-F238E27FC236}">
                <a16:creationId xmlns:a16="http://schemas.microsoft.com/office/drawing/2014/main" id="{6BB3E94B-F8BE-4E7C-8634-7ACF2E6D4496}"/>
              </a:ext>
            </a:extLst>
          </p:cNvPr>
          <p:cNvSpPr>
            <a:spLocks xmlns:a="http://schemas.openxmlformats.org/drawingml/2006/main" noGrp="1"/>
          </p:cNvSpPr>
          <p:nvPr/>
        </p:nvSpPr>
        <p:spPr>
          <a:xfrm xmlns:a="http://schemas.openxmlformats.org/drawingml/2006/main">
            <a:off x="3867150" y="3143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 name="arrow-798-330">
            <a:extLst xmlns:a="http://schemas.openxmlformats.org/drawingml/2006/main">
              <a:ext uri="{FF2B5EF4-FFF2-40B4-BE49-F238E27FC236}">
                <a16:creationId xmlns:a16="http://schemas.microsoft.com/office/drawing/2014/main" id="{26B3191B-869E-4FA4-87AA-6E8184BBDDAC}"/>
              </a:ext>
            </a:extLst>
          </p:cNvPr>
          <p:cNvSpPr>
            <a:spLocks xmlns:a="http://schemas.openxmlformats.org/drawingml/2006/main" noGrp="1"/>
          </p:cNvSpPr>
          <p:nvPr/>
        </p:nvSpPr>
        <p:spPr>
          <a:xfrm xmlns:a="http://schemas.openxmlformats.org/drawingml/2006/main">
            <a:off x="7600950" y="3143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box-62-194">
            <a:extLst xmlns:a="http://schemas.openxmlformats.org/drawingml/2006/main">
              <a:ext uri="{FF2B5EF4-FFF2-40B4-BE49-F238E27FC236}">
                <a16:creationId xmlns:a16="http://schemas.microsoft.com/office/drawing/2014/main" id="{FDC80E04-1D9C-4662-A073-A1E4DAB3BD0B}"/>
              </a:ext>
            </a:extLst>
          </p:cNvPr>
          <p:cNvSpPr>
            <a:spLocks xmlns:a="http://schemas.openxmlformats.org/drawingml/2006/main" noGrp="1"/>
          </p:cNvSpPr>
          <p:nvPr/>
        </p:nvSpPr>
        <p:spPr>
          <a:xfrm xmlns:a="http://schemas.openxmlformats.org/drawingml/2006/main">
            <a:off x="590550" y="1847850"/>
            <a:ext cx="3162300" cy="28575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7" name="text-82-218">
            <a:extLst xmlns:a="http://schemas.openxmlformats.org/drawingml/2006/main">
              <a:ext uri="{FF2B5EF4-FFF2-40B4-BE49-F238E27FC236}">
                <a16:creationId xmlns:a16="http://schemas.microsoft.com/office/drawing/2014/main" id="{3A9A03FE-69B4-4BD6-8D6A-658330C89063}"/>
              </a:ext>
            </a:extLst>
          </p:cNvPr>
          <p:cNvSpPr>
            <a:spLocks xmlns:a="http://schemas.openxmlformats.org/drawingml/2006/main" noGrp="1"/>
          </p:cNvSpPr>
          <p:nvPr/>
        </p:nvSpPr>
        <p:spPr>
          <a:xfrm xmlns:a="http://schemas.openxmlformats.org/drawingml/2006/main">
            <a:off x="781050" y="207645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Baseline contract</a:t>
            </a:r>
          </a:p>
        </p:txBody>
      </p:sp>
      <p:sp>
        <p:nvSpPr>
          <p:cNvPr id="8" name="text-82-260">
            <a:extLst xmlns:a="http://schemas.openxmlformats.org/drawingml/2006/main">
              <a:ext uri="{FF2B5EF4-FFF2-40B4-BE49-F238E27FC236}">
                <a16:creationId xmlns:a16="http://schemas.microsoft.com/office/drawing/2014/main" id="{362DA406-19E2-4B30-95F0-EEE60AFA8E92}"/>
              </a:ext>
            </a:extLst>
          </p:cNvPr>
          <p:cNvSpPr>
            <a:spLocks xmlns:a="http://schemas.openxmlformats.org/drawingml/2006/main" noGrp="1"/>
          </p:cNvSpPr>
          <p:nvPr/>
        </p:nvSpPr>
        <p:spPr>
          <a:xfrm xmlns:a="http://schemas.openxmlformats.org/drawingml/2006/main">
            <a:off x="781050" y="2476500"/>
            <a:ext cx="27813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Run the current prompt version</a:t>
            </a:r>
          </a:p>
        </p:txBody>
      </p:sp>
      <p:sp>
        <p:nvSpPr>
          <p:cNvPr id="9" name="dot-82-318">
            <a:extLst xmlns:a="http://schemas.openxmlformats.org/drawingml/2006/main">
              <a:ext uri="{FF2B5EF4-FFF2-40B4-BE49-F238E27FC236}">
                <a16:creationId xmlns:a16="http://schemas.microsoft.com/office/drawing/2014/main" id="{886A5EB0-B19B-480F-97E7-DF1D1E18235C}"/>
              </a:ext>
            </a:extLst>
          </p:cNvPr>
          <p:cNvSpPr>
            <a:spLocks xmlns:a="http://schemas.openxmlformats.org/drawingml/2006/main" noGrp="1"/>
          </p:cNvSpPr>
          <p:nvPr/>
        </p:nvSpPr>
        <p:spPr>
          <a:xfrm xmlns:a="http://schemas.openxmlformats.org/drawingml/2006/main">
            <a:off x="781050" y="3028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102-310">
            <a:extLst xmlns:a="http://schemas.openxmlformats.org/drawingml/2006/main">
              <a:ext uri="{FF2B5EF4-FFF2-40B4-BE49-F238E27FC236}">
                <a16:creationId xmlns:a16="http://schemas.microsoft.com/office/drawing/2014/main" id="{CBBF85AF-CAFA-4456-A89B-8EAE615E0A63}"/>
              </a:ext>
            </a:extLst>
          </p:cNvPr>
          <p:cNvSpPr>
            <a:spLocks xmlns:a="http://schemas.openxmlformats.org/drawingml/2006/main" noGrp="1"/>
          </p:cNvSpPr>
          <p:nvPr/>
        </p:nvSpPr>
        <p:spPr>
          <a:xfrm xmlns:a="http://schemas.openxmlformats.org/drawingml/2006/main">
            <a:off x="971550" y="29527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Same labeled corpus</a:t>
            </a:r>
          </a:p>
        </p:txBody>
      </p:sp>
      <p:sp>
        <p:nvSpPr>
          <p:cNvPr id="11" name="dot-82-372">
            <a:extLst xmlns:a="http://schemas.openxmlformats.org/drawingml/2006/main">
              <a:ext uri="{FF2B5EF4-FFF2-40B4-BE49-F238E27FC236}">
                <a16:creationId xmlns:a16="http://schemas.microsoft.com/office/drawing/2014/main" id="{A1C3F190-1C17-4EA8-87CB-56041376A751}"/>
              </a:ext>
            </a:extLst>
          </p:cNvPr>
          <p:cNvSpPr>
            <a:spLocks xmlns:a="http://schemas.openxmlformats.org/drawingml/2006/main" noGrp="1"/>
          </p:cNvSpPr>
          <p:nvPr/>
        </p:nvSpPr>
        <p:spPr>
          <a:xfrm xmlns:a="http://schemas.openxmlformats.org/drawingml/2006/main">
            <a:off x="781050" y="3543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text-102-364">
            <a:extLst xmlns:a="http://schemas.openxmlformats.org/drawingml/2006/main">
              <a:ext uri="{FF2B5EF4-FFF2-40B4-BE49-F238E27FC236}">
                <a16:creationId xmlns:a16="http://schemas.microsoft.com/office/drawing/2014/main" id="{BF7F2F6F-8770-4EFC-AC33-7E3FB964E45F}"/>
              </a:ext>
            </a:extLst>
          </p:cNvPr>
          <p:cNvSpPr>
            <a:spLocks xmlns:a="http://schemas.openxmlformats.org/drawingml/2006/main" noGrp="1"/>
          </p:cNvSpPr>
          <p:nvPr/>
        </p:nvSpPr>
        <p:spPr>
          <a:xfrm xmlns:a="http://schemas.openxmlformats.org/drawingml/2006/main">
            <a:off x="971550" y="34671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Same L0B facts and route profiles</a:t>
            </a:r>
          </a:p>
        </p:txBody>
      </p:sp>
      <p:sp>
        <p:nvSpPr>
          <p:cNvPr id="13" name="dot-82-426">
            <a:extLst xmlns:a="http://schemas.openxmlformats.org/drawingml/2006/main">
              <a:ext uri="{FF2B5EF4-FFF2-40B4-BE49-F238E27FC236}">
                <a16:creationId xmlns:a16="http://schemas.microsoft.com/office/drawing/2014/main" id="{5B039CE3-AF0B-483A-BBFC-FDD019D93B84}"/>
              </a:ext>
            </a:extLst>
          </p:cNvPr>
          <p:cNvSpPr>
            <a:spLocks xmlns:a="http://schemas.openxmlformats.org/drawingml/2006/main" noGrp="1"/>
          </p:cNvSpPr>
          <p:nvPr/>
        </p:nvSpPr>
        <p:spPr>
          <a:xfrm xmlns:a="http://schemas.openxmlformats.org/drawingml/2006/main">
            <a:off x="781050" y="4057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4" name="text-102-418">
            <a:extLst xmlns:a="http://schemas.openxmlformats.org/drawingml/2006/main">
              <a:ext uri="{FF2B5EF4-FFF2-40B4-BE49-F238E27FC236}">
                <a16:creationId xmlns:a16="http://schemas.microsoft.com/office/drawing/2014/main" id="{F59F8E33-F45C-4B87-B7A6-2D6A4E65FAA0}"/>
              </a:ext>
            </a:extLst>
          </p:cNvPr>
          <p:cNvSpPr>
            <a:spLocks xmlns:a="http://schemas.openxmlformats.org/drawingml/2006/main" noGrp="1"/>
          </p:cNvSpPr>
          <p:nvPr/>
        </p:nvSpPr>
        <p:spPr>
          <a:xfrm xmlns:a="http://schemas.openxmlformats.org/drawingml/2006/main">
            <a:off x="971550" y="39814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Capture stage metrics</a:t>
            </a:r>
          </a:p>
        </p:txBody>
      </p:sp>
      <p:sp>
        <p:nvSpPr>
          <p:cNvPr id="15" name="box-454-194">
            <a:extLst xmlns:a="http://schemas.openxmlformats.org/drawingml/2006/main">
              <a:ext uri="{FF2B5EF4-FFF2-40B4-BE49-F238E27FC236}">
                <a16:creationId xmlns:a16="http://schemas.microsoft.com/office/drawing/2014/main" id="{523FE4E9-65EF-437E-8891-9766889B3D7A}"/>
              </a:ext>
            </a:extLst>
          </p:cNvPr>
          <p:cNvSpPr>
            <a:spLocks xmlns:a="http://schemas.openxmlformats.org/drawingml/2006/main" noGrp="1"/>
          </p:cNvSpPr>
          <p:nvPr/>
        </p:nvSpPr>
        <p:spPr>
          <a:xfrm xmlns:a="http://schemas.openxmlformats.org/drawingml/2006/main">
            <a:off x="4324350" y="1847850"/>
            <a:ext cx="3162300" cy="28575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6" name="text-474-218">
            <a:extLst xmlns:a="http://schemas.openxmlformats.org/drawingml/2006/main">
              <a:ext uri="{FF2B5EF4-FFF2-40B4-BE49-F238E27FC236}">
                <a16:creationId xmlns:a16="http://schemas.microsoft.com/office/drawing/2014/main" id="{5C4FB71F-4BB2-4CD3-A92C-270105DE7245}"/>
              </a:ext>
            </a:extLst>
          </p:cNvPr>
          <p:cNvSpPr>
            <a:spLocks xmlns:a="http://schemas.openxmlformats.org/drawingml/2006/main" noGrp="1"/>
          </p:cNvSpPr>
          <p:nvPr/>
        </p:nvSpPr>
        <p:spPr>
          <a:xfrm xmlns:a="http://schemas.openxmlformats.org/drawingml/2006/main">
            <a:off x="4514850" y="207645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Candidate change</a:t>
            </a:r>
          </a:p>
        </p:txBody>
      </p:sp>
      <p:sp>
        <p:nvSpPr>
          <p:cNvPr id="17" name="text-474-260">
            <a:extLst xmlns:a="http://schemas.openxmlformats.org/drawingml/2006/main">
              <a:ext uri="{FF2B5EF4-FFF2-40B4-BE49-F238E27FC236}">
                <a16:creationId xmlns:a16="http://schemas.microsoft.com/office/drawing/2014/main" id="{56F11D61-2B06-400A-A33C-9AB32DE3778C}"/>
              </a:ext>
            </a:extLst>
          </p:cNvPr>
          <p:cNvSpPr>
            <a:spLocks xmlns:a="http://schemas.openxmlformats.org/drawingml/2006/main" noGrp="1"/>
          </p:cNvSpPr>
          <p:nvPr/>
        </p:nvSpPr>
        <p:spPr>
          <a:xfrm xmlns:a="http://schemas.openxmlformats.org/drawingml/2006/main">
            <a:off x="4514850" y="2476500"/>
            <a:ext cx="27813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One generic system-contract rule</a:t>
            </a:r>
          </a:p>
        </p:txBody>
      </p:sp>
      <p:sp>
        <p:nvSpPr>
          <p:cNvPr id="18" name="dot-474-318">
            <a:extLst xmlns:a="http://schemas.openxmlformats.org/drawingml/2006/main">
              <a:ext uri="{FF2B5EF4-FFF2-40B4-BE49-F238E27FC236}">
                <a16:creationId xmlns:a16="http://schemas.microsoft.com/office/drawing/2014/main" id="{B6B9B183-9782-4C66-863A-97B09433BD8B}"/>
              </a:ext>
            </a:extLst>
          </p:cNvPr>
          <p:cNvSpPr>
            <a:spLocks xmlns:a="http://schemas.openxmlformats.org/drawingml/2006/main" noGrp="1"/>
          </p:cNvSpPr>
          <p:nvPr/>
        </p:nvSpPr>
        <p:spPr>
          <a:xfrm xmlns:a="http://schemas.openxmlformats.org/drawingml/2006/main">
            <a:off x="4514850" y="3028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94-310">
            <a:extLst xmlns:a="http://schemas.openxmlformats.org/drawingml/2006/main">
              <a:ext uri="{FF2B5EF4-FFF2-40B4-BE49-F238E27FC236}">
                <a16:creationId xmlns:a16="http://schemas.microsoft.com/office/drawing/2014/main" id="{3AB5E6E5-AAF3-46DE-A5F0-DB27918CBC8C}"/>
              </a:ext>
            </a:extLst>
          </p:cNvPr>
          <p:cNvSpPr>
            <a:spLocks xmlns:a="http://schemas.openxmlformats.org/drawingml/2006/main" noGrp="1"/>
          </p:cNvSpPr>
          <p:nvPr/>
        </p:nvSpPr>
        <p:spPr>
          <a:xfrm xmlns:a="http://schemas.openxmlformats.org/drawingml/2006/main">
            <a:off x="4705350" y="29527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Explain the observed failure mode</a:t>
            </a:r>
          </a:p>
        </p:txBody>
      </p:sp>
      <p:sp>
        <p:nvSpPr>
          <p:cNvPr id="20" name="dot-474-372">
            <a:extLst xmlns:a="http://schemas.openxmlformats.org/drawingml/2006/main">
              <a:ext uri="{FF2B5EF4-FFF2-40B4-BE49-F238E27FC236}">
                <a16:creationId xmlns:a16="http://schemas.microsoft.com/office/drawing/2014/main" id="{B9B1C934-C0C2-4F67-B02F-0B22B91EFAF4}"/>
              </a:ext>
            </a:extLst>
          </p:cNvPr>
          <p:cNvSpPr>
            <a:spLocks xmlns:a="http://schemas.openxmlformats.org/drawingml/2006/main" noGrp="1"/>
          </p:cNvSpPr>
          <p:nvPr/>
        </p:nvSpPr>
        <p:spPr>
          <a:xfrm xmlns:a="http://schemas.openxmlformats.org/drawingml/2006/main">
            <a:off x="4514850" y="3543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94-364">
            <a:extLst xmlns:a="http://schemas.openxmlformats.org/drawingml/2006/main">
              <a:ext uri="{FF2B5EF4-FFF2-40B4-BE49-F238E27FC236}">
                <a16:creationId xmlns:a16="http://schemas.microsoft.com/office/drawing/2014/main" id="{8BC57256-5A3E-43F3-BDBD-1203BF2A99D3}"/>
              </a:ext>
            </a:extLst>
          </p:cNvPr>
          <p:cNvSpPr>
            <a:spLocks xmlns:a="http://schemas.openxmlformats.org/drawingml/2006/main" noGrp="1"/>
          </p:cNvSpPr>
          <p:nvPr/>
        </p:nvSpPr>
        <p:spPr>
          <a:xfrm xmlns:a="http://schemas.openxmlformats.org/drawingml/2006/main">
            <a:off x="4705350" y="34671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Avoid case-specific signatures</a:t>
            </a:r>
          </a:p>
        </p:txBody>
      </p:sp>
      <p:sp>
        <p:nvSpPr>
          <p:cNvPr id="22" name="dot-474-426">
            <a:extLst xmlns:a="http://schemas.openxmlformats.org/drawingml/2006/main">
              <a:ext uri="{FF2B5EF4-FFF2-40B4-BE49-F238E27FC236}">
                <a16:creationId xmlns:a16="http://schemas.microsoft.com/office/drawing/2014/main" id="{186916DA-6166-4C66-A562-081726B22EB2}"/>
              </a:ext>
            </a:extLst>
          </p:cNvPr>
          <p:cNvSpPr>
            <a:spLocks xmlns:a="http://schemas.openxmlformats.org/drawingml/2006/main" noGrp="1"/>
          </p:cNvSpPr>
          <p:nvPr/>
        </p:nvSpPr>
        <p:spPr>
          <a:xfrm xmlns:a="http://schemas.openxmlformats.org/drawingml/2006/main">
            <a:off x="4514850" y="4057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text-494-418">
            <a:extLst xmlns:a="http://schemas.openxmlformats.org/drawingml/2006/main">
              <a:ext uri="{FF2B5EF4-FFF2-40B4-BE49-F238E27FC236}">
                <a16:creationId xmlns:a16="http://schemas.microsoft.com/office/drawing/2014/main" id="{DD53B621-D350-4115-B9C7-2CC401441096}"/>
              </a:ext>
            </a:extLst>
          </p:cNvPr>
          <p:cNvSpPr>
            <a:spLocks xmlns:a="http://schemas.openxmlformats.org/drawingml/2006/main" noGrp="1"/>
          </p:cNvSpPr>
          <p:nvPr/>
        </p:nvSpPr>
        <p:spPr>
          <a:xfrm xmlns:a="http://schemas.openxmlformats.org/drawingml/2006/main">
            <a:off x="4705350" y="39814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Run unrelated holdouts</a:t>
            </a:r>
          </a:p>
        </p:txBody>
      </p:sp>
      <p:sp>
        <p:nvSpPr>
          <p:cNvPr id="24" name="box-846-194">
            <a:extLst xmlns:a="http://schemas.openxmlformats.org/drawingml/2006/main">
              <a:ext uri="{FF2B5EF4-FFF2-40B4-BE49-F238E27FC236}">
                <a16:creationId xmlns:a16="http://schemas.microsoft.com/office/drawing/2014/main" id="{7197D71C-F9C5-4C5E-BD75-5225FAA846FB}"/>
              </a:ext>
            </a:extLst>
          </p:cNvPr>
          <p:cNvSpPr>
            <a:spLocks xmlns:a="http://schemas.openxmlformats.org/drawingml/2006/main" noGrp="1"/>
          </p:cNvSpPr>
          <p:nvPr/>
        </p:nvSpPr>
        <p:spPr>
          <a:xfrm xmlns:a="http://schemas.openxmlformats.org/drawingml/2006/main">
            <a:off x="8058150" y="1847850"/>
            <a:ext cx="3162300" cy="28575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5" name="text-866-218">
            <a:extLst xmlns:a="http://schemas.openxmlformats.org/drawingml/2006/main">
              <a:ext uri="{FF2B5EF4-FFF2-40B4-BE49-F238E27FC236}">
                <a16:creationId xmlns:a16="http://schemas.microsoft.com/office/drawing/2014/main" id="{5EABFCD1-AC09-498C-99C2-7C99379FFA33}"/>
              </a:ext>
            </a:extLst>
          </p:cNvPr>
          <p:cNvSpPr>
            <a:spLocks xmlns:a="http://schemas.openxmlformats.org/drawingml/2006/main" noGrp="1"/>
          </p:cNvSpPr>
          <p:nvPr/>
        </p:nvSpPr>
        <p:spPr>
          <a:xfrm xmlns:a="http://schemas.openxmlformats.org/drawingml/2006/main">
            <a:off x="8248650" y="207645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Promotion gate</a:t>
            </a:r>
          </a:p>
        </p:txBody>
      </p:sp>
      <p:sp>
        <p:nvSpPr>
          <p:cNvPr id="26" name="text-866-260">
            <a:extLst xmlns:a="http://schemas.openxmlformats.org/drawingml/2006/main">
              <a:ext uri="{FF2B5EF4-FFF2-40B4-BE49-F238E27FC236}">
                <a16:creationId xmlns:a16="http://schemas.microsoft.com/office/drawing/2014/main" id="{FCCAF5BD-8E00-4896-82DE-9E6884CDB5CC}"/>
              </a:ext>
            </a:extLst>
          </p:cNvPr>
          <p:cNvSpPr>
            <a:spLocks xmlns:a="http://schemas.openxmlformats.org/drawingml/2006/main" noGrp="1"/>
          </p:cNvSpPr>
          <p:nvPr/>
        </p:nvSpPr>
        <p:spPr>
          <a:xfrm xmlns:a="http://schemas.openxmlformats.org/drawingml/2006/main">
            <a:off x="8248650" y="2476500"/>
            <a:ext cx="27813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Improve without hidden regressions</a:t>
            </a:r>
          </a:p>
        </p:txBody>
      </p:sp>
      <p:sp>
        <p:nvSpPr>
          <p:cNvPr id="27" name="dot-866-318">
            <a:extLst xmlns:a="http://schemas.openxmlformats.org/drawingml/2006/main">
              <a:ext uri="{FF2B5EF4-FFF2-40B4-BE49-F238E27FC236}">
                <a16:creationId xmlns:a16="http://schemas.microsoft.com/office/drawing/2014/main" id="{791C5990-32D8-4547-82EE-0F0A11679CA8}"/>
              </a:ext>
            </a:extLst>
          </p:cNvPr>
          <p:cNvSpPr>
            <a:spLocks xmlns:a="http://schemas.openxmlformats.org/drawingml/2006/main" noGrp="1"/>
          </p:cNvSpPr>
          <p:nvPr/>
        </p:nvSpPr>
        <p:spPr>
          <a:xfrm xmlns:a="http://schemas.openxmlformats.org/drawingml/2006/main">
            <a:off x="8248650" y="3028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886-310">
            <a:extLst xmlns:a="http://schemas.openxmlformats.org/drawingml/2006/main">
              <a:ext uri="{FF2B5EF4-FFF2-40B4-BE49-F238E27FC236}">
                <a16:creationId xmlns:a16="http://schemas.microsoft.com/office/drawing/2014/main" id="{F4CBDA5D-7B93-474E-8A7D-F90FD46B1A50}"/>
              </a:ext>
            </a:extLst>
          </p:cNvPr>
          <p:cNvSpPr>
            <a:spLocks xmlns:a="http://schemas.openxmlformats.org/drawingml/2006/main" noGrp="1"/>
          </p:cNvSpPr>
          <p:nvPr/>
        </p:nvSpPr>
        <p:spPr>
          <a:xfrm xmlns:a="http://schemas.openxmlformats.org/drawingml/2006/main">
            <a:off x="8439150" y="29527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Semantic quality improves</a:t>
            </a:r>
          </a:p>
        </p:txBody>
      </p:sp>
      <p:sp>
        <p:nvSpPr>
          <p:cNvPr id="29" name="dot-866-372">
            <a:extLst xmlns:a="http://schemas.openxmlformats.org/drawingml/2006/main">
              <a:ext uri="{FF2B5EF4-FFF2-40B4-BE49-F238E27FC236}">
                <a16:creationId xmlns:a16="http://schemas.microsoft.com/office/drawing/2014/main" id="{3A7D6F0F-64BE-4868-87A1-942A34900FE2}"/>
              </a:ext>
            </a:extLst>
          </p:cNvPr>
          <p:cNvSpPr>
            <a:spLocks xmlns:a="http://schemas.openxmlformats.org/drawingml/2006/main" noGrp="1"/>
          </p:cNvSpPr>
          <p:nvPr/>
        </p:nvSpPr>
        <p:spPr>
          <a:xfrm xmlns:a="http://schemas.openxmlformats.org/drawingml/2006/main">
            <a:off x="8248650" y="3543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0" name="text-886-364">
            <a:extLst xmlns:a="http://schemas.openxmlformats.org/drawingml/2006/main">
              <a:ext uri="{FF2B5EF4-FFF2-40B4-BE49-F238E27FC236}">
                <a16:creationId xmlns:a16="http://schemas.microsoft.com/office/drawing/2014/main" id="{4CEFD34D-9DF0-4D09-9F2A-BD964DC9E84E}"/>
              </a:ext>
            </a:extLst>
          </p:cNvPr>
          <p:cNvSpPr>
            <a:spLocks xmlns:a="http://schemas.openxmlformats.org/drawingml/2006/main" noGrp="1"/>
          </p:cNvSpPr>
          <p:nvPr/>
        </p:nvSpPr>
        <p:spPr>
          <a:xfrm xmlns:a="http://schemas.openxmlformats.org/drawingml/2006/main">
            <a:off x="8439150" y="34671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Tools, tokens, and latency stay healthy</a:t>
            </a:r>
          </a:p>
        </p:txBody>
      </p:sp>
      <p:sp>
        <p:nvSpPr>
          <p:cNvPr id="31" name="dot-866-426">
            <a:extLst xmlns:a="http://schemas.openxmlformats.org/drawingml/2006/main">
              <a:ext uri="{FF2B5EF4-FFF2-40B4-BE49-F238E27FC236}">
                <a16:creationId xmlns:a16="http://schemas.microsoft.com/office/drawing/2014/main" id="{E61F45D1-FE7A-406C-A4FE-582B7EBADB55}"/>
              </a:ext>
            </a:extLst>
          </p:cNvPr>
          <p:cNvSpPr>
            <a:spLocks xmlns:a="http://schemas.openxmlformats.org/drawingml/2006/main" noGrp="1"/>
          </p:cNvSpPr>
          <p:nvPr/>
        </p:nvSpPr>
        <p:spPr>
          <a:xfrm xmlns:a="http://schemas.openxmlformats.org/drawingml/2006/main">
            <a:off x="8248650" y="4057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2" name="text-886-418">
            <a:extLst xmlns:a="http://schemas.openxmlformats.org/drawingml/2006/main">
              <a:ext uri="{FF2B5EF4-FFF2-40B4-BE49-F238E27FC236}">
                <a16:creationId xmlns:a16="http://schemas.microsoft.com/office/drawing/2014/main" id="{9E7763E7-8479-41A6-8E87-7E51071AA417}"/>
              </a:ext>
            </a:extLst>
          </p:cNvPr>
          <p:cNvSpPr>
            <a:spLocks xmlns:a="http://schemas.openxmlformats.org/drawingml/2006/main" noGrp="1"/>
          </p:cNvSpPr>
          <p:nvPr/>
        </p:nvSpPr>
        <p:spPr>
          <a:xfrm xmlns:a="http://schemas.openxmlformats.org/drawingml/2006/main">
            <a:off x="8439150" y="39814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Anti-pattern checks pass</a:t>
            </a:r>
          </a:p>
        </p:txBody>
      </p:sp>
      <p:sp>
        <p:nvSpPr>
          <p:cNvPr id="33" name="box-62-526">
            <a:extLst xmlns:a="http://schemas.openxmlformats.org/drawingml/2006/main">
              <a:ext uri="{FF2B5EF4-FFF2-40B4-BE49-F238E27FC236}">
                <a16:creationId xmlns:a16="http://schemas.microsoft.com/office/drawing/2014/main" id="{43B26E4C-48D3-4772-A02C-43AD135BFE22}"/>
              </a:ext>
            </a:extLst>
          </p:cNvPr>
          <p:cNvSpPr>
            <a:spLocks xmlns:a="http://schemas.openxmlformats.org/drawingml/2006/main" noGrp="1"/>
          </p:cNvSpPr>
          <p:nvPr/>
        </p:nvSpPr>
        <p:spPr>
          <a:xfrm xmlns:a="http://schemas.openxmlformats.org/drawingml/2006/main">
            <a:off x="590550" y="5010150"/>
            <a:ext cx="10972800" cy="110490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4" name="text-84-546">
            <a:extLst xmlns:a="http://schemas.openxmlformats.org/drawingml/2006/main">
              <a:ext uri="{FF2B5EF4-FFF2-40B4-BE49-F238E27FC236}">
                <a16:creationId xmlns:a16="http://schemas.microsoft.com/office/drawing/2014/main" id="{7C33BB9E-8522-4DEB-9460-6719EEC3ACE4}"/>
              </a:ext>
            </a:extLst>
          </p:cNvPr>
          <p:cNvSpPr>
            <a:spLocks xmlns:a="http://schemas.openxmlformats.org/drawingml/2006/main" noGrp="1"/>
          </p:cNvSpPr>
          <p:nvPr/>
        </p:nvSpPr>
        <p:spPr>
          <a:xfrm xmlns:a="http://schemas.openxmlformats.org/drawingml/2006/main">
            <a:off x="800100" y="5200650"/>
            <a:ext cx="150495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3D8DFF"/>
                </a:solidFill>
                <a:latin typeface="Helvetica Neue"/>
                <a:ea typeface="Helvetica Neue"/>
                <a:cs typeface="Helvetica Neue"/>
              </a:defRPr>
            </a:pPr>
            <a:r>
              <a:t>OFFLINE LOOP</a:t>
            </a:r>
          </a:p>
        </p:txBody>
      </p:sp>
      <p:sp>
        <p:nvSpPr>
          <p:cNvPr id="35" name="text-256-544">
            <a:extLst xmlns:a="http://schemas.openxmlformats.org/drawingml/2006/main">
              <a:ext uri="{FF2B5EF4-FFF2-40B4-BE49-F238E27FC236}">
                <a16:creationId xmlns:a16="http://schemas.microsoft.com/office/drawing/2014/main" id="{80D4CC17-0793-4D43-9B18-86F77684D6B5}"/>
              </a:ext>
            </a:extLst>
          </p:cNvPr>
          <p:cNvSpPr>
            <a:spLocks xmlns:a="http://schemas.openxmlformats.org/drawingml/2006/main" noGrp="1"/>
          </p:cNvSpPr>
          <p:nvPr/>
        </p:nvSpPr>
        <p:spPr>
          <a:xfrm xmlns:a="http://schemas.openxmlformats.org/drawingml/2006/main">
            <a:off x="2438400" y="5181600"/>
            <a:ext cx="6610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baseline -&gt; candidate -&gt; corpus + holdouts -&gt; review -&gt; promote</a:t>
            </a:r>
          </a:p>
        </p:txBody>
      </p:sp>
      <p:sp>
        <p:nvSpPr>
          <p:cNvPr id="36" name="text-84-582">
            <a:extLst xmlns:a="http://schemas.openxmlformats.org/drawingml/2006/main">
              <a:ext uri="{FF2B5EF4-FFF2-40B4-BE49-F238E27FC236}">
                <a16:creationId xmlns:a16="http://schemas.microsoft.com/office/drawing/2014/main" id="{E369739B-C58F-4F83-8CE8-50F16CF2F4F2}"/>
              </a:ext>
            </a:extLst>
          </p:cNvPr>
          <p:cNvSpPr>
            <a:spLocks xmlns:a="http://schemas.openxmlformats.org/drawingml/2006/main" noGrp="1"/>
          </p:cNvSpPr>
          <p:nvPr/>
        </p:nvSpPr>
        <p:spPr>
          <a:xfrm xmlns:a="http://schemas.openxmlformats.org/drawingml/2006/main">
            <a:off x="800100" y="5543550"/>
            <a:ext cx="8001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000000"/>
                </a:solidFill>
                <a:latin typeface="Helvetica Neue"/>
                <a:ea typeface="Helvetica Neue"/>
                <a:cs typeface="Helvetica Neue"/>
              </a:defRPr>
            </a:pPr>
            <a:r>
              <a:t>Measure</a:t>
            </a:r>
          </a:p>
        </p:txBody>
      </p:sp>
      <p:sp>
        <p:nvSpPr>
          <p:cNvPr id="37" name="text-176-582">
            <a:extLst xmlns:a="http://schemas.openxmlformats.org/drawingml/2006/main">
              <a:ext uri="{FF2B5EF4-FFF2-40B4-BE49-F238E27FC236}">
                <a16:creationId xmlns:a16="http://schemas.microsoft.com/office/drawing/2014/main" id="{5DFC408C-9D37-4E91-8148-0BFE1F5915A1}"/>
              </a:ext>
            </a:extLst>
          </p:cNvPr>
          <p:cNvSpPr>
            <a:spLocks xmlns:a="http://schemas.openxmlformats.org/drawingml/2006/main" noGrp="1"/>
          </p:cNvSpPr>
          <p:nvPr/>
        </p:nvSpPr>
        <p:spPr>
          <a:xfrm xmlns:a="http://schemas.openxmlformats.org/drawingml/2006/main">
            <a:off x="1676400" y="5543550"/>
            <a:ext cx="9620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semantic quality | behavioral efficiency | endpoint reliability | route outcome</a:t>
            </a:r>
          </a:p>
        </p:txBody>
      </p:sp>
      <p:sp>
        <p:nvSpPr>
          <p:cNvPr id="38" name="text-84-612">
            <a:extLst xmlns:a="http://schemas.openxmlformats.org/drawingml/2006/main">
              <a:ext uri="{FF2B5EF4-FFF2-40B4-BE49-F238E27FC236}">
                <a16:creationId xmlns:a16="http://schemas.microsoft.com/office/drawing/2014/main" id="{C5442805-116A-4481-8992-D58B9F02558C}"/>
              </a:ext>
            </a:extLst>
          </p:cNvPr>
          <p:cNvSpPr>
            <a:spLocks xmlns:a="http://schemas.openxmlformats.org/drawingml/2006/main" noGrp="1"/>
          </p:cNvSpPr>
          <p:nvPr/>
        </p:nvSpPr>
        <p:spPr>
          <a:xfrm xmlns:a="http://schemas.openxmlformats.org/drawingml/2006/main">
            <a:off x="800100" y="5829300"/>
            <a:ext cx="8001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B25D00"/>
                </a:solidFill>
                <a:latin typeface="Helvetica Neue"/>
                <a:ea typeface="Helvetica Neue"/>
                <a:cs typeface="Helvetica Neue"/>
              </a:defRPr>
            </a:pPr>
            <a:r>
              <a:t>Prohibit</a:t>
            </a:r>
          </a:p>
        </p:txBody>
      </p:sp>
      <p:sp>
        <p:nvSpPr>
          <p:cNvPr id="39" name="text-176-612">
            <a:extLst xmlns:a="http://schemas.openxmlformats.org/drawingml/2006/main">
              <a:ext uri="{FF2B5EF4-FFF2-40B4-BE49-F238E27FC236}">
                <a16:creationId xmlns:a16="http://schemas.microsoft.com/office/drawing/2014/main" id="{5359F993-76FB-4692-ABA0-C66E3FE75728}"/>
              </a:ext>
            </a:extLst>
          </p:cNvPr>
          <p:cNvSpPr>
            <a:spLocks xmlns:a="http://schemas.openxmlformats.org/drawingml/2006/main" noGrp="1"/>
          </p:cNvSpPr>
          <p:nvPr/>
        </p:nvSpPr>
        <p:spPr>
          <a:xfrm xmlns:a="http://schemas.openxmlformats.org/drawingml/2006/main">
            <a:off x="1676400" y="5829300"/>
            <a:ext cx="96202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case paths | test names | expected actions | literal signature -&gt; answer</a:t>
            </a:r>
          </a:p>
        </p:txBody>
      </p:sp>
    </p:spTree>
    <p:extLst>
      <p:ext uri="{BB962C8B-B14F-4D97-AF65-F5344CB8AC3E}">
        <p14:creationId xmlns:p14="http://schemas.microsoft.com/office/powerpoint/2010/main" val="70251042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ext-42-26">
            <a:extLst xmlns:a="http://schemas.openxmlformats.org/drawingml/2006/main">
              <a:ext uri="{FF2B5EF4-FFF2-40B4-BE49-F238E27FC236}">
                <a16:creationId xmlns:a16="http://schemas.microsoft.com/office/drawing/2014/main" id="{23813412-1518-49C1-A7D9-F0D64CB6D438}"/>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L1 KPIs</a:t>
            </a:r>
          </a:p>
        </p:txBody>
      </p:sp>
      <p:sp>
        <p:nvSpPr>
          <p:cNvPr id="2" name="text-42-54">
            <a:extLst xmlns:a="http://schemas.openxmlformats.org/drawingml/2006/main">
              <a:ext uri="{FF2B5EF4-FFF2-40B4-BE49-F238E27FC236}">
                <a16:creationId xmlns:a16="http://schemas.microsoft.com/office/drawing/2014/main" id="{8A8E2576-AE54-4CFA-AFC5-9158667FEE47}"/>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L1 qualification keeps four views separate</a:t>
            </a:r>
          </a:p>
        </p:txBody>
      </p:sp>
      <p:sp>
        <p:nvSpPr>
          <p:cNvPr id="3" name="line-42-133">
            <a:extLst xmlns:a="http://schemas.openxmlformats.org/drawingml/2006/main">
              <a:ext uri="{FF2B5EF4-FFF2-40B4-BE49-F238E27FC236}">
                <a16:creationId xmlns:a16="http://schemas.microsoft.com/office/drawing/2014/main" id="{E68365AB-C761-44FE-BDD8-C706D5505E02}"/>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204">
            <a:extLst xmlns:a="http://schemas.openxmlformats.org/drawingml/2006/main">
              <a:ext uri="{FF2B5EF4-FFF2-40B4-BE49-F238E27FC236}">
                <a16:creationId xmlns:a16="http://schemas.microsoft.com/office/drawing/2014/main" id="{0C2B5691-B0FA-4BD2-9EA8-C578D0C5FFCC}"/>
              </a:ext>
            </a:extLst>
          </p:cNvPr>
          <p:cNvSpPr>
            <a:spLocks xmlns:a="http://schemas.openxmlformats.org/drawingml/2006/main" noGrp="1"/>
          </p:cNvSpPr>
          <p:nvPr/>
        </p:nvSpPr>
        <p:spPr>
          <a:xfrm xmlns:a="http://schemas.openxmlformats.org/drawingml/2006/main">
            <a:off x="590550" y="1943100"/>
            <a:ext cx="3162300" cy="3333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5" name="text-82-228">
            <a:extLst xmlns:a="http://schemas.openxmlformats.org/drawingml/2006/main">
              <a:ext uri="{FF2B5EF4-FFF2-40B4-BE49-F238E27FC236}">
                <a16:creationId xmlns:a16="http://schemas.microsoft.com/office/drawing/2014/main" id="{837DEC8B-6FCB-455D-B1F7-56FC502E2053}"/>
              </a:ext>
            </a:extLst>
          </p:cNvPr>
          <p:cNvSpPr>
            <a:spLocks xmlns:a="http://schemas.openxmlformats.org/drawingml/2006/main" noGrp="1"/>
          </p:cNvSpPr>
          <p:nvPr/>
        </p:nvSpPr>
        <p:spPr>
          <a:xfrm xmlns:a="http://schemas.openxmlformats.org/drawingml/2006/main">
            <a:off x="781050" y="217170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Semantic quality</a:t>
            </a:r>
          </a:p>
        </p:txBody>
      </p:sp>
      <p:sp>
        <p:nvSpPr>
          <p:cNvPr id="6" name="text-82-274">
            <a:extLst xmlns:a="http://schemas.openxmlformats.org/drawingml/2006/main">
              <a:ext uri="{FF2B5EF4-FFF2-40B4-BE49-F238E27FC236}">
                <a16:creationId xmlns:a16="http://schemas.microsoft.com/office/drawing/2014/main" id="{048CC5D6-7E89-4A05-8DC9-6FB6F8C20775}"/>
              </a:ext>
            </a:extLst>
          </p:cNvPr>
          <p:cNvSpPr>
            <a:spLocks xmlns:a="http://schemas.openxmlformats.org/drawingml/2006/main" noGrp="1"/>
          </p:cNvSpPr>
          <p:nvPr/>
        </p:nvSpPr>
        <p:spPr>
          <a:xfrm xmlns:a="http://schemas.openxmlformats.org/drawingml/2006/main">
            <a:off x="781050" y="2609850"/>
            <a:ext cx="27813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Was the delivered assessment correct?</a:t>
            </a:r>
          </a:p>
        </p:txBody>
      </p:sp>
      <p:sp>
        <p:nvSpPr>
          <p:cNvPr id="7" name="dot-82-346">
            <a:extLst xmlns:a="http://schemas.openxmlformats.org/drawingml/2006/main">
              <a:ext uri="{FF2B5EF4-FFF2-40B4-BE49-F238E27FC236}">
                <a16:creationId xmlns:a16="http://schemas.microsoft.com/office/drawing/2014/main" id="{F3B197D2-71CE-4FAF-8DFF-7BA8C7BC069D}"/>
              </a:ext>
            </a:extLst>
          </p:cNvPr>
          <p:cNvSpPr>
            <a:spLocks xmlns:a="http://schemas.openxmlformats.org/drawingml/2006/main" noGrp="1"/>
          </p:cNvSpPr>
          <p:nvPr/>
        </p:nvSpPr>
        <p:spPr>
          <a:xfrm xmlns:a="http://schemas.openxmlformats.org/drawingml/2006/main">
            <a:off x="7810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102-338">
            <a:extLst xmlns:a="http://schemas.openxmlformats.org/drawingml/2006/main">
              <a:ext uri="{FF2B5EF4-FFF2-40B4-BE49-F238E27FC236}">
                <a16:creationId xmlns:a16="http://schemas.microsoft.com/office/drawing/2014/main" id="{012FA933-AB56-41A4-A13D-37075CA444A2}"/>
              </a:ext>
            </a:extLst>
          </p:cNvPr>
          <p:cNvSpPr>
            <a:spLocks xmlns:a="http://schemas.openxmlformats.org/drawingml/2006/main" noGrp="1"/>
          </p:cNvSpPr>
          <p:nvPr/>
        </p:nvSpPr>
        <p:spPr>
          <a:xfrm xmlns:a="http://schemas.openxmlformats.org/drawingml/2006/main">
            <a:off x="971550" y="32194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 mechanism vs gold</a:t>
            </a:r>
          </a:p>
        </p:txBody>
      </p:sp>
      <p:sp>
        <p:nvSpPr>
          <p:cNvPr id="9" name="dot-82-394">
            <a:extLst xmlns:a="http://schemas.openxmlformats.org/drawingml/2006/main">
              <a:ext uri="{FF2B5EF4-FFF2-40B4-BE49-F238E27FC236}">
                <a16:creationId xmlns:a16="http://schemas.microsoft.com/office/drawing/2014/main" id="{FFDFEA14-34C0-49FF-ADF4-187751D01199}"/>
              </a:ext>
            </a:extLst>
          </p:cNvPr>
          <p:cNvSpPr>
            <a:spLocks xmlns:a="http://schemas.openxmlformats.org/drawingml/2006/main" noGrp="1"/>
          </p:cNvSpPr>
          <p:nvPr/>
        </p:nvSpPr>
        <p:spPr>
          <a:xfrm xmlns:a="http://schemas.openxmlformats.org/drawingml/2006/main">
            <a:off x="7810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102-386">
            <a:extLst xmlns:a="http://schemas.openxmlformats.org/drawingml/2006/main">
              <a:ext uri="{FF2B5EF4-FFF2-40B4-BE49-F238E27FC236}">
                <a16:creationId xmlns:a16="http://schemas.microsoft.com/office/drawing/2014/main" id="{BD7A96CD-9E34-438F-94C7-514813915CF8}"/>
              </a:ext>
            </a:extLst>
          </p:cNvPr>
          <p:cNvSpPr>
            <a:spLocks xmlns:a="http://schemas.openxmlformats.org/drawingml/2006/main" noGrp="1"/>
          </p:cNvSpPr>
          <p:nvPr/>
        </p:nvSpPr>
        <p:spPr>
          <a:xfrm xmlns:a="http://schemas.openxmlformats.org/drawingml/2006/main">
            <a:off x="971550" y="36766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Two claim values + statuses vs gold</a:t>
            </a:r>
          </a:p>
        </p:txBody>
      </p:sp>
      <p:sp>
        <p:nvSpPr>
          <p:cNvPr id="11" name="dot-82-442">
            <a:extLst xmlns:a="http://schemas.openxmlformats.org/drawingml/2006/main">
              <a:ext uri="{FF2B5EF4-FFF2-40B4-BE49-F238E27FC236}">
                <a16:creationId xmlns:a16="http://schemas.microsoft.com/office/drawing/2014/main" id="{7FF5343F-4187-489C-B9C7-CA599FECAA34}"/>
              </a:ext>
            </a:extLst>
          </p:cNvPr>
          <p:cNvSpPr>
            <a:spLocks xmlns:a="http://schemas.openxmlformats.org/drawingml/2006/main" noGrp="1"/>
          </p:cNvSpPr>
          <p:nvPr/>
        </p:nvSpPr>
        <p:spPr>
          <a:xfrm xmlns:a="http://schemas.openxmlformats.org/drawingml/2006/main">
            <a:off x="7810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text-102-434">
            <a:extLst xmlns:a="http://schemas.openxmlformats.org/drawingml/2006/main">
              <a:ext uri="{FF2B5EF4-FFF2-40B4-BE49-F238E27FC236}">
                <a16:creationId xmlns:a16="http://schemas.microsoft.com/office/drawing/2014/main" id="{7C2593A0-C5F1-4FD7-8346-074B266CBEEC}"/>
              </a:ext>
            </a:extLst>
          </p:cNvPr>
          <p:cNvSpPr>
            <a:spLocks xmlns:a="http://schemas.openxmlformats.org/drawingml/2006/main" noGrp="1"/>
          </p:cNvSpPr>
          <p:nvPr/>
        </p:nvSpPr>
        <p:spPr>
          <a:xfrm xmlns:a="http://schemas.openxmlformats.org/drawingml/2006/main">
            <a:off x="971550" y="41338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Unsupported claims + calibration</a:t>
            </a:r>
          </a:p>
        </p:txBody>
      </p:sp>
      <p:sp>
        <p:nvSpPr>
          <p:cNvPr id="13" name="dot-82-490">
            <a:extLst xmlns:a="http://schemas.openxmlformats.org/drawingml/2006/main">
              <a:ext uri="{FF2B5EF4-FFF2-40B4-BE49-F238E27FC236}">
                <a16:creationId xmlns:a16="http://schemas.microsoft.com/office/drawing/2014/main" id="{80C668A4-5F48-4B25-BE69-90AF3FFA9ED3}"/>
              </a:ext>
            </a:extLst>
          </p:cNvPr>
          <p:cNvSpPr>
            <a:spLocks xmlns:a="http://schemas.openxmlformats.org/drawingml/2006/main" noGrp="1"/>
          </p:cNvSpPr>
          <p:nvPr/>
        </p:nvSpPr>
        <p:spPr>
          <a:xfrm xmlns:a="http://schemas.openxmlformats.org/drawingml/2006/main">
            <a:off x="7810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4" name="text-102-482">
            <a:extLst xmlns:a="http://schemas.openxmlformats.org/drawingml/2006/main">
              <a:ext uri="{FF2B5EF4-FFF2-40B4-BE49-F238E27FC236}">
                <a16:creationId xmlns:a16="http://schemas.microsoft.com/office/drawing/2014/main" id="{5EA7E69B-1E68-4227-8351-815D4E8E88B6}"/>
              </a:ext>
            </a:extLst>
          </p:cNvPr>
          <p:cNvSpPr>
            <a:spLocks xmlns:a="http://schemas.openxmlformats.org/drawingml/2006/main" noGrp="1"/>
          </p:cNvSpPr>
          <p:nvPr/>
        </p:nvSpPr>
        <p:spPr>
          <a:xfrm xmlns:a="http://schemas.openxmlformats.org/drawingml/2006/main">
            <a:off x="971550" y="45910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Structured-output usability</a:t>
            </a:r>
          </a:p>
        </p:txBody>
      </p:sp>
      <p:sp>
        <p:nvSpPr>
          <p:cNvPr id="15" name="box-434-204">
            <a:extLst xmlns:a="http://schemas.openxmlformats.org/drawingml/2006/main">
              <a:ext uri="{FF2B5EF4-FFF2-40B4-BE49-F238E27FC236}">
                <a16:creationId xmlns:a16="http://schemas.microsoft.com/office/drawing/2014/main" id="{435C183F-E816-42C7-8220-9C299BDDF59C}"/>
              </a:ext>
            </a:extLst>
          </p:cNvPr>
          <p:cNvSpPr>
            <a:spLocks xmlns:a="http://schemas.openxmlformats.org/drawingml/2006/main" noGrp="1"/>
          </p:cNvSpPr>
          <p:nvPr/>
        </p:nvSpPr>
        <p:spPr>
          <a:xfrm xmlns:a="http://schemas.openxmlformats.org/drawingml/2006/main">
            <a:off x="4133850" y="1943100"/>
            <a:ext cx="3162300" cy="3333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6" name="text-454-228">
            <a:extLst xmlns:a="http://schemas.openxmlformats.org/drawingml/2006/main">
              <a:ext uri="{FF2B5EF4-FFF2-40B4-BE49-F238E27FC236}">
                <a16:creationId xmlns:a16="http://schemas.microsoft.com/office/drawing/2014/main" id="{075E886D-3563-4D80-8237-69BE1543388F}"/>
              </a:ext>
            </a:extLst>
          </p:cNvPr>
          <p:cNvSpPr>
            <a:spLocks xmlns:a="http://schemas.openxmlformats.org/drawingml/2006/main" noGrp="1"/>
          </p:cNvSpPr>
          <p:nvPr/>
        </p:nvSpPr>
        <p:spPr>
          <a:xfrm xmlns:a="http://schemas.openxmlformats.org/drawingml/2006/main">
            <a:off x="4324350" y="217170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Behavioral efficiency</a:t>
            </a:r>
          </a:p>
        </p:txBody>
      </p:sp>
      <p:sp>
        <p:nvSpPr>
          <p:cNvPr id="17" name="text-454-274">
            <a:extLst xmlns:a="http://schemas.openxmlformats.org/drawingml/2006/main">
              <a:ext uri="{FF2B5EF4-FFF2-40B4-BE49-F238E27FC236}">
                <a16:creationId xmlns:a16="http://schemas.microsoft.com/office/drawing/2014/main" id="{ED1373E7-BFC9-45D0-89E6-F452493F49BE}"/>
              </a:ext>
            </a:extLst>
          </p:cNvPr>
          <p:cNvSpPr>
            <a:spLocks xmlns:a="http://schemas.openxmlformats.org/drawingml/2006/main" noGrp="1"/>
          </p:cNvSpPr>
          <p:nvPr/>
        </p:nvSpPr>
        <p:spPr>
          <a:xfrm xmlns:a="http://schemas.openxmlformats.org/drawingml/2006/main">
            <a:off x="4324350" y="2609850"/>
            <a:ext cx="27813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How much interaction was needed?</a:t>
            </a:r>
          </a:p>
        </p:txBody>
      </p:sp>
      <p:sp>
        <p:nvSpPr>
          <p:cNvPr id="18" name="dot-454-346">
            <a:extLst xmlns:a="http://schemas.openxmlformats.org/drawingml/2006/main">
              <a:ext uri="{FF2B5EF4-FFF2-40B4-BE49-F238E27FC236}">
                <a16:creationId xmlns:a16="http://schemas.microsoft.com/office/drawing/2014/main" id="{E4F3B451-014C-44CA-A21D-CB71042C69AC}"/>
              </a:ext>
            </a:extLst>
          </p:cNvPr>
          <p:cNvSpPr>
            <a:spLocks xmlns:a="http://schemas.openxmlformats.org/drawingml/2006/main" noGrp="1"/>
          </p:cNvSpPr>
          <p:nvPr/>
        </p:nvSpPr>
        <p:spPr>
          <a:xfrm xmlns:a="http://schemas.openxmlformats.org/drawingml/2006/main">
            <a:off x="43243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74-338">
            <a:extLst xmlns:a="http://schemas.openxmlformats.org/drawingml/2006/main">
              <a:ext uri="{FF2B5EF4-FFF2-40B4-BE49-F238E27FC236}">
                <a16:creationId xmlns:a16="http://schemas.microsoft.com/office/drawing/2014/main" id="{1382B0AA-6021-4D47-BE77-CD39228C8C8D}"/>
              </a:ext>
            </a:extLst>
          </p:cNvPr>
          <p:cNvSpPr>
            <a:spLocks xmlns:a="http://schemas.openxmlformats.org/drawingml/2006/main" noGrp="1"/>
          </p:cNvSpPr>
          <p:nvPr/>
        </p:nvSpPr>
        <p:spPr>
          <a:xfrm xmlns:a="http://schemas.openxmlformats.org/drawingml/2006/main">
            <a:off x="4514850" y="32194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First-turn usable result</a:t>
            </a:r>
          </a:p>
        </p:txBody>
      </p:sp>
      <p:sp>
        <p:nvSpPr>
          <p:cNvPr id="20" name="dot-454-394">
            <a:extLst xmlns:a="http://schemas.openxmlformats.org/drawingml/2006/main">
              <a:ext uri="{FF2B5EF4-FFF2-40B4-BE49-F238E27FC236}">
                <a16:creationId xmlns:a16="http://schemas.microsoft.com/office/drawing/2014/main" id="{098ABA61-4D6A-42AD-B505-5BABC1E860C7}"/>
              </a:ext>
            </a:extLst>
          </p:cNvPr>
          <p:cNvSpPr>
            <a:spLocks xmlns:a="http://schemas.openxmlformats.org/drawingml/2006/main" noGrp="1"/>
          </p:cNvSpPr>
          <p:nvPr/>
        </p:nvSpPr>
        <p:spPr>
          <a:xfrm xmlns:a="http://schemas.openxmlformats.org/drawingml/2006/main">
            <a:off x="43243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74-386">
            <a:extLst xmlns:a="http://schemas.openxmlformats.org/drawingml/2006/main">
              <a:ext uri="{FF2B5EF4-FFF2-40B4-BE49-F238E27FC236}">
                <a16:creationId xmlns:a16="http://schemas.microsoft.com/office/drawing/2014/main" id="{011AE2DB-B30F-4A47-B1BC-3A2BD57E9DE5}"/>
              </a:ext>
            </a:extLst>
          </p:cNvPr>
          <p:cNvSpPr>
            <a:spLocks xmlns:a="http://schemas.openxmlformats.org/drawingml/2006/main" noGrp="1"/>
          </p:cNvSpPr>
          <p:nvPr/>
        </p:nvSpPr>
        <p:spPr>
          <a:xfrm xmlns:a="http://schemas.openxmlformats.org/drawingml/2006/main">
            <a:off x="4514850" y="36766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Tool yield + redundancy</a:t>
            </a:r>
          </a:p>
        </p:txBody>
      </p:sp>
      <p:sp>
        <p:nvSpPr>
          <p:cNvPr id="22" name="dot-454-442">
            <a:extLst xmlns:a="http://schemas.openxmlformats.org/drawingml/2006/main">
              <a:ext uri="{FF2B5EF4-FFF2-40B4-BE49-F238E27FC236}">
                <a16:creationId xmlns:a16="http://schemas.microsoft.com/office/drawing/2014/main" id="{7EC1F130-2EA9-497B-9D22-5DFB09EE2810}"/>
              </a:ext>
            </a:extLst>
          </p:cNvPr>
          <p:cNvSpPr>
            <a:spLocks xmlns:a="http://schemas.openxmlformats.org/drawingml/2006/main" noGrp="1"/>
          </p:cNvSpPr>
          <p:nvPr/>
        </p:nvSpPr>
        <p:spPr>
          <a:xfrm xmlns:a="http://schemas.openxmlformats.org/drawingml/2006/main">
            <a:off x="43243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text-474-434">
            <a:extLst xmlns:a="http://schemas.openxmlformats.org/drawingml/2006/main">
              <a:ext uri="{FF2B5EF4-FFF2-40B4-BE49-F238E27FC236}">
                <a16:creationId xmlns:a16="http://schemas.microsoft.com/office/drawing/2014/main" id="{9408385C-F539-4B33-8BE5-08AB62EDC890}"/>
              </a:ext>
            </a:extLst>
          </p:cNvPr>
          <p:cNvSpPr>
            <a:spLocks xmlns:a="http://schemas.openxmlformats.org/drawingml/2006/main" noGrp="1"/>
          </p:cNvSpPr>
          <p:nvPr/>
        </p:nvSpPr>
        <p:spPr>
          <a:xfrm xmlns:a="http://schemas.openxmlformats.org/drawingml/2006/main">
            <a:off x="4514850" y="41338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Model / tool / repair turns</a:t>
            </a:r>
          </a:p>
        </p:txBody>
      </p:sp>
      <p:sp>
        <p:nvSpPr>
          <p:cNvPr id="24" name="dot-454-490">
            <a:extLst xmlns:a="http://schemas.openxmlformats.org/drawingml/2006/main">
              <a:ext uri="{FF2B5EF4-FFF2-40B4-BE49-F238E27FC236}">
                <a16:creationId xmlns:a16="http://schemas.microsoft.com/office/drawing/2014/main" id="{11436AF2-3B63-47C9-8591-135E7C8DF62C}"/>
              </a:ext>
            </a:extLst>
          </p:cNvPr>
          <p:cNvSpPr>
            <a:spLocks xmlns:a="http://schemas.openxmlformats.org/drawingml/2006/main" noGrp="1"/>
          </p:cNvSpPr>
          <p:nvPr/>
        </p:nvSpPr>
        <p:spPr>
          <a:xfrm xmlns:a="http://schemas.openxmlformats.org/drawingml/2006/main">
            <a:off x="43243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5" name="text-474-482">
            <a:extLst xmlns:a="http://schemas.openxmlformats.org/drawingml/2006/main">
              <a:ext uri="{FF2B5EF4-FFF2-40B4-BE49-F238E27FC236}">
                <a16:creationId xmlns:a16="http://schemas.microsoft.com/office/drawing/2014/main" id="{698854A5-6888-4B62-A3AD-C1803740F844}"/>
              </a:ext>
            </a:extLst>
          </p:cNvPr>
          <p:cNvSpPr>
            <a:spLocks xmlns:a="http://schemas.openxmlformats.org/drawingml/2006/main" noGrp="1"/>
          </p:cNvSpPr>
          <p:nvPr/>
        </p:nvSpPr>
        <p:spPr>
          <a:xfrm xmlns:a="http://schemas.openxmlformats.org/drawingml/2006/main">
            <a:off x="4514850" y="45910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Input / output / reasoning tokens</a:t>
            </a:r>
          </a:p>
        </p:txBody>
      </p:sp>
      <p:sp>
        <p:nvSpPr>
          <p:cNvPr id="26" name="box-806-204">
            <a:extLst xmlns:a="http://schemas.openxmlformats.org/drawingml/2006/main">
              <a:ext uri="{FF2B5EF4-FFF2-40B4-BE49-F238E27FC236}">
                <a16:creationId xmlns:a16="http://schemas.microsoft.com/office/drawing/2014/main" id="{B9EC248C-F853-4782-A014-F6636CEAA407}"/>
              </a:ext>
            </a:extLst>
          </p:cNvPr>
          <p:cNvSpPr>
            <a:spLocks xmlns:a="http://schemas.openxmlformats.org/drawingml/2006/main" noGrp="1"/>
          </p:cNvSpPr>
          <p:nvPr/>
        </p:nvSpPr>
        <p:spPr>
          <a:xfrm xmlns:a="http://schemas.openxmlformats.org/drawingml/2006/main">
            <a:off x="7677150" y="1943100"/>
            <a:ext cx="3162300" cy="3333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7" name="text-826-228">
            <a:extLst xmlns:a="http://schemas.openxmlformats.org/drawingml/2006/main">
              <a:ext uri="{FF2B5EF4-FFF2-40B4-BE49-F238E27FC236}">
                <a16:creationId xmlns:a16="http://schemas.microsoft.com/office/drawing/2014/main" id="{BB12DD38-7575-4F68-84F1-7988E0C8E56A}"/>
              </a:ext>
            </a:extLst>
          </p:cNvPr>
          <p:cNvSpPr>
            <a:spLocks xmlns:a="http://schemas.openxmlformats.org/drawingml/2006/main" noGrp="1"/>
          </p:cNvSpPr>
          <p:nvPr/>
        </p:nvSpPr>
        <p:spPr>
          <a:xfrm xmlns:a="http://schemas.openxmlformats.org/drawingml/2006/main">
            <a:off x="7867650" y="217170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Endpoint reliability</a:t>
            </a:r>
          </a:p>
        </p:txBody>
      </p:sp>
      <p:sp>
        <p:nvSpPr>
          <p:cNvPr id="28" name="text-826-274">
            <a:extLst xmlns:a="http://schemas.openxmlformats.org/drawingml/2006/main">
              <a:ext uri="{FF2B5EF4-FFF2-40B4-BE49-F238E27FC236}">
                <a16:creationId xmlns:a16="http://schemas.microsoft.com/office/drawing/2014/main" id="{AA949DFE-7283-4B3C-A713-B686BD3B1226}"/>
              </a:ext>
            </a:extLst>
          </p:cNvPr>
          <p:cNvSpPr>
            <a:spLocks xmlns:a="http://schemas.openxmlformats.org/drawingml/2006/main" noGrp="1"/>
          </p:cNvSpPr>
          <p:nvPr/>
        </p:nvSpPr>
        <p:spPr>
          <a:xfrm xmlns:a="http://schemas.openxmlformats.org/drawingml/2006/main">
            <a:off x="7867650" y="2609850"/>
            <a:ext cx="27813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Did the provider deliver predictably?</a:t>
            </a:r>
          </a:p>
        </p:txBody>
      </p:sp>
      <p:sp>
        <p:nvSpPr>
          <p:cNvPr id="29" name="dot-826-346">
            <a:extLst xmlns:a="http://schemas.openxmlformats.org/drawingml/2006/main">
              <a:ext uri="{FF2B5EF4-FFF2-40B4-BE49-F238E27FC236}">
                <a16:creationId xmlns:a16="http://schemas.microsoft.com/office/drawing/2014/main" id="{15372503-ACD7-4F53-B20D-B0CAC052ED73}"/>
              </a:ext>
            </a:extLst>
          </p:cNvPr>
          <p:cNvSpPr>
            <a:spLocks xmlns:a="http://schemas.openxmlformats.org/drawingml/2006/main" noGrp="1"/>
          </p:cNvSpPr>
          <p:nvPr/>
        </p:nvSpPr>
        <p:spPr>
          <a:xfrm xmlns:a="http://schemas.openxmlformats.org/drawingml/2006/main">
            <a:off x="78676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0" name="text-846-338">
            <a:extLst xmlns:a="http://schemas.openxmlformats.org/drawingml/2006/main">
              <a:ext uri="{FF2B5EF4-FFF2-40B4-BE49-F238E27FC236}">
                <a16:creationId xmlns:a16="http://schemas.microsoft.com/office/drawing/2014/main" id="{E1BA75C4-AF2B-4210-87A0-5223AC124CD4}"/>
              </a:ext>
            </a:extLst>
          </p:cNvPr>
          <p:cNvSpPr>
            <a:spLocks xmlns:a="http://schemas.openxmlformats.org/drawingml/2006/main" noGrp="1"/>
          </p:cNvSpPr>
          <p:nvPr/>
        </p:nvSpPr>
        <p:spPr>
          <a:xfrm xmlns:a="http://schemas.openxmlformats.org/drawingml/2006/main">
            <a:off x="8058150" y="32194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Successful / failed attempts</a:t>
            </a:r>
          </a:p>
        </p:txBody>
      </p:sp>
      <p:sp>
        <p:nvSpPr>
          <p:cNvPr id="31" name="dot-826-394">
            <a:extLst xmlns:a="http://schemas.openxmlformats.org/drawingml/2006/main">
              <a:ext uri="{FF2B5EF4-FFF2-40B4-BE49-F238E27FC236}">
                <a16:creationId xmlns:a16="http://schemas.microsoft.com/office/drawing/2014/main" id="{2E273ABE-FF67-4931-B4AD-0A4BA83D9F10}"/>
              </a:ext>
            </a:extLst>
          </p:cNvPr>
          <p:cNvSpPr>
            <a:spLocks xmlns:a="http://schemas.openxmlformats.org/drawingml/2006/main" noGrp="1"/>
          </p:cNvSpPr>
          <p:nvPr/>
        </p:nvSpPr>
        <p:spPr>
          <a:xfrm xmlns:a="http://schemas.openxmlformats.org/drawingml/2006/main">
            <a:off x="78676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2" name="text-846-386">
            <a:extLst xmlns:a="http://schemas.openxmlformats.org/drawingml/2006/main">
              <a:ext uri="{FF2B5EF4-FFF2-40B4-BE49-F238E27FC236}">
                <a16:creationId xmlns:a16="http://schemas.microsoft.com/office/drawing/2014/main" id="{C6B59F61-7C88-40A8-A190-449A39789C40}"/>
              </a:ext>
            </a:extLst>
          </p:cNvPr>
          <p:cNvSpPr>
            <a:spLocks xmlns:a="http://schemas.openxmlformats.org/drawingml/2006/main" noGrp="1"/>
          </p:cNvSpPr>
          <p:nvPr/>
        </p:nvSpPr>
        <p:spPr>
          <a:xfrm xmlns:a="http://schemas.openxmlformats.org/drawingml/2006/main">
            <a:off x="8058150" y="36766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Retries, timeouts, and 5xx</a:t>
            </a:r>
          </a:p>
        </p:txBody>
      </p:sp>
      <p:sp>
        <p:nvSpPr>
          <p:cNvPr id="33" name="dot-826-442">
            <a:extLst xmlns:a="http://schemas.openxmlformats.org/drawingml/2006/main">
              <a:ext uri="{FF2B5EF4-FFF2-40B4-BE49-F238E27FC236}">
                <a16:creationId xmlns:a16="http://schemas.microsoft.com/office/drawing/2014/main" id="{A392822F-91ED-49DE-8F09-E08336011FE2}"/>
              </a:ext>
            </a:extLst>
          </p:cNvPr>
          <p:cNvSpPr>
            <a:spLocks xmlns:a="http://schemas.openxmlformats.org/drawingml/2006/main" noGrp="1"/>
          </p:cNvSpPr>
          <p:nvPr/>
        </p:nvSpPr>
        <p:spPr>
          <a:xfrm xmlns:a="http://schemas.openxmlformats.org/drawingml/2006/main">
            <a:off x="78676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4" name="text-846-434">
            <a:extLst xmlns:a="http://schemas.openxmlformats.org/drawingml/2006/main">
              <a:ext uri="{FF2B5EF4-FFF2-40B4-BE49-F238E27FC236}">
                <a16:creationId xmlns:a16="http://schemas.microsoft.com/office/drawing/2014/main" id="{4CCFFAC5-3FEC-4F3F-8C75-FCE5564CD7E5}"/>
              </a:ext>
            </a:extLst>
          </p:cNvPr>
          <p:cNvSpPr>
            <a:spLocks xmlns:a="http://schemas.openxmlformats.org/drawingml/2006/main" noGrp="1"/>
          </p:cNvSpPr>
          <p:nvPr/>
        </p:nvSpPr>
        <p:spPr>
          <a:xfrm xmlns:a="http://schemas.openxmlformats.org/drawingml/2006/main">
            <a:off x="8058150" y="41338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Failed-call time</a:t>
            </a:r>
          </a:p>
        </p:txBody>
      </p:sp>
      <p:sp>
        <p:nvSpPr>
          <p:cNvPr id="35" name="dot-826-490">
            <a:extLst xmlns:a="http://schemas.openxmlformats.org/drawingml/2006/main">
              <a:ext uri="{FF2B5EF4-FFF2-40B4-BE49-F238E27FC236}">
                <a16:creationId xmlns:a16="http://schemas.microsoft.com/office/drawing/2014/main" id="{9A36DFD6-5819-405F-859A-254A876D5432}"/>
              </a:ext>
            </a:extLst>
          </p:cNvPr>
          <p:cNvSpPr>
            <a:spLocks xmlns:a="http://schemas.openxmlformats.org/drawingml/2006/main" noGrp="1"/>
          </p:cNvSpPr>
          <p:nvPr/>
        </p:nvSpPr>
        <p:spPr>
          <a:xfrm xmlns:a="http://schemas.openxmlformats.org/drawingml/2006/main">
            <a:off x="78676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6" name="text-846-482">
            <a:extLst xmlns:a="http://schemas.openxmlformats.org/drawingml/2006/main">
              <a:ext uri="{FF2B5EF4-FFF2-40B4-BE49-F238E27FC236}">
                <a16:creationId xmlns:a16="http://schemas.microsoft.com/office/drawing/2014/main" id="{75386F7A-122C-4DDC-A1C4-605FD6FED57F}"/>
              </a:ext>
            </a:extLst>
          </p:cNvPr>
          <p:cNvSpPr>
            <a:spLocks xmlns:a="http://schemas.openxmlformats.org/drawingml/2006/main" noGrp="1"/>
          </p:cNvSpPr>
          <p:nvPr/>
        </p:nvSpPr>
        <p:spPr>
          <a:xfrm xmlns:a="http://schemas.openxmlformats.org/drawingml/2006/main">
            <a:off x="8058150" y="45910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Availability / empty responses</a:t>
            </a:r>
          </a:p>
        </p:txBody>
      </p:sp>
      <p:sp>
        <p:nvSpPr>
          <p:cNvPr id="37" name="box-168-584">
            <a:extLst xmlns:a="http://schemas.openxmlformats.org/drawingml/2006/main">
              <a:ext uri="{FF2B5EF4-FFF2-40B4-BE49-F238E27FC236}">
                <a16:creationId xmlns:a16="http://schemas.microsoft.com/office/drawing/2014/main" id="{F5772BEA-6627-409E-A756-EC6C013A3080}"/>
              </a:ext>
            </a:extLst>
          </p:cNvPr>
          <p:cNvSpPr>
            <a:spLocks xmlns:a="http://schemas.openxmlformats.org/drawingml/2006/main" noGrp="1"/>
          </p:cNvSpPr>
          <p:nvPr/>
        </p:nvSpPr>
        <p:spPr>
          <a:xfrm xmlns:a="http://schemas.openxmlformats.org/drawingml/2006/main">
            <a:off x="1600200" y="5562600"/>
            <a:ext cx="8991600" cy="5524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8" name="text-194-601">
            <a:extLst xmlns:a="http://schemas.openxmlformats.org/drawingml/2006/main">
              <a:ext uri="{FF2B5EF4-FFF2-40B4-BE49-F238E27FC236}">
                <a16:creationId xmlns:a16="http://schemas.microsoft.com/office/drawing/2014/main" id="{2FC472DE-FB6B-45DE-BC1D-D8744818EF78}"/>
              </a:ext>
            </a:extLst>
          </p:cNvPr>
          <p:cNvSpPr>
            <a:spLocks xmlns:a="http://schemas.openxmlformats.org/drawingml/2006/main" noGrp="1"/>
          </p:cNvSpPr>
          <p:nvPr/>
        </p:nvSpPr>
        <p:spPr>
          <a:xfrm xmlns:a="http://schemas.openxmlformats.org/drawingml/2006/main">
            <a:off x="1847850" y="5724525"/>
            <a:ext cx="25146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ROUTE OUTCOME</a:t>
            </a:r>
          </a:p>
        </p:txBody>
      </p:sp>
      <p:sp>
        <p:nvSpPr>
          <p:cNvPr id="39" name="text-472-601">
            <a:extLst xmlns:a="http://schemas.openxmlformats.org/drawingml/2006/main">
              <a:ext uri="{FF2B5EF4-FFF2-40B4-BE49-F238E27FC236}">
                <a16:creationId xmlns:a16="http://schemas.microsoft.com/office/drawing/2014/main" id="{93F11C21-82AA-45A8-89C0-B6BFD731E15D}"/>
              </a:ext>
            </a:extLst>
          </p:cNvPr>
          <p:cNvSpPr>
            <a:spLocks xmlns:a="http://schemas.openxmlformats.org/drawingml/2006/main" noGrp="1"/>
          </p:cNvSpPr>
          <p:nvPr/>
        </p:nvSpPr>
        <p:spPr>
          <a:xfrm xmlns:a="http://schemas.openxmlformats.org/drawingml/2006/main">
            <a:off x="4495800" y="5724525"/>
            <a:ext cx="5829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0">
                <a:solidFill>
                  <a:srgbClr val="5D6470"/>
                </a:solidFill>
                <a:latin typeface="Helvetica Neue"/>
                <a:ea typeface="Helvetica Neue"/>
                <a:cs typeface="Helvetica Neue"/>
              </a:defRPr>
            </a:pPr>
            <a:r>
              <a:t>Deterministic vs enriched | usable / NVRx eligible | latency | deadline hit</a:t>
            </a:r>
          </a:p>
        </p:txBody>
      </p:sp>
    </p:spTree>
    <p:extLst>
      <p:ext uri="{BB962C8B-B14F-4D97-AF65-F5344CB8AC3E}">
        <p14:creationId xmlns:p14="http://schemas.microsoft.com/office/powerpoint/2010/main" val="159494665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ext-42-26">
            <a:extLst xmlns:a="http://schemas.openxmlformats.org/drawingml/2006/main">
              <a:ext uri="{FF2B5EF4-FFF2-40B4-BE49-F238E27FC236}">
                <a16:creationId xmlns:a16="http://schemas.microsoft.com/office/drawing/2014/main" id="{23813412-1518-49C1-A7D9-F0D64CB6D438}"/>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L1 KPI EXAMPLE</a:t>
            </a:r>
          </a:p>
        </p:txBody>
      </p:sp>
      <p:sp>
        <p:nvSpPr>
          <p:cNvPr id="2" name="text-42-54">
            <a:extLst xmlns:a="http://schemas.openxmlformats.org/drawingml/2006/main">
              <a:ext uri="{FF2B5EF4-FFF2-40B4-BE49-F238E27FC236}">
                <a16:creationId xmlns:a16="http://schemas.microsoft.com/office/drawing/2014/main" id="{8A8E2576-AE54-4CFA-AFC5-9158667FEE47}"/>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One log separates correctness, efficiency, and delivery</a:t>
            </a:r>
          </a:p>
        </p:txBody>
      </p:sp>
      <p:sp>
        <p:nvSpPr>
          <p:cNvPr id="3" name="line-42-133">
            <a:extLst xmlns:a="http://schemas.openxmlformats.org/drawingml/2006/main">
              <a:ext uri="{FF2B5EF4-FFF2-40B4-BE49-F238E27FC236}">
                <a16:creationId xmlns:a16="http://schemas.microsoft.com/office/drawing/2014/main" id="{E68365AB-C761-44FE-BDD8-C706D5505E02}"/>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204">
            <a:extLst xmlns:a="http://schemas.openxmlformats.org/drawingml/2006/main">
              <a:ext uri="{FF2B5EF4-FFF2-40B4-BE49-F238E27FC236}">
                <a16:creationId xmlns:a16="http://schemas.microsoft.com/office/drawing/2014/main" id="{0C2B5691-B0FA-4BD2-9EA8-C578D0C5FFCC}"/>
              </a:ext>
            </a:extLst>
          </p:cNvPr>
          <p:cNvSpPr>
            <a:spLocks xmlns:a="http://schemas.openxmlformats.org/drawingml/2006/main" noGrp="1"/>
          </p:cNvSpPr>
          <p:nvPr/>
        </p:nvSpPr>
        <p:spPr>
          <a:xfrm xmlns:a="http://schemas.openxmlformats.org/drawingml/2006/main">
            <a:off x="590550" y="1943100"/>
            <a:ext cx="3162300" cy="3333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5" name="text-82-228">
            <a:extLst xmlns:a="http://schemas.openxmlformats.org/drawingml/2006/main">
              <a:ext uri="{FF2B5EF4-FFF2-40B4-BE49-F238E27FC236}">
                <a16:creationId xmlns:a16="http://schemas.microsoft.com/office/drawing/2014/main" id="{837DEC8B-6FCB-455D-B1F7-56FC502E2053}"/>
              </a:ext>
            </a:extLst>
          </p:cNvPr>
          <p:cNvSpPr>
            <a:spLocks xmlns:a="http://schemas.openxmlformats.org/drawingml/2006/main" noGrp="1"/>
          </p:cNvSpPr>
          <p:nvPr/>
        </p:nvSpPr>
        <p:spPr>
          <a:xfrm xmlns:a="http://schemas.openxmlformats.org/drawingml/2006/main">
            <a:off x="781050" y="217170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Route A: fast and correct</a:t>
            </a:r>
          </a:p>
        </p:txBody>
      </p:sp>
      <p:sp>
        <p:nvSpPr>
          <p:cNvPr id="6" name="text-82-274">
            <a:extLst xmlns:a="http://schemas.openxmlformats.org/drawingml/2006/main">
              <a:ext uri="{FF2B5EF4-FFF2-40B4-BE49-F238E27FC236}">
                <a16:creationId xmlns:a16="http://schemas.microsoft.com/office/drawing/2014/main" id="{048CC5D6-7E89-4A05-8DC9-6FB6F8C20775}"/>
              </a:ext>
            </a:extLst>
          </p:cNvPr>
          <p:cNvSpPr>
            <a:spLocks xmlns:a="http://schemas.openxmlformats.org/drawingml/2006/main" noGrp="1"/>
          </p:cNvSpPr>
          <p:nvPr/>
        </p:nvSpPr>
        <p:spPr>
          <a:xfrm xmlns:a="http://schemas.openxmlformats.org/drawingml/2006/main">
            <a:off x="781050" y="2609850"/>
            <a:ext cx="27813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Gold-aligned semantics</a:t>
            </a:r>
          </a:p>
        </p:txBody>
      </p:sp>
      <p:sp>
        <p:nvSpPr>
          <p:cNvPr id="7" name="dot-82-346">
            <a:extLst xmlns:a="http://schemas.openxmlformats.org/drawingml/2006/main">
              <a:ext uri="{FF2B5EF4-FFF2-40B4-BE49-F238E27FC236}">
                <a16:creationId xmlns:a16="http://schemas.microsoft.com/office/drawing/2014/main" id="{F3B197D2-71CE-4FAF-8DFF-7BA8C7BC069D}"/>
              </a:ext>
            </a:extLst>
          </p:cNvPr>
          <p:cNvSpPr>
            <a:spLocks xmlns:a="http://schemas.openxmlformats.org/drawingml/2006/main" noGrp="1"/>
          </p:cNvSpPr>
          <p:nvPr/>
        </p:nvSpPr>
        <p:spPr>
          <a:xfrm xmlns:a="http://schemas.openxmlformats.org/drawingml/2006/main">
            <a:off x="7810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102-338">
            <a:extLst xmlns:a="http://schemas.openxmlformats.org/drawingml/2006/main">
              <a:ext uri="{FF2B5EF4-FFF2-40B4-BE49-F238E27FC236}">
                <a16:creationId xmlns:a16="http://schemas.microsoft.com/office/drawing/2014/main" id="{012FA933-AB56-41A4-A13D-37075CA444A2}"/>
              </a:ext>
            </a:extLst>
          </p:cNvPr>
          <p:cNvSpPr>
            <a:spLocks xmlns:a="http://schemas.openxmlformats.org/drawingml/2006/main" noGrp="1"/>
          </p:cNvSpPr>
          <p:nvPr/>
        </p:nvSpPr>
        <p:spPr>
          <a:xfrm xmlns:a="http://schemas.openxmlformats.org/drawingml/2006/main">
            <a:off x="971550" y="32194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12083 / UnicodeDecodeError</a:t>
            </a:r>
          </a:p>
        </p:txBody>
      </p:sp>
      <p:sp>
        <p:nvSpPr>
          <p:cNvPr id="9" name="dot-82-394">
            <a:extLst xmlns:a="http://schemas.openxmlformats.org/drawingml/2006/main">
              <a:ext uri="{FF2B5EF4-FFF2-40B4-BE49-F238E27FC236}">
                <a16:creationId xmlns:a16="http://schemas.microsoft.com/office/drawing/2014/main" id="{FFDFEA14-34C0-49FF-ADF4-187751D01199}"/>
              </a:ext>
            </a:extLst>
          </p:cNvPr>
          <p:cNvSpPr>
            <a:spLocks xmlns:a="http://schemas.openxmlformats.org/drawingml/2006/main" noGrp="1"/>
          </p:cNvSpPr>
          <p:nvPr/>
        </p:nvSpPr>
        <p:spPr>
          <a:xfrm xmlns:a="http://schemas.openxmlformats.org/drawingml/2006/main">
            <a:off x="7810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102-386">
            <a:extLst xmlns:a="http://schemas.openxmlformats.org/drawingml/2006/main">
              <a:ext uri="{FF2B5EF4-FFF2-40B4-BE49-F238E27FC236}">
                <a16:creationId xmlns:a16="http://schemas.microsoft.com/office/drawing/2014/main" id="{BD7A96CD-9E34-438F-94C7-514813915CF8}"/>
              </a:ext>
            </a:extLst>
          </p:cNvPr>
          <p:cNvSpPr>
            <a:spLocks xmlns:a="http://schemas.openxmlformats.org/drawingml/2006/main" noGrp="1"/>
          </p:cNvSpPr>
          <p:nvPr/>
        </p:nvSpPr>
        <p:spPr>
          <a:xfrm xmlns:a="http://schemas.openxmlformats.org/drawingml/2006/main">
            <a:off x="971550" y="36766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checkpoint_load / metadata decode</a:t>
            </a:r>
          </a:p>
        </p:txBody>
      </p:sp>
      <p:sp>
        <p:nvSpPr>
          <p:cNvPr id="11" name="dot-82-442">
            <a:extLst xmlns:a="http://schemas.openxmlformats.org/drawingml/2006/main">
              <a:ext uri="{FF2B5EF4-FFF2-40B4-BE49-F238E27FC236}">
                <a16:creationId xmlns:a16="http://schemas.microsoft.com/office/drawing/2014/main" id="{7FF5343F-4187-489C-B9C7-CA599FECAA34}"/>
              </a:ext>
            </a:extLst>
          </p:cNvPr>
          <p:cNvSpPr>
            <a:spLocks xmlns:a="http://schemas.openxmlformats.org/drawingml/2006/main" noGrp="1"/>
          </p:cNvSpPr>
          <p:nvPr/>
        </p:nvSpPr>
        <p:spPr>
          <a:xfrm xmlns:a="http://schemas.openxmlformats.org/drawingml/2006/main">
            <a:off x="7810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text-102-434">
            <a:extLst xmlns:a="http://schemas.openxmlformats.org/drawingml/2006/main">
              <a:ext uri="{FF2B5EF4-FFF2-40B4-BE49-F238E27FC236}">
                <a16:creationId xmlns:a16="http://schemas.microsoft.com/office/drawing/2014/main" id="{7C2593A0-C5F1-4FD7-8346-074B266CBEEC}"/>
              </a:ext>
            </a:extLst>
          </p:cNvPr>
          <p:cNvSpPr>
            <a:spLocks xmlns:a="http://schemas.openxmlformats.org/drawingml/2006/main" noGrp="1"/>
          </p:cNvSpPr>
          <p:nvPr/>
        </p:nvSpPr>
        <p:spPr>
          <a:xfrm xmlns:a="http://schemas.openxmlformats.org/drawingml/2006/main">
            <a:off x="971550" y="41338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domain + status | outlook + status</a:t>
            </a:r>
          </a:p>
        </p:txBody>
      </p:sp>
      <p:sp>
        <p:nvSpPr>
          <p:cNvPr id="13" name="dot-82-490">
            <a:extLst xmlns:a="http://schemas.openxmlformats.org/drawingml/2006/main">
              <a:ext uri="{FF2B5EF4-FFF2-40B4-BE49-F238E27FC236}">
                <a16:creationId xmlns:a16="http://schemas.microsoft.com/office/drawing/2014/main" id="{80C668A4-5F48-4B25-BE69-90AF3FFA9ED3}"/>
              </a:ext>
            </a:extLst>
          </p:cNvPr>
          <p:cNvSpPr>
            <a:spLocks xmlns:a="http://schemas.openxmlformats.org/drawingml/2006/main" noGrp="1"/>
          </p:cNvSpPr>
          <p:nvPr/>
        </p:nvSpPr>
        <p:spPr>
          <a:xfrm xmlns:a="http://schemas.openxmlformats.org/drawingml/2006/main">
            <a:off x="7810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4" name="text-102-482">
            <a:extLst xmlns:a="http://schemas.openxmlformats.org/drawingml/2006/main">
              <a:ext uri="{FF2B5EF4-FFF2-40B4-BE49-F238E27FC236}">
                <a16:creationId xmlns:a16="http://schemas.microsoft.com/office/drawing/2014/main" id="{5EA7E69B-1E68-4227-8351-815D4E8E88B6}"/>
              </a:ext>
            </a:extLst>
          </p:cNvPr>
          <p:cNvSpPr>
            <a:spLocks xmlns:a="http://schemas.openxmlformats.org/drawingml/2006/main" noGrp="1"/>
          </p:cNvSpPr>
          <p:nvPr/>
        </p:nvSpPr>
        <p:spPr>
          <a:xfrm xmlns:a="http://schemas.openxmlformats.org/drawingml/2006/main">
            <a:off x="971550" y="45910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 turn / 0 tools / 8 s</a:t>
            </a:r>
          </a:p>
        </p:txBody>
      </p:sp>
      <p:sp>
        <p:nvSpPr>
          <p:cNvPr id="15" name="box-434-204">
            <a:extLst xmlns:a="http://schemas.openxmlformats.org/drawingml/2006/main">
              <a:ext uri="{FF2B5EF4-FFF2-40B4-BE49-F238E27FC236}">
                <a16:creationId xmlns:a16="http://schemas.microsoft.com/office/drawing/2014/main" id="{435C183F-E816-42C7-8220-9C299BDDF59C}"/>
              </a:ext>
            </a:extLst>
          </p:cNvPr>
          <p:cNvSpPr>
            <a:spLocks xmlns:a="http://schemas.openxmlformats.org/drawingml/2006/main" noGrp="1"/>
          </p:cNvSpPr>
          <p:nvPr/>
        </p:nvSpPr>
        <p:spPr>
          <a:xfrm xmlns:a="http://schemas.openxmlformats.org/drawingml/2006/main">
            <a:off x="4133850" y="1943100"/>
            <a:ext cx="3162300" cy="3333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6" name="text-454-228">
            <a:extLst xmlns:a="http://schemas.openxmlformats.org/drawingml/2006/main">
              <a:ext uri="{FF2B5EF4-FFF2-40B4-BE49-F238E27FC236}">
                <a16:creationId xmlns:a16="http://schemas.microsoft.com/office/drawing/2014/main" id="{075E886D-3563-4D80-8237-69BE1543388F}"/>
              </a:ext>
            </a:extLst>
          </p:cNvPr>
          <p:cNvSpPr>
            <a:spLocks xmlns:a="http://schemas.openxmlformats.org/drawingml/2006/main" noGrp="1"/>
          </p:cNvSpPr>
          <p:nvPr/>
        </p:nvSpPr>
        <p:spPr>
          <a:xfrm xmlns:a="http://schemas.openxmlformats.org/drawingml/2006/main">
            <a:off x="4324350" y="217170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Route B: correct, slower</a:t>
            </a:r>
          </a:p>
        </p:txBody>
      </p:sp>
      <p:sp>
        <p:nvSpPr>
          <p:cNvPr id="17" name="text-454-274">
            <a:extLst xmlns:a="http://schemas.openxmlformats.org/drawingml/2006/main">
              <a:ext uri="{FF2B5EF4-FFF2-40B4-BE49-F238E27FC236}">
                <a16:creationId xmlns:a16="http://schemas.microsoft.com/office/drawing/2014/main" id="{ED1373E7-BFC9-45D0-89E6-F452493F49BE}"/>
              </a:ext>
            </a:extLst>
          </p:cNvPr>
          <p:cNvSpPr>
            <a:spLocks xmlns:a="http://schemas.openxmlformats.org/drawingml/2006/main" noGrp="1"/>
          </p:cNvSpPr>
          <p:nvPr/>
        </p:nvSpPr>
        <p:spPr>
          <a:xfrm xmlns:a="http://schemas.openxmlformats.org/drawingml/2006/main">
            <a:off x="4324350" y="2609850"/>
            <a:ext cx="27813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Same semantic quality</a:t>
            </a:r>
          </a:p>
        </p:txBody>
      </p:sp>
      <p:sp>
        <p:nvSpPr>
          <p:cNvPr id="18" name="dot-454-346">
            <a:extLst xmlns:a="http://schemas.openxmlformats.org/drawingml/2006/main">
              <a:ext uri="{FF2B5EF4-FFF2-40B4-BE49-F238E27FC236}">
                <a16:creationId xmlns:a16="http://schemas.microsoft.com/office/drawing/2014/main" id="{E4F3B451-014C-44CA-A21D-CB71042C69AC}"/>
              </a:ext>
            </a:extLst>
          </p:cNvPr>
          <p:cNvSpPr>
            <a:spLocks xmlns:a="http://schemas.openxmlformats.org/drawingml/2006/main" noGrp="1"/>
          </p:cNvSpPr>
          <p:nvPr/>
        </p:nvSpPr>
        <p:spPr>
          <a:xfrm xmlns:a="http://schemas.openxmlformats.org/drawingml/2006/main">
            <a:off x="43243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74-338">
            <a:extLst xmlns:a="http://schemas.openxmlformats.org/drawingml/2006/main">
              <a:ext uri="{FF2B5EF4-FFF2-40B4-BE49-F238E27FC236}">
                <a16:creationId xmlns:a16="http://schemas.microsoft.com/office/drawing/2014/main" id="{1382B0AA-6021-4D47-BE77-CD39228C8C8D}"/>
              </a:ext>
            </a:extLst>
          </p:cNvPr>
          <p:cNvSpPr>
            <a:spLocks xmlns:a="http://schemas.openxmlformats.org/drawingml/2006/main" noGrp="1"/>
          </p:cNvSpPr>
          <p:nvPr/>
        </p:nvSpPr>
        <p:spPr>
          <a:xfrm xmlns:a="http://schemas.openxmlformats.org/drawingml/2006/main">
            <a:off x="4514850" y="32194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Same primary + mechanism</a:t>
            </a:r>
          </a:p>
        </p:txBody>
      </p:sp>
      <p:sp>
        <p:nvSpPr>
          <p:cNvPr id="20" name="dot-454-394">
            <a:extLst xmlns:a="http://schemas.openxmlformats.org/drawingml/2006/main">
              <a:ext uri="{FF2B5EF4-FFF2-40B4-BE49-F238E27FC236}">
                <a16:creationId xmlns:a16="http://schemas.microsoft.com/office/drawing/2014/main" id="{098ABA61-4D6A-42AD-B505-5BABC1E860C7}"/>
              </a:ext>
            </a:extLst>
          </p:cNvPr>
          <p:cNvSpPr>
            <a:spLocks xmlns:a="http://schemas.openxmlformats.org/drawingml/2006/main" noGrp="1"/>
          </p:cNvSpPr>
          <p:nvPr/>
        </p:nvSpPr>
        <p:spPr>
          <a:xfrm xmlns:a="http://schemas.openxmlformats.org/drawingml/2006/main">
            <a:off x="43243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74-386">
            <a:extLst xmlns:a="http://schemas.openxmlformats.org/drawingml/2006/main">
              <a:ext uri="{FF2B5EF4-FFF2-40B4-BE49-F238E27FC236}">
                <a16:creationId xmlns:a16="http://schemas.microsoft.com/office/drawing/2014/main" id="{011AE2DB-B30F-4A47-B1BC-3A2BD57E9DE5}"/>
              </a:ext>
            </a:extLst>
          </p:cNvPr>
          <p:cNvSpPr>
            <a:spLocks xmlns:a="http://schemas.openxmlformats.org/drawingml/2006/main" noGrp="1"/>
          </p:cNvSpPr>
          <p:nvPr/>
        </p:nvSpPr>
        <p:spPr>
          <a:xfrm xmlns:a="http://schemas.openxmlformats.org/drawingml/2006/main">
            <a:off x="4514850" y="36766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Same two qualified recovery claims</a:t>
            </a:r>
          </a:p>
        </p:txBody>
      </p:sp>
      <p:sp>
        <p:nvSpPr>
          <p:cNvPr id="22" name="dot-454-442">
            <a:extLst xmlns:a="http://schemas.openxmlformats.org/drawingml/2006/main">
              <a:ext uri="{FF2B5EF4-FFF2-40B4-BE49-F238E27FC236}">
                <a16:creationId xmlns:a16="http://schemas.microsoft.com/office/drawing/2014/main" id="{7EC1F130-2EA9-497B-9D22-5DFB09EE2810}"/>
              </a:ext>
            </a:extLst>
          </p:cNvPr>
          <p:cNvSpPr>
            <a:spLocks xmlns:a="http://schemas.openxmlformats.org/drawingml/2006/main" noGrp="1"/>
          </p:cNvSpPr>
          <p:nvPr/>
        </p:nvSpPr>
        <p:spPr>
          <a:xfrm xmlns:a="http://schemas.openxmlformats.org/drawingml/2006/main">
            <a:off x="43243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text-474-434">
            <a:extLst xmlns:a="http://schemas.openxmlformats.org/drawingml/2006/main">
              <a:ext uri="{FF2B5EF4-FFF2-40B4-BE49-F238E27FC236}">
                <a16:creationId xmlns:a16="http://schemas.microsoft.com/office/drawing/2014/main" id="{9408385C-F539-4B33-8BE5-08AB62EDC890}"/>
              </a:ext>
            </a:extLst>
          </p:cNvPr>
          <p:cNvSpPr>
            <a:spLocks xmlns:a="http://schemas.openxmlformats.org/drawingml/2006/main" noGrp="1"/>
          </p:cNvSpPr>
          <p:nvPr/>
        </p:nvSpPr>
        <p:spPr>
          <a:xfrm xmlns:a="http://schemas.openxmlformats.org/drawingml/2006/main">
            <a:off x="4514850" y="41338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4 turns / 3 tools / 35 s</a:t>
            </a:r>
          </a:p>
        </p:txBody>
      </p:sp>
      <p:sp>
        <p:nvSpPr>
          <p:cNvPr id="24" name="dot-454-490">
            <a:extLst xmlns:a="http://schemas.openxmlformats.org/drawingml/2006/main">
              <a:ext uri="{FF2B5EF4-FFF2-40B4-BE49-F238E27FC236}">
                <a16:creationId xmlns:a16="http://schemas.microsoft.com/office/drawing/2014/main" id="{11436AF2-3B63-47C9-8591-135E7C8DF62C}"/>
              </a:ext>
            </a:extLst>
          </p:cNvPr>
          <p:cNvSpPr>
            <a:spLocks xmlns:a="http://schemas.openxmlformats.org/drawingml/2006/main" noGrp="1"/>
          </p:cNvSpPr>
          <p:nvPr/>
        </p:nvSpPr>
        <p:spPr>
          <a:xfrm xmlns:a="http://schemas.openxmlformats.org/drawingml/2006/main">
            <a:off x="43243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5" name="text-474-482">
            <a:extLst xmlns:a="http://schemas.openxmlformats.org/drawingml/2006/main">
              <a:ext uri="{FF2B5EF4-FFF2-40B4-BE49-F238E27FC236}">
                <a16:creationId xmlns:a16="http://schemas.microsoft.com/office/drawing/2014/main" id="{698854A5-6888-4B62-A3AD-C1803740F844}"/>
              </a:ext>
            </a:extLst>
          </p:cNvPr>
          <p:cNvSpPr>
            <a:spLocks xmlns:a="http://schemas.openxmlformats.org/drawingml/2006/main" noGrp="1"/>
          </p:cNvSpPr>
          <p:nvPr/>
        </p:nvSpPr>
        <p:spPr>
          <a:xfrm xmlns:a="http://schemas.openxmlformats.org/drawingml/2006/main">
            <a:off x="4514850" y="45910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Lower behavioral efficiency</a:t>
            </a:r>
          </a:p>
        </p:txBody>
      </p:sp>
      <p:sp>
        <p:nvSpPr>
          <p:cNvPr id="26" name="box-806-204">
            <a:extLst xmlns:a="http://schemas.openxmlformats.org/drawingml/2006/main">
              <a:ext uri="{FF2B5EF4-FFF2-40B4-BE49-F238E27FC236}">
                <a16:creationId xmlns:a16="http://schemas.microsoft.com/office/drawing/2014/main" id="{B9EC248C-F853-4782-A014-F6636CEAA407}"/>
              </a:ext>
            </a:extLst>
          </p:cNvPr>
          <p:cNvSpPr>
            <a:spLocks xmlns:a="http://schemas.openxmlformats.org/drawingml/2006/main" noGrp="1"/>
          </p:cNvSpPr>
          <p:nvPr/>
        </p:nvSpPr>
        <p:spPr>
          <a:xfrm xmlns:a="http://schemas.openxmlformats.org/drawingml/2006/main">
            <a:off x="7677150" y="1943100"/>
            <a:ext cx="3162300" cy="3333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7" name="text-826-228">
            <a:extLst xmlns:a="http://schemas.openxmlformats.org/drawingml/2006/main">
              <a:ext uri="{FF2B5EF4-FFF2-40B4-BE49-F238E27FC236}">
                <a16:creationId xmlns:a16="http://schemas.microsoft.com/office/drawing/2014/main" id="{BB12DD38-7575-4F68-84F1-7988E0C8E56A}"/>
              </a:ext>
            </a:extLst>
          </p:cNvPr>
          <p:cNvSpPr>
            <a:spLocks xmlns:a="http://schemas.openxmlformats.org/drawingml/2006/main" noGrp="1"/>
          </p:cNvSpPr>
          <p:nvPr/>
        </p:nvSpPr>
        <p:spPr>
          <a:xfrm xmlns:a="http://schemas.openxmlformats.org/drawingml/2006/main">
            <a:off x="7867650" y="2171700"/>
            <a:ext cx="27813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Route C: endpoint failure</a:t>
            </a:r>
          </a:p>
        </p:txBody>
      </p:sp>
      <p:sp>
        <p:nvSpPr>
          <p:cNvPr id="28" name="text-826-274">
            <a:extLst xmlns:a="http://schemas.openxmlformats.org/drawingml/2006/main">
              <a:ext uri="{FF2B5EF4-FFF2-40B4-BE49-F238E27FC236}">
                <a16:creationId xmlns:a16="http://schemas.microsoft.com/office/drawing/2014/main" id="{AA949DFE-7283-4B3C-A713-B686BD3B1226}"/>
              </a:ext>
            </a:extLst>
          </p:cNvPr>
          <p:cNvSpPr>
            <a:spLocks xmlns:a="http://schemas.openxmlformats.org/drawingml/2006/main" noGrp="1"/>
          </p:cNvSpPr>
          <p:nvPr/>
        </p:nvSpPr>
        <p:spPr>
          <a:xfrm xmlns:a="http://schemas.openxmlformats.org/drawingml/2006/main">
            <a:off x="7867650" y="2609850"/>
            <a:ext cx="27813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Delivery failed before semantics</a:t>
            </a:r>
          </a:p>
        </p:txBody>
      </p:sp>
      <p:sp>
        <p:nvSpPr>
          <p:cNvPr id="29" name="dot-826-346">
            <a:extLst xmlns:a="http://schemas.openxmlformats.org/drawingml/2006/main">
              <a:ext uri="{FF2B5EF4-FFF2-40B4-BE49-F238E27FC236}">
                <a16:creationId xmlns:a16="http://schemas.microsoft.com/office/drawing/2014/main" id="{15372503-ACD7-4F53-B20D-B0CAC052ED73}"/>
              </a:ext>
            </a:extLst>
          </p:cNvPr>
          <p:cNvSpPr>
            <a:spLocks xmlns:a="http://schemas.openxmlformats.org/drawingml/2006/main" noGrp="1"/>
          </p:cNvSpPr>
          <p:nvPr/>
        </p:nvSpPr>
        <p:spPr>
          <a:xfrm xmlns:a="http://schemas.openxmlformats.org/drawingml/2006/main">
            <a:off x="78676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0" name="text-846-338">
            <a:extLst xmlns:a="http://schemas.openxmlformats.org/drawingml/2006/main">
              <a:ext uri="{FF2B5EF4-FFF2-40B4-BE49-F238E27FC236}">
                <a16:creationId xmlns:a16="http://schemas.microsoft.com/office/drawing/2014/main" id="{E1BA75C4-AF2B-4210-87A0-5223AC124CD4}"/>
              </a:ext>
            </a:extLst>
          </p:cNvPr>
          <p:cNvSpPr>
            <a:spLocks xmlns:a="http://schemas.openxmlformats.org/drawingml/2006/main" noGrp="1"/>
          </p:cNvSpPr>
          <p:nvPr/>
        </p:nvSpPr>
        <p:spPr>
          <a:xfrm xmlns:a="http://schemas.openxmlformats.org/drawingml/2006/main">
            <a:off x="8058150" y="32194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HTTP 504 / no model response</a:t>
            </a:r>
          </a:p>
        </p:txBody>
      </p:sp>
      <p:sp>
        <p:nvSpPr>
          <p:cNvPr id="31" name="dot-826-394">
            <a:extLst xmlns:a="http://schemas.openxmlformats.org/drawingml/2006/main">
              <a:ext uri="{FF2B5EF4-FFF2-40B4-BE49-F238E27FC236}">
                <a16:creationId xmlns:a16="http://schemas.microsoft.com/office/drawing/2014/main" id="{2E273ABE-FF67-4931-B4AD-0A4BA83D9F10}"/>
              </a:ext>
            </a:extLst>
          </p:cNvPr>
          <p:cNvSpPr>
            <a:spLocks xmlns:a="http://schemas.openxmlformats.org/drawingml/2006/main" noGrp="1"/>
          </p:cNvSpPr>
          <p:nvPr/>
        </p:nvSpPr>
        <p:spPr>
          <a:xfrm xmlns:a="http://schemas.openxmlformats.org/drawingml/2006/main">
            <a:off x="78676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2" name="text-846-386">
            <a:extLst xmlns:a="http://schemas.openxmlformats.org/drawingml/2006/main">
              <a:ext uri="{FF2B5EF4-FFF2-40B4-BE49-F238E27FC236}">
                <a16:creationId xmlns:a16="http://schemas.microsoft.com/office/drawing/2014/main" id="{C6B59F61-7C88-40A8-A190-449A39789C40}"/>
              </a:ext>
            </a:extLst>
          </p:cNvPr>
          <p:cNvSpPr>
            <a:spLocks xmlns:a="http://schemas.openxmlformats.org/drawingml/2006/main" noGrp="1"/>
          </p:cNvSpPr>
          <p:nvPr/>
        </p:nvSpPr>
        <p:spPr>
          <a:xfrm xmlns:a="http://schemas.openxmlformats.org/drawingml/2006/main">
            <a:off x="8058150" y="36766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Semantic quality: not observed</a:t>
            </a:r>
          </a:p>
        </p:txBody>
      </p:sp>
      <p:sp>
        <p:nvSpPr>
          <p:cNvPr id="33" name="dot-826-442">
            <a:extLst xmlns:a="http://schemas.openxmlformats.org/drawingml/2006/main">
              <a:ext uri="{FF2B5EF4-FFF2-40B4-BE49-F238E27FC236}">
                <a16:creationId xmlns:a16="http://schemas.microsoft.com/office/drawing/2014/main" id="{A392822F-91ED-49DE-8F09-E08336011FE2}"/>
              </a:ext>
            </a:extLst>
          </p:cNvPr>
          <p:cNvSpPr>
            <a:spLocks xmlns:a="http://schemas.openxmlformats.org/drawingml/2006/main" noGrp="1"/>
          </p:cNvSpPr>
          <p:nvPr/>
        </p:nvSpPr>
        <p:spPr>
          <a:xfrm xmlns:a="http://schemas.openxmlformats.org/drawingml/2006/main">
            <a:off x="78676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4" name="text-846-434">
            <a:extLst xmlns:a="http://schemas.openxmlformats.org/drawingml/2006/main">
              <a:ext uri="{FF2B5EF4-FFF2-40B4-BE49-F238E27FC236}">
                <a16:creationId xmlns:a16="http://schemas.microsoft.com/office/drawing/2014/main" id="{4CCFFAC5-3FEC-4F3F-8C75-FCE5564CD7E5}"/>
              </a:ext>
            </a:extLst>
          </p:cNvPr>
          <p:cNvSpPr>
            <a:spLocks xmlns:a="http://schemas.openxmlformats.org/drawingml/2006/main" noGrp="1"/>
          </p:cNvSpPr>
          <p:nvPr/>
        </p:nvSpPr>
        <p:spPr>
          <a:xfrm xmlns:a="http://schemas.openxmlformats.org/drawingml/2006/main">
            <a:off x="8058150" y="41338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Endpoint reliability failed</a:t>
            </a:r>
          </a:p>
        </p:txBody>
      </p:sp>
      <p:sp>
        <p:nvSpPr>
          <p:cNvPr id="35" name="dot-826-490">
            <a:extLst xmlns:a="http://schemas.openxmlformats.org/drawingml/2006/main">
              <a:ext uri="{FF2B5EF4-FFF2-40B4-BE49-F238E27FC236}">
                <a16:creationId xmlns:a16="http://schemas.microsoft.com/office/drawing/2014/main" id="{9A36DFD6-5819-405F-859A-254A876D5432}"/>
              </a:ext>
            </a:extLst>
          </p:cNvPr>
          <p:cNvSpPr>
            <a:spLocks xmlns:a="http://schemas.openxmlformats.org/drawingml/2006/main" noGrp="1"/>
          </p:cNvSpPr>
          <p:nvPr/>
        </p:nvSpPr>
        <p:spPr>
          <a:xfrm xmlns:a="http://schemas.openxmlformats.org/drawingml/2006/main">
            <a:off x="78676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6" name="text-846-482">
            <a:extLst xmlns:a="http://schemas.openxmlformats.org/drawingml/2006/main">
              <a:ext uri="{FF2B5EF4-FFF2-40B4-BE49-F238E27FC236}">
                <a16:creationId xmlns:a16="http://schemas.microsoft.com/office/drawing/2014/main" id="{75386F7A-122C-4DDC-A1C4-605FD6FED57F}"/>
              </a:ext>
            </a:extLst>
          </p:cNvPr>
          <p:cNvSpPr>
            <a:spLocks xmlns:a="http://schemas.openxmlformats.org/drawingml/2006/main" noGrp="1"/>
          </p:cNvSpPr>
          <p:nvPr/>
        </p:nvSpPr>
        <p:spPr>
          <a:xfrm xmlns:a="http://schemas.openxmlformats.org/drawingml/2006/main">
            <a:off x="8058150" y="4591050"/>
            <a:ext cx="25908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Deterministic recommendation used</a:t>
            </a:r>
          </a:p>
        </p:txBody>
      </p:sp>
      <p:sp>
        <p:nvSpPr>
          <p:cNvPr id="37" name="box-168-584">
            <a:extLst xmlns:a="http://schemas.openxmlformats.org/drawingml/2006/main">
              <a:ext uri="{FF2B5EF4-FFF2-40B4-BE49-F238E27FC236}">
                <a16:creationId xmlns:a16="http://schemas.microsoft.com/office/drawing/2014/main" id="{F5772BEA-6627-409E-A756-EC6C013A3080}"/>
              </a:ext>
            </a:extLst>
          </p:cNvPr>
          <p:cNvSpPr>
            <a:spLocks xmlns:a="http://schemas.openxmlformats.org/drawingml/2006/main" noGrp="1"/>
          </p:cNvSpPr>
          <p:nvPr/>
        </p:nvSpPr>
        <p:spPr>
          <a:xfrm xmlns:a="http://schemas.openxmlformats.org/drawingml/2006/main">
            <a:off x="1600200" y="5562600"/>
            <a:ext cx="8991600" cy="5524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8" name="text-194-601">
            <a:extLst xmlns:a="http://schemas.openxmlformats.org/drawingml/2006/main">
              <a:ext uri="{FF2B5EF4-FFF2-40B4-BE49-F238E27FC236}">
                <a16:creationId xmlns:a16="http://schemas.microsoft.com/office/drawing/2014/main" id="{2FC472DE-FB6B-45DE-BC1D-D8744818EF78}"/>
              </a:ext>
            </a:extLst>
          </p:cNvPr>
          <p:cNvSpPr>
            <a:spLocks xmlns:a="http://schemas.openxmlformats.org/drawingml/2006/main" noGrp="1"/>
          </p:cNvSpPr>
          <p:nvPr/>
        </p:nvSpPr>
        <p:spPr>
          <a:xfrm xmlns:a="http://schemas.openxmlformats.org/drawingml/2006/main">
            <a:off x="1847850" y="5724525"/>
            <a:ext cx="25146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ROUTE OUTCOME</a:t>
            </a:r>
          </a:p>
        </p:txBody>
      </p:sp>
      <p:sp>
        <p:nvSpPr>
          <p:cNvPr id="39" name="text-472-601">
            <a:extLst xmlns:a="http://schemas.openxmlformats.org/drawingml/2006/main">
              <a:ext uri="{FF2B5EF4-FFF2-40B4-BE49-F238E27FC236}">
                <a16:creationId xmlns:a16="http://schemas.microsoft.com/office/drawing/2014/main" id="{93F11C21-82AA-45A8-89C0-B6BFD731E15D}"/>
              </a:ext>
            </a:extLst>
          </p:cNvPr>
          <p:cNvSpPr>
            <a:spLocks xmlns:a="http://schemas.openxmlformats.org/drawingml/2006/main" noGrp="1"/>
          </p:cNvSpPr>
          <p:nvPr/>
        </p:nvSpPr>
        <p:spPr>
          <a:xfrm xmlns:a="http://schemas.openxmlformats.org/drawingml/2006/main">
            <a:off x="4495800" y="5724525"/>
            <a:ext cx="5829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0">
                <a:solidFill>
                  <a:srgbClr val="5D6470"/>
                </a:solidFill>
                <a:latin typeface="Helvetica Neue"/>
                <a:ea typeface="Helvetica Neue"/>
                <a:cs typeface="Helvetica Neue"/>
              </a:defRPr>
            </a:pPr>
            <a:r>
              <a:t>A: enriched before D | B: enriched later | C: deterministic</a:t>
            </a:r>
          </a:p>
        </p:txBody>
      </p:sp>
    </p:spTree>
    <p:extLst>
      <p:ext uri="{BB962C8B-B14F-4D97-AF65-F5344CB8AC3E}">
        <p14:creationId xmlns:p14="http://schemas.microsoft.com/office/powerpoint/2010/main" val="1594946653"/>
      </p:ext>
    </p:extLst>
  </p:cSld>
</p:sld>
</file>

<file path=ppt/slides/slide25.xml><?xml version="1.0" encoding="utf-8"?>
<p:sld xmlns:p="http://schemas.openxmlformats.org/presentationml/2006/main">
  <p:cSld>
    <p:bg>
      <p:bgPr>
        <a:solidFill xmlns:a="http://schemas.openxmlformats.org/drawingml/2006/main">
          <a:srgbClr val="F2F7FF"/>
        </a:solidFill>
      </p:bgPr>
    </p:bg>
    <p:spTree>
      <p:nvGrpSpPr>
        <p:cNvPr id="1" name=""/>
        <p:cNvGrpSpPr/>
        <p:nvPr/>
      </p:nvGrpSpPr>
      <p:grpSpPr>
        <a:xfrm xmlns:a="http://schemas.openxmlformats.org/drawingml/2006/main"/>
      </p:grpSpPr>
      <p:sp>
        <p:nvSpPr>
          <p:cNvPr id="18" name="stage-left-rule">
            <a:extLst xmlns:a="http://schemas.openxmlformats.org/drawingml/2006/main">
              <a:ext uri="{FF2B5EF4-FFF2-40B4-BE49-F238E27FC236}">
                <a16:creationId xmlns:a16="http://schemas.microsoft.com/office/drawing/2014/main" id="{0B24D536-BDFF-434C-8C86-743C130AEA7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tage-eyebrow">
            <a:extLst xmlns:a="http://schemas.openxmlformats.org/drawingml/2006/main">
              <a:ext uri="{FF2B5EF4-FFF2-40B4-BE49-F238E27FC236}">
                <a16:creationId xmlns:a16="http://schemas.microsoft.com/office/drawing/2014/main" id="{5A8CD39E-7946-41A5-9275-424389CFF670}"/>
              </a:ext>
            </a:extLst>
          </p:cNvPr>
          <p:cNvSpPr>
            <a:spLocks xmlns:a="http://schemas.openxmlformats.org/drawingml/2006/main" noGrp="1"/>
          </p:cNvSpPr>
          <p:nvPr/>
        </p:nvSpPr>
        <p:spPr>
          <a:xfrm xmlns:a="http://schemas.openxmlformats.org/drawingml/2006/main">
            <a:off x="685800" y="8382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3B82F6"/>
                </a:solidFill>
                <a:latin typeface="Calibri"/>
                <a:ea typeface="Calibri"/>
                <a:cs typeface="Calibri"/>
              </a:defRPr>
            </a:pPr>
            <a:r>
              <a:rPr sz="975" b="1">
                <a:solidFill>
                  <a:srgbClr val="3B82F6"/>
                </a:solidFill>
                <a:latin typeface="Calibri"/>
                <a:ea typeface="Calibri"/>
                <a:cs typeface="Calibri"/>
              </a:rPr>
              <a:t>RUNTIME PIPELINE  /  STAGE 3 OF 5</a:t>
            </a:r>
          </a:p>
        </p:txBody>
      </p:sp>
      <p:sp>
        <p:nvSpPr>
          <p:cNvPr id="3" name="stage-code">
            <a:extLst xmlns:a="http://schemas.openxmlformats.org/drawingml/2006/main">
              <a:ext uri="{FF2B5EF4-FFF2-40B4-BE49-F238E27FC236}">
                <a16:creationId xmlns:a16="http://schemas.microsoft.com/office/drawing/2014/main" id="{4E23A78C-0303-4507-866A-034EA0248CB8}"/>
              </a:ext>
            </a:extLst>
          </p:cNvPr>
          <p:cNvSpPr>
            <a:spLocks xmlns:a="http://schemas.openxmlformats.org/drawingml/2006/main" noGrp="1"/>
          </p:cNvSpPr>
          <p:nvPr/>
        </p:nvSpPr>
        <p:spPr>
          <a:xfrm xmlns:a="http://schemas.openxmlformats.org/drawingml/2006/main">
            <a:off x="685800" y="1790700"/>
            <a:ext cx="1428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700" b="1">
                <a:solidFill>
                  <a:srgbClr val="3B82F6"/>
                </a:solidFill>
                <a:latin typeface="Calibri"/>
                <a:ea typeface="Calibri"/>
                <a:cs typeface="Calibri"/>
              </a:defRPr>
            </a:pPr>
            <a:r>
              <a:rPr sz="5700" b="1">
                <a:solidFill>
                  <a:srgbClr val="3B82F6"/>
                </a:solidFill>
                <a:latin typeface="Calibri"/>
                <a:ea typeface="Calibri"/>
                <a:cs typeface="Calibri"/>
              </a:rPr>
              <a:t>L2</a:t>
            </a:r>
          </a:p>
        </p:txBody>
      </p:sp>
      <p:sp>
        <p:nvSpPr>
          <p:cNvPr id="4" name="stage-divider-rule">
            <a:extLst xmlns:a="http://schemas.openxmlformats.org/drawingml/2006/main">
              <a:ext uri="{FF2B5EF4-FFF2-40B4-BE49-F238E27FC236}">
                <a16:creationId xmlns:a16="http://schemas.microsoft.com/office/drawing/2014/main" id="{1D55F116-700D-4E8B-91D0-AA45C6CA6F6E}"/>
              </a:ext>
            </a:extLst>
          </p:cNvPr>
          <p:cNvSpPr>
            <a:spLocks xmlns:a="http://schemas.openxmlformats.org/drawingml/2006/main" noGrp="1"/>
          </p:cNvSpPr>
          <p:nvPr/>
        </p:nvSpPr>
        <p:spPr>
          <a:xfrm xmlns:a="http://schemas.openxmlformats.org/drawingml/2006/main">
            <a:off x="2305050" y="1790700"/>
            <a:ext cx="19050" cy="1190625"/>
          </a:xfrm>
          <a:prstGeom xmlns:a="http://schemas.openxmlformats.org/drawingml/2006/main" prst="rect">
            <a:avLst/>
          </a:prstGeom>
          <a:solidFill xmlns:a="http://schemas.openxmlformats.org/drawingml/2006/main">
            <a:srgbClr val="B8D9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stage-title">
            <a:extLst xmlns:a="http://schemas.openxmlformats.org/drawingml/2006/main">
              <a:ext uri="{FF2B5EF4-FFF2-40B4-BE49-F238E27FC236}">
                <a16:creationId xmlns:a16="http://schemas.microsoft.com/office/drawing/2014/main" id="{2FA60C3B-BB19-4E53-96AE-CC94A0D3E778}"/>
              </a:ext>
            </a:extLst>
          </p:cNvPr>
          <p:cNvSpPr>
            <a:spLocks xmlns:a="http://schemas.openxmlformats.org/drawingml/2006/main" noGrp="1"/>
          </p:cNvSpPr>
          <p:nvPr/>
        </p:nvSpPr>
        <p:spPr>
          <a:xfrm xmlns:a="http://schemas.openxmlformats.org/drawingml/2006/main">
            <a:off x="2686050" y="1790700"/>
            <a:ext cx="809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111111"/>
                </a:solidFill>
                <a:latin typeface="Calibri"/>
                <a:ea typeface="Calibri"/>
                <a:cs typeface="Calibri"/>
              </a:defRPr>
            </a:pPr>
            <a:r>
              <a:rPr sz="2850" b="1">
                <a:solidFill>
                  <a:srgbClr val="111111"/>
                </a:solidFill>
                <a:latin typeface="Calibri"/>
                <a:ea typeface="Calibri"/>
                <a:cs typeface="Calibri"/>
              </a:rPr>
              <a:t>Grounding + Identity</a:t>
            </a:r>
          </a:p>
        </p:txBody>
      </p:sp>
      <p:sp>
        <p:nvSpPr>
          <p:cNvPr id="6" name="stage-summary">
            <a:extLst xmlns:a="http://schemas.openxmlformats.org/drawingml/2006/main">
              <a:ext uri="{FF2B5EF4-FFF2-40B4-BE49-F238E27FC236}">
                <a16:creationId xmlns:a16="http://schemas.microsoft.com/office/drawing/2014/main" id="{B88F109C-716F-4F29-A2DB-F05DA4B8F7D1}"/>
              </a:ext>
            </a:extLst>
          </p:cNvPr>
          <p:cNvSpPr>
            <a:spLocks xmlns:a="http://schemas.openxmlformats.org/drawingml/2006/main" noGrp="1"/>
          </p:cNvSpPr>
          <p:nvPr/>
        </p:nvSpPr>
        <p:spPr>
          <a:xfrm xmlns:a="http://schemas.openxmlformats.org/drawingml/2006/main">
            <a:off x="2686050" y="2476500"/>
            <a:ext cx="833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5F6673"/>
                </a:solidFill>
                <a:latin typeface="Calibri"/>
                <a:ea typeface="Calibri"/>
                <a:cs typeface="Calibri"/>
              </a:defRPr>
            </a:pPr>
            <a:r>
              <a:rPr sz="1575">
                <a:solidFill>
                  <a:srgbClr val="5F6673"/>
                </a:solidFill>
                <a:latin typeface="Calibri"/>
                <a:ea typeface="Calibri"/>
                <a:cs typeface="Calibri"/>
              </a:rPr>
              <a:t>Ground the selected failure, derive identity, and audit citations without rewriting L1.</a:t>
            </a:r>
          </a:p>
        </p:txBody>
      </p:sp>
      <p:sp>
        <p:nvSpPr>
          <p:cNvPr id="7" name="stage-progress-rail">
            <a:extLst xmlns:a="http://schemas.openxmlformats.org/drawingml/2006/main">
              <a:ext uri="{FF2B5EF4-FFF2-40B4-BE49-F238E27FC236}">
                <a16:creationId xmlns:a16="http://schemas.microsoft.com/office/drawing/2014/main" id="{05BC31C2-BC14-4925-AC9D-B78A9D8D84CB}"/>
              </a:ext>
            </a:extLst>
          </p:cNvPr>
          <p:cNvSpPr>
            <a:spLocks xmlns:a="http://schemas.openxmlformats.org/drawingml/2006/main" noGrp="1"/>
          </p:cNvSpPr>
          <p:nvPr/>
        </p:nvSpPr>
        <p:spPr>
          <a:xfrm xmlns:a="http://schemas.openxmlformats.org/drawingml/2006/main">
            <a:off x="1066800" y="4762500"/>
            <a:ext cx="10058400" cy="2857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stage-progress-dot-0">
            <a:extLst xmlns:a="http://schemas.openxmlformats.org/drawingml/2006/main">
              <a:ext uri="{FF2B5EF4-FFF2-40B4-BE49-F238E27FC236}">
                <a16:creationId xmlns:a16="http://schemas.microsoft.com/office/drawing/2014/main" id="{7B8A0FEA-5035-4414-98B0-C7222A7B1FC6}"/>
              </a:ext>
            </a:extLst>
          </p:cNvPr>
          <p:cNvSpPr>
            <a:spLocks xmlns:a="http://schemas.openxmlformats.org/drawingml/2006/main" noGrp="1"/>
          </p:cNvSpPr>
          <p:nvPr/>
        </p:nvSpPr>
        <p:spPr>
          <a:xfrm xmlns:a="http://schemas.openxmlformats.org/drawingml/2006/main">
            <a:off x="10001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stage-progress-label-0">
            <a:extLst xmlns:a="http://schemas.openxmlformats.org/drawingml/2006/main">
              <a:ext uri="{FF2B5EF4-FFF2-40B4-BE49-F238E27FC236}">
                <a16:creationId xmlns:a16="http://schemas.microsoft.com/office/drawing/2014/main" id="{E5767D13-2D30-43AE-BE54-78990B46DB33}"/>
              </a:ext>
            </a:extLst>
          </p:cNvPr>
          <p:cNvSpPr>
            <a:spLocks xmlns:a="http://schemas.openxmlformats.org/drawingml/2006/main" noGrp="1"/>
          </p:cNvSpPr>
          <p:nvPr/>
        </p:nvSpPr>
        <p:spPr>
          <a:xfrm xmlns:a="http://schemas.openxmlformats.org/drawingml/2006/main">
            <a:off x="7810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L0</a:t>
            </a:r>
          </a:p>
        </p:txBody>
      </p:sp>
      <p:sp>
        <p:nvSpPr>
          <p:cNvPr id="10" name="stage-progress-dot-1">
            <a:extLst xmlns:a="http://schemas.openxmlformats.org/drawingml/2006/main">
              <a:ext uri="{FF2B5EF4-FFF2-40B4-BE49-F238E27FC236}">
                <a16:creationId xmlns:a16="http://schemas.microsoft.com/office/drawing/2014/main" id="{175D96C4-D770-48D9-B2D3-CC466238D6D7}"/>
              </a:ext>
            </a:extLst>
          </p:cNvPr>
          <p:cNvSpPr>
            <a:spLocks xmlns:a="http://schemas.openxmlformats.org/drawingml/2006/main" noGrp="1"/>
          </p:cNvSpPr>
          <p:nvPr/>
        </p:nvSpPr>
        <p:spPr>
          <a:xfrm xmlns:a="http://schemas.openxmlformats.org/drawingml/2006/main">
            <a:off x="35147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stage-progress-label-1">
            <a:extLst xmlns:a="http://schemas.openxmlformats.org/drawingml/2006/main">
              <a:ext uri="{FF2B5EF4-FFF2-40B4-BE49-F238E27FC236}">
                <a16:creationId xmlns:a16="http://schemas.microsoft.com/office/drawing/2014/main" id="{3534FC6B-5A0B-4FDE-A7BF-0A30C710D46D}"/>
              </a:ext>
            </a:extLst>
          </p:cNvPr>
          <p:cNvSpPr>
            <a:spLocks xmlns:a="http://schemas.openxmlformats.org/drawingml/2006/main" noGrp="1"/>
          </p:cNvSpPr>
          <p:nvPr/>
        </p:nvSpPr>
        <p:spPr>
          <a:xfrm xmlns:a="http://schemas.openxmlformats.org/drawingml/2006/main">
            <a:off x="32956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L1</a:t>
            </a:r>
          </a:p>
        </p:txBody>
      </p:sp>
      <p:sp>
        <p:nvSpPr>
          <p:cNvPr id="12" name="stage-progress-dot-2">
            <a:extLst xmlns:a="http://schemas.openxmlformats.org/drawingml/2006/main">
              <a:ext uri="{FF2B5EF4-FFF2-40B4-BE49-F238E27FC236}">
                <a16:creationId xmlns:a16="http://schemas.microsoft.com/office/drawing/2014/main" id="{D0D78934-B508-4929-8E0E-16C01E0A82B5}"/>
              </a:ext>
            </a:extLst>
          </p:cNvPr>
          <p:cNvSpPr>
            <a:spLocks xmlns:a="http://schemas.openxmlformats.org/drawingml/2006/main" noGrp="1"/>
          </p:cNvSpPr>
          <p:nvPr/>
        </p:nvSpPr>
        <p:spPr>
          <a:xfrm xmlns:a="http://schemas.openxmlformats.org/drawingml/2006/main">
            <a:off x="6000750" y="4681538"/>
            <a:ext cx="190500" cy="190500"/>
          </a:xfrm>
          <a:prstGeom xmlns:a="http://schemas.openxmlformats.org/drawingml/2006/main" prst="ellipse">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stage-progress-label-2">
            <a:extLst xmlns:a="http://schemas.openxmlformats.org/drawingml/2006/main">
              <a:ext uri="{FF2B5EF4-FFF2-40B4-BE49-F238E27FC236}">
                <a16:creationId xmlns:a16="http://schemas.microsoft.com/office/drawing/2014/main" id="{0EB0609D-D043-4997-8A60-965EDB212539}"/>
              </a:ext>
            </a:extLst>
          </p:cNvPr>
          <p:cNvSpPr>
            <a:spLocks xmlns:a="http://schemas.openxmlformats.org/drawingml/2006/main" noGrp="1"/>
          </p:cNvSpPr>
          <p:nvPr/>
        </p:nvSpPr>
        <p:spPr>
          <a:xfrm xmlns:a="http://schemas.openxmlformats.org/drawingml/2006/main">
            <a:off x="58102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3B82F6"/>
                </a:solidFill>
                <a:latin typeface="Calibri"/>
                <a:ea typeface="Calibri"/>
                <a:cs typeface="Calibri"/>
              </a:defRPr>
            </a:pPr>
            <a:r>
              <a:rPr sz="975" b="1">
                <a:solidFill>
                  <a:srgbClr val="3B82F6"/>
                </a:solidFill>
                <a:latin typeface="Calibri"/>
                <a:ea typeface="Calibri"/>
                <a:cs typeface="Calibri"/>
              </a:rPr>
              <a:t>L2</a:t>
            </a:r>
          </a:p>
        </p:txBody>
      </p:sp>
      <p:sp>
        <p:nvSpPr>
          <p:cNvPr id="14" name="stage-progress-dot-3">
            <a:extLst xmlns:a="http://schemas.openxmlformats.org/drawingml/2006/main">
              <a:ext uri="{FF2B5EF4-FFF2-40B4-BE49-F238E27FC236}">
                <a16:creationId xmlns:a16="http://schemas.microsoft.com/office/drawing/2014/main" id="{91FB0AC2-038D-48E2-B26A-F570632B1E93}"/>
              </a:ext>
            </a:extLst>
          </p:cNvPr>
          <p:cNvSpPr>
            <a:spLocks xmlns:a="http://schemas.openxmlformats.org/drawingml/2006/main" noGrp="1"/>
          </p:cNvSpPr>
          <p:nvPr/>
        </p:nvSpPr>
        <p:spPr>
          <a:xfrm xmlns:a="http://schemas.openxmlformats.org/drawingml/2006/main">
            <a:off x="85439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stage-progress-label-3">
            <a:extLst xmlns:a="http://schemas.openxmlformats.org/drawingml/2006/main">
              <a:ext uri="{FF2B5EF4-FFF2-40B4-BE49-F238E27FC236}">
                <a16:creationId xmlns:a16="http://schemas.microsoft.com/office/drawing/2014/main" id="{D68D5DEB-4907-4FA2-9FE1-6A3B51755617}"/>
              </a:ext>
            </a:extLst>
          </p:cNvPr>
          <p:cNvSpPr>
            <a:spLocks xmlns:a="http://schemas.openxmlformats.org/drawingml/2006/main" noGrp="1"/>
          </p:cNvSpPr>
          <p:nvPr/>
        </p:nvSpPr>
        <p:spPr>
          <a:xfrm xmlns:a="http://schemas.openxmlformats.org/drawingml/2006/main">
            <a:off x="83248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L3</a:t>
            </a:r>
          </a:p>
        </p:txBody>
      </p:sp>
      <p:sp>
        <p:nvSpPr>
          <p:cNvPr id="16" name="stage-progress-dot-4">
            <a:extLst xmlns:a="http://schemas.openxmlformats.org/drawingml/2006/main">
              <a:ext uri="{FF2B5EF4-FFF2-40B4-BE49-F238E27FC236}">
                <a16:creationId xmlns:a16="http://schemas.microsoft.com/office/drawing/2014/main" id="{AA68462F-1E56-4361-81AC-40A708610C38}"/>
              </a:ext>
            </a:extLst>
          </p:cNvPr>
          <p:cNvSpPr>
            <a:spLocks xmlns:a="http://schemas.openxmlformats.org/drawingml/2006/main" noGrp="1"/>
          </p:cNvSpPr>
          <p:nvPr/>
        </p:nvSpPr>
        <p:spPr>
          <a:xfrm xmlns:a="http://schemas.openxmlformats.org/drawingml/2006/main">
            <a:off x="110585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stage-progress-label-4">
            <a:extLst xmlns:a="http://schemas.openxmlformats.org/drawingml/2006/main">
              <a:ext uri="{FF2B5EF4-FFF2-40B4-BE49-F238E27FC236}">
                <a16:creationId xmlns:a16="http://schemas.microsoft.com/office/drawing/2014/main" id="{D9D1936F-FD6E-41E6-9693-65328FA70C7E}"/>
              </a:ext>
            </a:extLst>
          </p:cNvPr>
          <p:cNvSpPr>
            <a:spLocks xmlns:a="http://schemas.openxmlformats.org/drawingml/2006/main" noGrp="1"/>
          </p:cNvSpPr>
          <p:nvPr/>
        </p:nvSpPr>
        <p:spPr>
          <a:xfrm xmlns:a="http://schemas.openxmlformats.org/drawingml/2006/main">
            <a:off x="108394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L4</a:t>
            </a:r>
          </a:p>
        </p:txBody>
      </p:sp>
    </p:spTree>
    <p:extLst>
      <p:ext uri="{BB962C8B-B14F-4D97-AF65-F5344CB8AC3E}">
        <p14:creationId xmlns:p14="http://schemas.microsoft.com/office/powerpoint/2010/main" val="387116648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42-26">
            <a:extLst xmlns:a="http://schemas.openxmlformats.org/drawingml/2006/main">
              <a:ext uri="{FF2B5EF4-FFF2-40B4-BE49-F238E27FC236}">
                <a16:creationId xmlns:a16="http://schemas.microsoft.com/office/drawing/2014/main" id="{2E8F24E5-5740-41D5-B242-3068F26B0941}"/>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L2 BOUNDARY</a:t>
            </a:r>
          </a:p>
        </p:txBody>
      </p:sp>
      <p:sp>
        <p:nvSpPr>
          <p:cNvPr id="2" name="text-42-54">
            <a:extLst xmlns:a="http://schemas.openxmlformats.org/drawingml/2006/main">
              <a:ext uri="{FF2B5EF4-FFF2-40B4-BE49-F238E27FC236}">
                <a16:creationId xmlns:a16="http://schemas.microsoft.com/office/drawing/2014/main" id="{15E178E7-8FEA-40C1-A1BD-5B7AF32A7B5F}"/>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9922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L2 grounds identity and audits claims without rewriting L1</a:t>
            </a:r>
          </a:p>
        </p:txBody>
      </p:sp>
      <p:sp>
        <p:nvSpPr>
          <p:cNvPr id="3" name="line-42-133">
            <a:extLst xmlns:a="http://schemas.openxmlformats.org/drawingml/2006/main">
              <a:ext uri="{FF2B5EF4-FFF2-40B4-BE49-F238E27FC236}">
                <a16:creationId xmlns:a16="http://schemas.microsoft.com/office/drawing/2014/main" id="{35E6AFDC-0A28-4A7A-9F85-9F537488B8ED}"/>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2-168">
            <a:extLst xmlns:a="http://schemas.openxmlformats.org/drawingml/2006/main">
              <a:ext uri="{FF2B5EF4-FFF2-40B4-BE49-F238E27FC236}">
                <a16:creationId xmlns:a16="http://schemas.microsoft.com/office/drawing/2014/main" id="{3EE8BA63-C352-4D93-B5D8-E4175EE848CA}"/>
              </a:ext>
            </a:extLst>
          </p:cNvPr>
          <p:cNvSpPr>
            <a:spLocks xmlns:a="http://schemas.openxmlformats.org/drawingml/2006/main" noGrp="1"/>
          </p:cNvSpPr>
          <p:nvPr/>
        </p:nvSpPr>
        <p:spPr>
          <a:xfrm xmlns:a="http://schemas.openxmlformats.org/drawingml/2006/main">
            <a:off x="590550" y="1600200"/>
            <a:ext cx="16954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INPUT</a:t>
            </a:r>
          </a:p>
        </p:txBody>
      </p:sp>
      <p:sp>
        <p:nvSpPr>
          <p:cNvPr id="5" name="arrow-244-170">
            <a:extLst xmlns:a="http://schemas.openxmlformats.org/drawingml/2006/main">
              <a:ext uri="{FF2B5EF4-FFF2-40B4-BE49-F238E27FC236}">
                <a16:creationId xmlns:a16="http://schemas.microsoft.com/office/drawing/2014/main" id="{C9DF21FA-F5C4-4127-9271-052ABE07877F}"/>
              </a:ext>
            </a:extLst>
          </p:cNvPr>
          <p:cNvSpPr>
            <a:spLocks xmlns:a="http://schemas.openxmlformats.org/drawingml/2006/main" noGrp="1"/>
          </p:cNvSpPr>
          <p:nvPr/>
        </p:nvSpPr>
        <p:spPr>
          <a:xfrm xmlns:a="http://schemas.openxmlformats.org/drawingml/2006/main">
            <a:off x="23241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text-288-168">
            <a:extLst xmlns:a="http://schemas.openxmlformats.org/drawingml/2006/main">
              <a:ext uri="{FF2B5EF4-FFF2-40B4-BE49-F238E27FC236}">
                <a16:creationId xmlns:a16="http://schemas.microsoft.com/office/drawing/2014/main" id="{78F62E56-55F0-4BF5-B0A6-43A27CBEDF83}"/>
              </a:ext>
            </a:extLst>
          </p:cNvPr>
          <p:cNvSpPr>
            <a:spLocks xmlns:a="http://schemas.openxmlformats.org/drawingml/2006/main" noGrp="1"/>
          </p:cNvSpPr>
          <p:nvPr/>
        </p:nvSpPr>
        <p:spPr>
          <a:xfrm xmlns:a="http://schemas.openxmlformats.org/drawingml/2006/main">
            <a:off x="2743200" y="1600200"/>
            <a:ext cx="209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VERIFY</a:t>
            </a:r>
          </a:p>
        </p:txBody>
      </p:sp>
      <p:sp>
        <p:nvSpPr>
          <p:cNvPr id="7" name="arrow-514-170">
            <a:extLst xmlns:a="http://schemas.openxmlformats.org/drawingml/2006/main">
              <a:ext uri="{FF2B5EF4-FFF2-40B4-BE49-F238E27FC236}">
                <a16:creationId xmlns:a16="http://schemas.microsoft.com/office/drawing/2014/main" id="{0DC265A1-9463-4855-873D-E309B86EA660}"/>
              </a:ext>
            </a:extLst>
          </p:cNvPr>
          <p:cNvSpPr>
            <a:spLocks xmlns:a="http://schemas.openxmlformats.org/drawingml/2006/main" noGrp="1"/>
          </p:cNvSpPr>
          <p:nvPr/>
        </p:nvSpPr>
        <p:spPr>
          <a:xfrm xmlns:a="http://schemas.openxmlformats.org/drawingml/2006/main">
            <a:off x="489585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558-168">
            <a:extLst xmlns:a="http://schemas.openxmlformats.org/drawingml/2006/main">
              <a:ext uri="{FF2B5EF4-FFF2-40B4-BE49-F238E27FC236}">
                <a16:creationId xmlns:a16="http://schemas.microsoft.com/office/drawing/2014/main" id="{82FBAFBB-1CEB-4A73-83B6-BFE4F4A233EE}"/>
              </a:ext>
            </a:extLst>
          </p:cNvPr>
          <p:cNvSpPr>
            <a:spLocks xmlns:a="http://schemas.openxmlformats.org/drawingml/2006/main" noGrp="1"/>
          </p:cNvSpPr>
          <p:nvPr/>
        </p:nvSpPr>
        <p:spPr>
          <a:xfrm xmlns:a="http://schemas.openxmlformats.org/drawingml/2006/main">
            <a:off x="5314950" y="1600200"/>
            <a:ext cx="21336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REPORT</a:t>
            </a:r>
          </a:p>
        </p:txBody>
      </p:sp>
      <p:sp>
        <p:nvSpPr>
          <p:cNvPr id="9" name="arrow-788-170">
            <a:extLst xmlns:a="http://schemas.openxmlformats.org/drawingml/2006/main">
              <a:ext uri="{FF2B5EF4-FFF2-40B4-BE49-F238E27FC236}">
                <a16:creationId xmlns:a16="http://schemas.microsoft.com/office/drawing/2014/main" id="{27BAD463-5A42-44D2-AA51-FA4C1F11166A}"/>
              </a:ext>
            </a:extLst>
          </p:cNvPr>
          <p:cNvSpPr>
            <a:spLocks xmlns:a="http://schemas.openxmlformats.org/drawingml/2006/main" noGrp="1"/>
          </p:cNvSpPr>
          <p:nvPr/>
        </p:nvSpPr>
        <p:spPr>
          <a:xfrm xmlns:a="http://schemas.openxmlformats.org/drawingml/2006/main">
            <a:off x="75057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832-168">
            <a:extLst xmlns:a="http://schemas.openxmlformats.org/drawingml/2006/main">
              <a:ext uri="{FF2B5EF4-FFF2-40B4-BE49-F238E27FC236}">
                <a16:creationId xmlns:a16="http://schemas.microsoft.com/office/drawing/2014/main" id="{09A1E003-46A4-4B36-91C7-95414EDE0162}"/>
              </a:ext>
            </a:extLst>
          </p:cNvPr>
          <p:cNvSpPr>
            <a:spLocks xmlns:a="http://schemas.openxmlformats.org/drawingml/2006/main" noGrp="1"/>
          </p:cNvSpPr>
          <p:nvPr/>
        </p:nvSpPr>
        <p:spPr>
          <a:xfrm xmlns:a="http://schemas.openxmlformats.org/drawingml/2006/main">
            <a:off x="7924800" y="1600200"/>
            <a:ext cx="3429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NEXT: L3</a:t>
            </a:r>
          </a:p>
        </p:txBody>
      </p:sp>
      <p:sp>
        <p:nvSpPr>
          <p:cNvPr id="11" name="box-62-228">
            <a:extLst xmlns:a="http://schemas.openxmlformats.org/drawingml/2006/main">
              <a:ext uri="{FF2B5EF4-FFF2-40B4-BE49-F238E27FC236}">
                <a16:creationId xmlns:a16="http://schemas.microsoft.com/office/drawing/2014/main" id="{395A74B4-5D3B-4EDE-A24B-5D70C0961FA6}"/>
              </a:ext>
            </a:extLst>
          </p:cNvPr>
          <p:cNvSpPr>
            <a:spLocks xmlns:a="http://schemas.openxmlformats.org/drawingml/2006/main" noGrp="1"/>
          </p:cNvSpPr>
          <p:nvPr/>
        </p:nvSpPr>
        <p:spPr>
          <a:xfrm xmlns:a="http://schemas.openxmlformats.org/drawingml/2006/main">
            <a:off x="590550" y="2171700"/>
            <a:ext cx="31623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2" name="text-82-250">
            <a:extLst xmlns:a="http://schemas.openxmlformats.org/drawingml/2006/main">
              <a:ext uri="{FF2B5EF4-FFF2-40B4-BE49-F238E27FC236}">
                <a16:creationId xmlns:a16="http://schemas.microsoft.com/office/drawing/2014/main" id="{1DF51230-E9D0-4ECB-AD5E-FF3619A866E6}"/>
              </a:ext>
            </a:extLst>
          </p:cNvPr>
          <p:cNvSpPr>
            <a:spLocks xmlns:a="http://schemas.openxmlformats.org/drawingml/2006/main" noGrp="1"/>
          </p:cNvSpPr>
          <p:nvPr/>
        </p:nvSpPr>
        <p:spPr>
          <a:xfrm xmlns:a="http://schemas.openxmlformats.org/drawingml/2006/main">
            <a:off x="781050" y="2381250"/>
            <a:ext cx="27813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L2 receives</a:t>
            </a:r>
          </a:p>
        </p:txBody>
      </p:sp>
      <p:sp>
        <p:nvSpPr>
          <p:cNvPr id="13" name="text-82-310">
            <a:extLst xmlns:a="http://schemas.openxmlformats.org/drawingml/2006/main">
              <a:ext uri="{FF2B5EF4-FFF2-40B4-BE49-F238E27FC236}">
                <a16:creationId xmlns:a16="http://schemas.microsoft.com/office/drawing/2014/main" id="{5E1B19B2-D558-4267-9A43-328298658A0B}"/>
              </a:ext>
            </a:extLst>
          </p:cNvPr>
          <p:cNvSpPr>
            <a:spLocks xmlns:a="http://schemas.openxmlformats.org/drawingml/2006/main" noGrp="1"/>
          </p:cNvSpPr>
          <p:nvPr/>
        </p:nvSpPr>
        <p:spPr>
          <a:xfrm xmlns:a="http://schemas.openxmlformats.org/drawingml/2006/main">
            <a:off x="7810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L1 semantics + observed evidence</a:t>
            </a:r>
          </a:p>
        </p:txBody>
      </p:sp>
      <p:sp>
        <p:nvSpPr>
          <p:cNvPr id="14" name="dot-82-362">
            <a:extLst xmlns:a="http://schemas.openxmlformats.org/drawingml/2006/main">
              <a:ext uri="{FF2B5EF4-FFF2-40B4-BE49-F238E27FC236}">
                <a16:creationId xmlns:a16="http://schemas.microsoft.com/office/drawing/2014/main" id="{68AAB549-B5B2-42FD-A23C-B5D2D4337F38}"/>
              </a:ext>
            </a:extLst>
          </p:cNvPr>
          <p:cNvSpPr>
            <a:spLocks xmlns:a="http://schemas.openxmlformats.org/drawingml/2006/main" noGrp="1"/>
          </p:cNvSpPr>
          <p:nvPr/>
        </p:nvSpPr>
        <p:spPr>
          <a:xfrm xmlns:a="http://schemas.openxmlformats.org/drawingml/2006/main">
            <a:off x="7810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2-354">
            <a:extLst xmlns:a="http://schemas.openxmlformats.org/drawingml/2006/main">
              <a:ext uri="{FF2B5EF4-FFF2-40B4-BE49-F238E27FC236}">
                <a16:creationId xmlns:a16="http://schemas.microsoft.com/office/drawing/2014/main" id="{9CA6E212-9295-476D-BFD7-D28BF629A025}"/>
              </a:ext>
            </a:extLst>
          </p:cNvPr>
          <p:cNvSpPr>
            <a:spLocks xmlns:a="http://schemas.openxmlformats.org/drawingml/2006/main" noGrp="1"/>
          </p:cNvSpPr>
          <p:nvPr/>
        </p:nvSpPr>
        <p:spPr>
          <a:xfrm xmlns:a="http://schemas.openxmlformats.org/drawingml/2006/main">
            <a:off x="9715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Immutable L1 response</a:t>
            </a:r>
          </a:p>
        </p:txBody>
      </p:sp>
      <p:sp>
        <p:nvSpPr>
          <p:cNvPr id="16" name="dot-82-416">
            <a:extLst xmlns:a="http://schemas.openxmlformats.org/drawingml/2006/main">
              <a:ext uri="{FF2B5EF4-FFF2-40B4-BE49-F238E27FC236}">
                <a16:creationId xmlns:a16="http://schemas.microsoft.com/office/drawing/2014/main" id="{3729A78D-A319-40E0-B9DF-A3E8F5CE4AE7}"/>
              </a:ext>
            </a:extLst>
          </p:cNvPr>
          <p:cNvSpPr>
            <a:spLocks xmlns:a="http://schemas.openxmlformats.org/drawingml/2006/main" noGrp="1"/>
          </p:cNvSpPr>
          <p:nvPr/>
        </p:nvSpPr>
        <p:spPr>
          <a:xfrm xmlns:a="http://schemas.openxmlformats.org/drawingml/2006/main">
            <a:off x="7810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102-408">
            <a:extLst xmlns:a="http://schemas.openxmlformats.org/drawingml/2006/main">
              <a:ext uri="{FF2B5EF4-FFF2-40B4-BE49-F238E27FC236}">
                <a16:creationId xmlns:a16="http://schemas.microsoft.com/office/drawing/2014/main" id="{A6477598-51D1-4C66-B090-A033E20E4995}"/>
              </a:ext>
            </a:extLst>
          </p:cNvPr>
          <p:cNvSpPr>
            <a:spLocks xmlns:a="http://schemas.openxmlformats.org/drawingml/2006/main" noGrp="1"/>
          </p:cNvSpPr>
          <p:nvPr/>
        </p:nvSpPr>
        <p:spPr>
          <a:xfrm xmlns:a="http://schemas.openxmlformats.org/drawingml/2006/main">
            <a:off x="9715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L0A anchors and excerpts</a:t>
            </a:r>
          </a:p>
        </p:txBody>
      </p:sp>
      <p:sp>
        <p:nvSpPr>
          <p:cNvPr id="18" name="dot-82-470">
            <a:extLst xmlns:a="http://schemas.openxmlformats.org/drawingml/2006/main">
              <a:ext uri="{FF2B5EF4-FFF2-40B4-BE49-F238E27FC236}">
                <a16:creationId xmlns:a16="http://schemas.microsoft.com/office/drawing/2014/main" id="{97C62568-0B41-452D-B123-73FCC3FE3E0C}"/>
              </a:ext>
            </a:extLst>
          </p:cNvPr>
          <p:cNvSpPr>
            <a:spLocks xmlns:a="http://schemas.openxmlformats.org/drawingml/2006/main" noGrp="1"/>
          </p:cNvSpPr>
          <p:nvPr/>
        </p:nvSpPr>
        <p:spPr>
          <a:xfrm xmlns:a="http://schemas.openxmlformats.org/drawingml/2006/main">
            <a:off x="7810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102-462">
            <a:extLst xmlns:a="http://schemas.openxmlformats.org/drawingml/2006/main">
              <a:ext uri="{FF2B5EF4-FFF2-40B4-BE49-F238E27FC236}">
                <a16:creationId xmlns:a16="http://schemas.microsoft.com/office/drawing/2014/main" id="{1AE84897-7006-4F8C-BBFA-7B87792648E5}"/>
              </a:ext>
            </a:extLst>
          </p:cNvPr>
          <p:cNvSpPr>
            <a:spLocks xmlns:a="http://schemas.openxmlformats.org/drawingml/2006/main" noGrp="1"/>
          </p:cNvSpPr>
          <p:nvPr/>
        </p:nvSpPr>
        <p:spPr>
          <a:xfrm xmlns:a="http://schemas.openxmlformats.org/drawingml/2006/main">
            <a:off x="9715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Tool results + source log</a:t>
            </a:r>
          </a:p>
        </p:txBody>
      </p:sp>
      <p:sp>
        <p:nvSpPr>
          <p:cNvPr id="20" name="box-434-228">
            <a:extLst xmlns:a="http://schemas.openxmlformats.org/drawingml/2006/main">
              <a:ext uri="{FF2B5EF4-FFF2-40B4-BE49-F238E27FC236}">
                <a16:creationId xmlns:a16="http://schemas.microsoft.com/office/drawing/2014/main" id="{C18E8717-5015-47D5-A0C5-8927B47AD929}"/>
              </a:ext>
            </a:extLst>
          </p:cNvPr>
          <p:cNvSpPr>
            <a:spLocks xmlns:a="http://schemas.openxmlformats.org/drawingml/2006/main" noGrp="1"/>
          </p:cNvSpPr>
          <p:nvPr/>
        </p:nvSpPr>
        <p:spPr>
          <a:xfrm xmlns:a="http://schemas.openxmlformats.org/drawingml/2006/main">
            <a:off x="41338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454-250">
            <a:extLst xmlns:a="http://schemas.openxmlformats.org/drawingml/2006/main">
              <a:ext uri="{FF2B5EF4-FFF2-40B4-BE49-F238E27FC236}">
                <a16:creationId xmlns:a16="http://schemas.microsoft.com/office/drawing/2014/main" id="{4A64CE5D-113E-4D9E-9862-3E8BAC75122A}"/>
              </a:ext>
            </a:extLst>
          </p:cNvPr>
          <p:cNvSpPr>
            <a:spLocks xmlns:a="http://schemas.openxmlformats.org/drawingml/2006/main" noGrp="1"/>
          </p:cNvSpPr>
          <p:nvPr/>
        </p:nvSpPr>
        <p:spPr>
          <a:xfrm xmlns:a="http://schemas.openxmlformats.org/drawingml/2006/main">
            <a:off x="4324350" y="2381250"/>
            <a:ext cx="2781300" cy="514350"/>
          </a:xfrm>
          <a:prstGeom xmlns:a="http://schemas.openxmlformats.org/drawingml/2006/main" prst="rect">
            <a:avLst/>
          </a:prstGeom>
        </p:spPr>
        <p:txBody>
          <a:bodyPr xmlns:a="http://schemas.openxmlformats.org/drawingml/2006/main" wrap="square" lIns="0" tIns="0" rIns="0" bIns="0" anchor="t">
            <a:normAutofit fontScale="97826" lnSpcReduction="1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grounding + audit check</a:t>
            </a:r>
          </a:p>
        </p:txBody>
      </p:sp>
      <p:sp>
        <p:nvSpPr>
          <p:cNvPr id="22" name="text-454-310">
            <a:extLst xmlns:a="http://schemas.openxmlformats.org/drawingml/2006/main">
              <a:ext uri="{FF2B5EF4-FFF2-40B4-BE49-F238E27FC236}">
                <a16:creationId xmlns:a16="http://schemas.microsoft.com/office/drawing/2014/main" id="{FD2180B6-9D2C-4A94-BB6F-3360EEADD78E}"/>
              </a:ext>
            </a:extLst>
          </p:cNvPr>
          <p:cNvSpPr>
            <a:spLocks xmlns:a="http://schemas.openxmlformats.org/drawingml/2006/main" noGrp="1"/>
          </p:cNvSpPr>
          <p:nvPr/>
        </p:nvSpPr>
        <p:spPr>
          <a:xfrm xmlns:a="http://schemas.openxmlformats.org/drawingml/2006/main">
            <a:off x="4324350" y="2952750"/>
            <a:ext cx="2781300" cy="228600"/>
          </a:xfrm>
          <a:prstGeom xmlns:a="http://schemas.openxmlformats.org/drawingml/2006/main" prst="rect">
            <a:avLst/>
          </a:prstGeom>
        </p:spPr>
        <p:txBody>
          <a:bodyPr xmlns:a="http://schemas.openxmlformats.org/drawingml/2006/main" wrap="square" lIns="0" tIns="0" rIns="0" bIns="0" anchor="t">
            <a:normAutofit fontScale="94541"/>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Observed support, not model agreement</a:t>
            </a:r>
          </a:p>
        </p:txBody>
      </p:sp>
      <p:sp>
        <p:nvSpPr>
          <p:cNvPr id="23" name="dot-454-362">
            <a:extLst xmlns:a="http://schemas.openxmlformats.org/drawingml/2006/main">
              <a:ext uri="{FF2B5EF4-FFF2-40B4-BE49-F238E27FC236}">
                <a16:creationId xmlns:a16="http://schemas.microsoft.com/office/drawing/2014/main" id="{2B5ABAAE-328B-43DB-BB67-B19F6355BBF4}"/>
              </a:ext>
            </a:extLst>
          </p:cNvPr>
          <p:cNvSpPr>
            <a:spLocks xmlns:a="http://schemas.openxmlformats.org/drawingml/2006/main" noGrp="1"/>
          </p:cNvSpPr>
          <p:nvPr/>
        </p:nvSpPr>
        <p:spPr>
          <a:xfrm xmlns:a="http://schemas.openxmlformats.org/drawingml/2006/main">
            <a:off x="43243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text-474-354">
            <a:extLst xmlns:a="http://schemas.openxmlformats.org/drawingml/2006/main">
              <a:ext uri="{FF2B5EF4-FFF2-40B4-BE49-F238E27FC236}">
                <a16:creationId xmlns:a16="http://schemas.microsoft.com/office/drawing/2014/main" id="{9CC8E4EF-4C62-4E65-A043-4EB6C61778AB}"/>
              </a:ext>
            </a:extLst>
          </p:cNvPr>
          <p:cNvSpPr>
            <a:spLocks xmlns:a="http://schemas.openxmlformats.org/drawingml/2006/main" noGrp="1"/>
          </p:cNvSpPr>
          <p:nvPr/>
        </p:nvSpPr>
        <p:spPr>
          <a:xfrm xmlns:a="http://schemas.openxmlformats.org/drawingml/2006/main">
            <a:off x="45148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Do cited lines exist?</a:t>
            </a:r>
          </a:p>
        </p:txBody>
      </p:sp>
      <p:sp>
        <p:nvSpPr>
          <p:cNvPr id="25" name="dot-454-416">
            <a:extLst xmlns:a="http://schemas.openxmlformats.org/drawingml/2006/main">
              <a:ext uri="{FF2B5EF4-FFF2-40B4-BE49-F238E27FC236}">
                <a16:creationId xmlns:a16="http://schemas.microsoft.com/office/drawing/2014/main" id="{CBBD01F2-9E0B-4739-BF76-7F02F9DB340D}"/>
              </a:ext>
            </a:extLst>
          </p:cNvPr>
          <p:cNvSpPr>
            <a:spLocks xmlns:a="http://schemas.openxmlformats.org/drawingml/2006/main" noGrp="1"/>
          </p:cNvSpPr>
          <p:nvPr/>
        </p:nvSpPr>
        <p:spPr>
          <a:xfrm xmlns:a="http://schemas.openxmlformats.org/drawingml/2006/main">
            <a:off x="43243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474-408">
            <a:extLst xmlns:a="http://schemas.openxmlformats.org/drawingml/2006/main">
              <a:ext uri="{FF2B5EF4-FFF2-40B4-BE49-F238E27FC236}">
                <a16:creationId xmlns:a16="http://schemas.microsoft.com/office/drawing/2014/main" id="{1494D069-AB8A-4A24-9766-4E838433FEEA}"/>
              </a:ext>
            </a:extLst>
          </p:cNvPr>
          <p:cNvSpPr>
            <a:spLocks xmlns:a="http://schemas.openxmlformats.org/drawingml/2006/main" noGrp="1"/>
          </p:cNvSpPr>
          <p:nvPr/>
        </p:nvSpPr>
        <p:spPr>
          <a:xfrm xmlns:a="http://schemas.openxmlformats.org/drawingml/2006/main">
            <a:off x="45148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Do they support the claim?</a:t>
            </a:r>
          </a:p>
        </p:txBody>
      </p:sp>
      <p:sp>
        <p:nvSpPr>
          <p:cNvPr id="27" name="dot-454-470">
            <a:extLst xmlns:a="http://schemas.openxmlformats.org/drawingml/2006/main">
              <a:ext uri="{FF2B5EF4-FFF2-40B4-BE49-F238E27FC236}">
                <a16:creationId xmlns:a16="http://schemas.microsoft.com/office/drawing/2014/main" id="{EDCB2778-EADA-461E-973D-2465A5F347BF}"/>
              </a:ext>
            </a:extLst>
          </p:cNvPr>
          <p:cNvSpPr>
            <a:spLocks xmlns:a="http://schemas.openxmlformats.org/drawingml/2006/main" noGrp="1"/>
          </p:cNvSpPr>
          <p:nvPr/>
        </p:nvSpPr>
        <p:spPr>
          <a:xfrm xmlns:a="http://schemas.openxmlformats.org/drawingml/2006/main">
            <a:off x="43243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474-462">
            <a:extLst xmlns:a="http://schemas.openxmlformats.org/drawingml/2006/main">
              <a:ext uri="{FF2B5EF4-FFF2-40B4-BE49-F238E27FC236}">
                <a16:creationId xmlns:a16="http://schemas.microsoft.com/office/drawing/2014/main" id="{D2FDBF89-79F2-4F08-8459-5343202244D4}"/>
              </a:ext>
            </a:extLst>
          </p:cNvPr>
          <p:cNvSpPr>
            <a:spLocks xmlns:a="http://schemas.openxmlformats.org/drawingml/2006/main" noGrp="1"/>
          </p:cNvSpPr>
          <p:nvPr/>
        </p:nvSpPr>
        <p:spPr>
          <a:xfrm xmlns:a="http://schemas.openxmlformats.org/drawingml/2006/main">
            <a:off x="45148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Is recovery-field support overstated?</a:t>
            </a:r>
          </a:p>
        </p:txBody>
      </p:sp>
      <p:sp>
        <p:nvSpPr>
          <p:cNvPr id="29" name="box-806-228">
            <a:extLst xmlns:a="http://schemas.openxmlformats.org/drawingml/2006/main">
              <a:ext uri="{FF2B5EF4-FFF2-40B4-BE49-F238E27FC236}">
                <a16:creationId xmlns:a16="http://schemas.microsoft.com/office/drawing/2014/main" id="{16EC43A0-C165-4FC1-8943-192E174D1BBC}"/>
              </a:ext>
            </a:extLst>
          </p:cNvPr>
          <p:cNvSpPr>
            <a:spLocks xmlns:a="http://schemas.openxmlformats.org/drawingml/2006/main" noGrp="1"/>
          </p:cNvSpPr>
          <p:nvPr/>
        </p:nvSpPr>
        <p:spPr>
          <a:xfrm xmlns:a="http://schemas.openxmlformats.org/drawingml/2006/main">
            <a:off x="76771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30" name="text-826-250">
            <a:extLst xmlns:a="http://schemas.openxmlformats.org/drawingml/2006/main">
              <a:ext uri="{FF2B5EF4-FFF2-40B4-BE49-F238E27FC236}">
                <a16:creationId xmlns:a16="http://schemas.microsoft.com/office/drawing/2014/main" id="{63C996DE-9285-43D2-877E-E4A36953608D}"/>
              </a:ext>
            </a:extLst>
          </p:cNvPr>
          <p:cNvSpPr>
            <a:spLocks xmlns:a="http://schemas.openxmlformats.org/drawingml/2006/main" noGrp="1"/>
          </p:cNvSpPr>
          <p:nvPr/>
        </p:nvSpPr>
        <p:spPr>
          <a:xfrm xmlns:a="http://schemas.openxmlformats.org/drawingml/2006/main">
            <a:off x="7867650" y="2381250"/>
            <a:ext cx="27813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L2 emits</a:t>
            </a:r>
          </a:p>
        </p:txBody>
      </p:sp>
      <p:sp>
        <p:nvSpPr>
          <p:cNvPr id="31" name="text-826-310">
            <a:extLst xmlns:a="http://schemas.openxmlformats.org/drawingml/2006/main">
              <a:ext uri="{FF2B5EF4-FFF2-40B4-BE49-F238E27FC236}">
                <a16:creationId xmlns:a16="http://schemas.microsoft.com/office/drawing/2014/main" id="{B9CD621D-79C4-4765-99E5-90F20A1E69EB}"/>
              </a:ext>
            </a:extLst>
          </p:cNvPr>
          <p:cNvSpPr>
            <a:spLocks xmlns:a="http://schemas.openxmlformats.org/drawingml/2006/main" noGrp="1"/>
          </p:cNvSpPr>
          <p:nvPr/>
        </p:nvSpPr>
        <p:spPr>
          <a:xfrm xmlns:a="http://schemas.openxmlformats.org/drawingml/2006/main">
            <a:off x="78676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CurrentFailureFacts + audit</a:t>
            </a:r>
          </a:p>
        </p:txBody>
      </p:sp>
      <p:sp>
        <p:nvSpPr>
          <p:cNvPr id="32" name="dot-826-362">
            <a:extLst xmlns:a="http://schemas.openxmlformats.org/drawingml/2006/main">
              <a:ext uri="{FF2B5EF4-FFF2-40B4-BE49-F238E27FC236}">
                <a16:creationId xmlns:a16="http://schemas.microsoft.com/office/drawing/2014/main" id="{A4D5F9F5-806C-4E86-98D8-634E9E9775D5}"/>
              </a:ext>
            </a:extLst>
          </p:cNvPr>
          <p:cNvSpPr>
            <a:spLocks xmlns:a="http://schemas.openxmlformats.org/drawingml/2006/main" noGrp="1"/>
          </p:cNvSpPr>
          <p:nvPr/>
        </p:nvSpPr>
        <p:spPr>
          <a:xfrm xmlns:a="http://schemas.openxmlformats.org/drawingml/2006/main">
            <a:off x="78676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46-354">
            <a:extLst xmlns:a="http://schemas.openxmlformats.org/drawingml/2006/main">
              <a:ext uri="{FF2B5EF4-FFF2-40B4-BE49-F238E27FC236}">
                <a16:creationId xmlns:a16="http://schemas.microsoft.com/office/drawing/2014/main" id="{E36A2BDA-007D-4045-81D4-1FA5081557E8}"/>
              </a:ext>
            </a:extLst>
          </p:cNvPr>
          <p:cNvSpPr>
            <a:spLocks xmlns:a="http://schemas.openxmlformats.org/drawingml/2006/main" noGrp="1"/>
          </p:cNvSpPr>
          <p:nvPr/>
        </p:nvSpPr>
        <p:spPr>
          <a:xfrm xmlns:a="http://schemas.openxmlformats.org/drawingml/2006/main">
            <a:off x="80581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Grounding status + audit findings</a:t>
            </a:r>
          </a:p>
        </p:txBody>
      </p:sp>
      <p:sp>
        <p:nvSpPr>
          <p:cNvPr id="34" name="dot-826-416">
            <a:extLst xmlns:a="http://schemas.openxmlformats.org/drawingml/2006/main">
              <a:ext uri="{FF2B5EF4-FFF2-40B4-BE49-F238E27FC236}">
                <a16:creationId xmlns:a16="http://schemas.microsoft.com/office/drawing/2014/main" id="{7C380AC4-4795-4BB2-A3F8-72DE52309B59}"/>
              </a:ext>
            </a:extLst>
          </p:cNvPr>
          <p:cNvSpPr>
            <a:spLocks xmlns:a="http://schemas.openxmlformats.org/drawingml/2006/main" noGrp="1"/>
          </p:cNvSpPr>
          <p:nvPr/>
        </p:nvSpPr>
        <p:spPr>
          <a:xfrm xmlns:a="http://schemas.openxmlformats.org/drawingml/2006/main">
            <a:off x="78676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5" name="text-846-408">
            <a:extLst xmlns:a="http://schemas.openxmlformats.org/drawingml/2006/main">
              <a:ext uri="{FF2B5EF4-FFF2-40B4-BE49-F238E27FC236}">
                <a16:creationId xmlns:a16="http://schemas.microsoft.com/office/drawing/2014/main" id="{DA96D7C3-76CD-420D-8F07-1CE7E8D23ED5}"/>
              </a:ext>
            </a:extLst>
          </p:cNvPr>
          <p:cNvSpPr>
            <a:spLocks xmlns:a="http://schemas.openxmlformats.org/drawingml/2006/main" noGrp="1"/>
          </p:cNvSpPr>
          <p:nvPr/>
        </p:nvSpPr>
        <p:spPr>
          <a:xfrm xmlns:a="http://schemas.openxmlformats.org/drawingml/2006/main">
            <a:off x="80581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Independent audit observations</a:t>
            </a:r>
          </a:p>
        </p:txBody>
      </p:sp>
      <p:sp>
        <p:nvSpPr>
          <p:cNvPr id="36" name="dot-826-470">
            <a:extLst xmlns:a="http://schemas.openxmlformats.org/drawingml/2006/main">
              <a:ext uri="{FF2B5EF4-FFF2-40B4-BE49-F238E27FC236}">
                <a16:creationId xmlns:a16="http://schemas.microsoft.com/office/drawing/2014/main" id="{62124110-26B5-4CA7-BC5C-5D09491EA52E}"/>
              </a:ext>
            </a:extLst>
          </p:cNvPr>
          <p:cNvSpPr>
            <a:spLocks xmlns:a="http://schemas.openxmlformats.org/drawingml/2006/main" noGrp="1"/>
          </p:cNvSpPr>
          <p:nvPr/>
        </p:nvSpPr>
        <p:spPr>
          <a:xfrm xmlns:a="http://schemas.openxmlformats.org/drawingml/2006/main">
            <a:off x="78676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7" name="text-846-462">
            <a:extLst xmlns:a="http://schemas.openxmlformats.org/drawingml/2006/main">
              <a:ext uri="{FF2B5EF4-FFF2-40B4-BE49-F238E27FC236}">
                <a16:creationId xmlns:a16="http://schemas.microsoft.com/office/drawing/2014/main" id="{A6111747-2FEB-4B1F-BDD8-3A25F23F4533}"/>
              </a:ext>
            </a:extLst>
          </p:cNvPr>
          <p:cNvSpPr>
            <a:spLocks xmlns:a="http://schemas.openxmlformats.org/drawingml/2006/main" noGrp="1"/>
          </p:cNvSpPr>
          <p:nvPr/>
        </p:nvSpPr>
        <p:spPr>
          <a:xfrm xmlns:a="http://schemas.openxmlformats.org/drawingml/2006/main">
            <a:off x="80581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L2-owned enriched fingerprint</a:t>
            </a:r>
          </a:p>
        </p:txBody>
      </p:sp>
      <p:sp>
        <p:nvSpPr>
          <p:cNvPr id="38" name="box-62-574">
            <a:extLst xmlns:a="http://schemas.openxmlformats.org/drawingml/2006/main">
              <a:ext uri="{FF2B5EF4-FFF2-40B4-BE49-F238E27FC236}">
                <a16:creationId xmlns:a16="http://schemas.microsoft.com/office/drawing/2014/main" id="{6F8D4551-C523-45BB-B880-9B0BCB4F2A00}"/>
              </a:ext>
            </a:extLst>
          </p:cNvPr>
          <p:cNvSpPr>
            <a:spLocks xmlns:a="http://schemas.openxmlformats.org/drawingml/2006/main" noGrp="1"/>
          </p:cNvSpPr>
          <p:nvPr/>
        </p:nvSpPr>
        <p:spPr>
          <a:xfrm xmlns:a="http://schemas.openxmlformats.org/drawingml/2006/main">
            <a:off x="590550" y="5467350"/>
            <a:ext cx="1097280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9" name="text-86-593">
            <a:extLst xmlns:a="http://schemas.openxmlformats.org/drawingml/2006/main">
              <a:ext uri="{FF2B5EF4-FFF2-40B4-BE49-F238E27FC236}">
                <a16:creationId xmlns:a16="http://schemas.microsoft.com/office/drawing/2014/main" id="{6A5F2A43-1399-44A9-9BCD-5851656455F4}"/>
              </a:ext>
            </a:extLst>
          </p:cNvPr>
          <p:cNvSpPr>
            <a:spLocks xmlns:a="http://schemas.openxmlformats.org/drawingml/2006/main" noGrp="1"/>
          </p:cNvSpPr>
          <p:nvPr/>
        </p:nvSpPr>
        <p:spPr>
          <a:xfrm xmlns:a="http://schemas.openxmlformats.org/drawingml/2006/main">
            <a:off x="819150" y="5648325"/>
            <a:ext cx="8763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D7A5B"/>
                </a:solidFill>
                <a:latin typeface="Helvetica Neue"/>
                <a:ea typeface="Helvetica Neue"/>
                <a:cs typeface="Helvetica Neue"/>
              </a:defRPr>
            </a:pPr>
            <a:r>
              <a:t>OUTPUT</a:t>
            </a:r>
          </a:p>
        </p:txBody>
      </p:sp>
      <p:sp>
        <p:nvSpPr>
          <p:cNvPr id="40" name="text-176-593">
            <a:extLst xmlns:a="http://schemas.openxmlformats.org/drawingml/2006/main">
              <a:ext uri="{FF2B5EF4-FFF2-40B4-BE49-F238E27FC236}">
                <a16:creationId xmlns:a16="http://schemas.microsoft.com/office/drawing/2014/main" id="{1390676A-746F-425B-9CB4-2FF15446570C}"/>
              </a:ext>
            </a:extLst>
          </p:cNvPr>
          <p:cNvSpPr>
            <a:spLocks xmlns:a="http://schemas.openxmlformats.org/drawingml/2006/main" noGrp="1"/>
          </p:cNvSpPr>
          <p:nvPr/>
        </p:nvSpPr>
        <p:spPr>
          <a:xfrm xmlns:a="http://schemas.openxmlformats.org/drawingml/2006/main">
            <a:off x="1676400" y="5648325"/>
            <a:ext cx="3905250" cy="228600"/>
          </a:xfrm>
          <a:prstGeom xmlns:a="http://schemas.openxmlformats.org/drawingml/2006/main" prst="rect">
            <a:avLst/>
          </a:prstGeom>
        </p:spPr>
        <p:txBody>
          <a:bodyPr xmlns:a="http://schemas.openxmlformats.org/drawingml/2006/main" wrap="square" lIns="0" tIns="0" rIns="0" bIns="0" anchor="t">
            <a:normAutofit fontScale="91979"/>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CurrentFailureFacts feeds L3; audit does not rewrite L1</a:t>
            </a:r>
          </a:p>
        </p:txBody>
      </p:sp>
      <p:sp>
        <p:nvSpPr>
          <p:cNvPr id="41" name="text-650-593">
            <a:extLst xmlns:a="http://schemas.openxmlformats.org/drawingml/2006/main">
              <a:ext uri="{FF2B5EF4-FFF2-40B4-BE49-F238E27FC236}">
                <a16:creationId xmlns:a16="http://schemas.microsoft.com/office/drawing/2014/main" id="{78B230B8-BCC1-4534-8E62-AD12DE0FCB0D}"/>
              </a:ext>
            </a:extLst>
          </p:cNvPr>
          <p:cNvSpPr>
            <a:spLocks xmlns:a="http://schemas.openxmlformats.org/drawingml/2006/main" noGrp="1"/>
          </p:cNvSpPr>
          <p:nvPr/>
        </p:nvSpPr>
        <p:spPr>
          <a:xfrm xmlns:a="http://schemas.openxmlformats.org/drawingml/2006/main">
            <a:off x="6191250" y="5648325"/>
            <a:ext cx="10668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B25D00"/>
                </a:solidFill>
                <a:latin typeface="Helvetica Neue"/>
                <a:ea typeface="Helvetica Neue"/>
                <a:cs typeface="Helvetica Neue"/>
              </a:defRPr>
            </a:pPr>
            <a:r>
              <a:t>NOT OWNED</a:t>
            </a:r>
          </a:p>
        </p:txBody>
      </p:sp>
      <p:sp>
        <p:nvSpPr>
          <p:cNvPr id="42" name="text-760-593">
            <a:extLst xmlns:a="http://schemas.openxmlformats.org/drawingml/2006/main">
              <a:ext uri="{FF2B5EF4-FFF2-40B4-BE49-F238E27FC236}">
                <a16:creationId xmlns:a16="http://schemas.microsoft.com/office/drawing/2014/main" id="{D6461CE0-5651-4641-A5AC-13692A7A746A}"/>
              </a:ext>
            </a:extLst>
          </p:cNvPr>
          <p:cNvSpPr>
            <a:spLocks xmlns:a="http://schemas.openxmlformats.org/drawingml/2006/main" noGrp="1"/>
          </p:cNvSpPr>
          <p:nvPr/>
        </p:nvSpPr>
        <p:spPr>
          <a:xfrm xmlns:a="http://schemas.openxmlformats.org/drawingml/2006/main">
            <a:off x="7239000" y="5648325"/>
            <a:ext cx="40576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00000"/>
                </a:solidFill>
                <a:latin typeface="Helvetica Neue"/>
                <a:ea typeface="Helvetica Neue"/>
                <a:cs typeface="Helvetica Neue"/>
              </a:defRPr>
            </a:pPr>
            <a:r>
              <a:t>semantic rewrites, history matching, or action policy</a:t>
            </a:r>
          </a:p>
        </p:txBody>
      </p:sp>
    </p:spTree>
    <p:extLst>
      <p:ext uri="{BB962C8B-B14F-4D97-AF65-F5344CB8AC3E}">
        <p14:creationId xmlns:p14="http://schemas.microsoft.com/office/powerpoint/2010/main" val="152350585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42-26">
            <a:extLst xmlns:a="http://schemas.openxmlformats.org/drawingml/2006/main">
              <a:ext uri="{FF2B5EF4-FFF2-40B4-BE49-F238E27FC236}">
                <a16:creationId xmlns:a16="http://schemas.microsoft.com/office/drawing/2014/main" id="{ABD58D02-750C-45CB-94F0-BA27C9474B7A}"/>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L2 EXAMPLE</a:t>
            </a:r>
          </a:p>
        </p:txBody>
      </p:sp>
      <p:sp>
        <p:nvSpPr>
          <p:cNvPr id="2" name="text-42-54">
            <a:extLst xmlns:a="http://schemas.openxmlformats.org/drawingml/2006/main">
              <a:ext uri="{FF2B5EF4-FFF2-40B4-BE49-F238E27FC236}">
                <a16:creationId xmlns:a16="http://schemas.microsoft.com/office/drawing/2014/main" id="{3B191F05-9359-47F4-8930-0496041880E8}"/>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L2 flags weak support without rewriting L1</a:t>
            </a:r>
          </a:p>
        </p:txBody>
      </p:sp>
      <p:sp>
        <p:nvSpPr>
          <p:cNvPr id="3" name="line-42-133">
            <a:extLst xmlns:a="http://schemas.openxmlformats.org/drawingml/2006/main">
              <a:ext uri="{FF2B5EF4-FFF2-40B4-BE49-F238E27FC236}">
                <a16:creationId xmlns:a16="http://schemas.microsoft.com/office/drawing/2014/main" id="{4FA29BE3-D9E4-47EA-B72E-BDBB8113A010}"/>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50-182">
            <a:extLst xmlns:a="http://schemas.openxmlformats.org/drawingml/2006/main">
              <a:ext uri="{FF2B5EF4-FFF2-40B4-BE49-F238E27FC236}">
                <a16:creationId xmlns:a16="http://schemas.microsoft.com/office/drawing/2014/main" id="{B09E31F8-AA6C-4C22-B3AC-8599D9F0D5FB}"/>
              </a:ext>
            </a:extLst>
          </p:cNvPr>
          <p:cNvSpPr>
            <a:spLocks xmlns:a="http://schemas.openxmlformats.org/drawingml/2006/main" noGrp="1"/>
          </p:cNvSpPr>
          <p:nvPr/>
        </p:nvSpPr>
        <p:spPr>
          <a:xfrm xmlns:a="http://schemas.openxmlformats.org/drawingml/2006/main">
            <a:off x="476250" y="1733550"/>
            <a:ext cx="4572000" cy="3943350"/>
          </a:xfrm>
          <a:prstGeom xmlns:a="http://schemas.openxmlformats.org/drawingml/2006/main" prst="rect">
            <a:avLst/>
          </a:prstGeom>
          <a:solidFill xmlns:a="http://schemas.openxmlformats.org/drawingml/2006/main">
            <a:srgbClr val="171A1F"/>
          </a:solidFill>
          <a:ln xmlns:a="http://schemas.openxmlformats.org/drawingml/2006/main" w="9525">
            <a:solidFill>
              <a:srgbClr val="171A1F"/>
            </a:solidFill>
            <a:prstDash val="solid"/>
          </a:ln>
        </p:spPr>
        <p:txBody>
          <a:bodyPr xmlns:a="http://schemas.openxmlformats.org/drawingml/2006/main"/>
          <a:lstStyle xmlns:a="http://schemas.openxmlformats.org/drawingml/2006/main"/>
          <a:p xmlns:a="http://schemas.openxmlformats.org/drawingml/2006/main"/>
        </p:txBody>
      </p:sp>
      <p:sp>
        <p:nvSpPr>
          <p:cNvPr id="5" name="text-72-202">
            <a:extLst xmlns:a="http://schemas.openxmlformats.org/drawingml/2006/main">
              <a:ext uri="{FF2B5EF4-FFF2-40B4-BE49-F238E27FC236}">
                <a16:creationId xmlns:a16="http://schemas.microsoft.com/office/drawing/2014/main" id="{DD8D31B0-35CC-4EE6-B414-230EA0FD54ED}"/>
              </a:ext>
            </a:extLst>
          </p:cNvPr>
          <p:cNvSpPr>
            <a:spLocks xmlns:a="http://schemas.openxmlformats.org/drawingml/2006/main" noGrp="1"/>
          </p:cNvSpPr>
          <p:nvPr/>
        </p:nvSpPr>
        <p:spPr>
          <a:xfrm xmlns:a="http://schemas.openxmlformats.org/drawingml/2006/main">
            <a:off x="685800" y="1924050"/>
            <a:ext cx="1714500" cy="190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6DCBF4"/>
                </a:solidFill>
                <a:latin typeface="Helvetica Neue"/>
                <a:ea typeface="Helvetica Neue"/>
                <a:cs typeface="Helvetica Neue"/>
              </a:defRPr>
            </a:pPr>
            <a:r>
              <a:t>RAW L1 CLAIM</a:t>
            </a:r>
          </a:p>
        </p:txBody>
      </p:sp>
      <p:sp>
        <p:nvSpPr>
          <p:cNvPr id="6" name="text-72-244">
            <a:extLst xmlns:a="http://schemas.openxmlformats.org/drawingml/2006/main">
              <a:ext uri="{FF2B5EF4-FFF2-40B4-BE49-F238E27FC236}">
                <a16:creationId xmlns:a16="http://schemas.microsoft.com/office/drawing/2014/main" id="{59145F92-A0F1-43DE-963A-C82F04FFCF31}"/>
              </a:ext>
            </a:extLst>
          </p:cNvPr>
          <p:cNvSpPr>
            <a:spLocks xmlns:a="http://schemas.openxmlformats.org/drawingml/2006/main" noGrp="1"/>
          </p:cNvSpPr>
          <p:nvPr/>
        </p:nvSpPr>
        <p:spPr>
          <a:xfrm xmlns:a="http://schemas.openxmlformats.org/drawingml/2006/main">
            <a:off x="685800" y="2324100"/>
            <a:ext cx="4114800" cy="2457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F4F6F8"/>
                </a:solidFill>
                <a:latin typeface="Courier New"/>
                <a:ea typeface="Courier New"/>
                <a:cs typeface="Courier New"/>
              </a:defRPr>
            </a:pPr>
            <a:r>
              <a:t>primary: checkpoint decode @12083
domain: workload (established)
outlook: cannot_recover (established)
support: rank fanout + same-attempt repeats</a:t>
            </a:r>
          </a:p>
        </p:txBody>
      </p:sp>
      <p:sp>
        <p:nvSpPr>
          <p:cNvPr id="7" name="text-72-526">
            <a:extLst xmlns:a="http://schemas.openxmlformats.org/drawingml/2006/main">
              <a:ext uri="{FF2B5EF4-FFF2-40B4-BE49-F238E27FC236}">
                <a16:creationId xmlns:a16="http://schemas.microsoft.com/office/drawing/2014/main" id="{0560C05C-43AE-4F13-AAB9-71CC129DC184}"/>
              </a:ext>
            </a:extLst>
          </p:cNvPr>
          <p:cNvSpPr>
            <a:spLocks xmlns:a="http://schemas.openxmlformats.org/drawingml/2006/main" noGrp="1"/>
          </p:cNvSpPr>
          <p:nvPr/>
        </p:nvSpPr>
        <p:spPr>
          <a:xfrm xmlns:a="http://schemas.openxmlformats.org/drawingml/2006/main">
            <a:off x="685800" y="5010150"/>
            <a:ext cx="4095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B9C2CC"/>
                </a:solidFill>
                <a:latin typeface="Helvetica Neue"/>
                <a:ea typeface="Helvetica Neue"/>
                <a:cs typeface="Helvetica Neue"/>
              </a:defRPr>
            </a:pPr>
            <a:r>
              <a:t>The mechanism may be correct; the claimed evidence status is too strong.</a:t>
            </a:r>
          </a:p>
        </p:txBody>
      </p:sp>
      <p:sp>
        <p:nvSpPr>
          <p:cNvPr id="8" name="box-590-184">
            <a:extLst xmlns:a="http://schemas.openxmlformats.org/drawingml/2006/main">
              <a:ext uri="{FF2B5EF4-FFF2-40B4-BE49-F238E27FC236}">
                <a16:creationId xmlns:a16="http://schemas.microsoft.com/office/drawing/2014/main" id="{DF59DF45-BD07-4311-89E4-10B932FD5205}"/>
              </a:ext>
            </a:extLst>
          </p:cNvPr>
          <p:cNvSpPr>
            <a:spLocks xmlns:a="http://schemas.openxmlformats.org/drawingml/2006/main" noGrp="1"/>
          </p:cNvSpPr>
          <p:nvPr/>
        </p:nvSpPr>
        <p:spPr>
          <a:xfrm xmlns:a="http://schemas.openxmlformats.org/drawingml/2006/main">
            <a:off x="5619750" y="1752600"/>
            <a:ext cx="5905500" cy="6286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9" name="text-606-196">
            <a:extLst xmlns:a="http://schemas.openxmlformats.org/drawingml/2006/main">
              <a:ext uri="{FF2B5EF4-FFF2-40B4-BE49-F238E27FC236}">
                <a16:creationId xmlns:a16="http://schemas.microsoft.com/office/drawing/2014/main" id="{64A17A76-EA0A-4901-A9CD-9ABBEF271D47}"/>
              </a:ext>
            </a:extLst>
          </p:cNvPr>
          <p:cNvSpPr>
            <a:spLocks xmlns:a="http://schemas.openxmlformats.org/drawingml/2006/main" noGrp="1"/>
          </p:cNvSpPr>
          <p:nvPr/>
        </p:nvSpPr>
        <p:spPr>
          <a:xfrm xmlns:a="http://schemas.openxmlformats.org/drawingml/2006/main">
            <a:off x="5772150" y="1866900"/>
            <a:ext cx="438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RAW</a:t>
            </a:r>
          </a:p>
        </p:txBody>
      </p:sp>
      <p:sp>
        <p:nvSpPr>
          <p:cNvPr id="10" name="text-664-193">
            <a:extLst xmlns:a="http://schemas.openxmlformats.org/drawingml/2006/main">
              <a:ext uri="{FF2B5EF4-FFF2-40B4-BE49-F238E27FC236}">
                <a16:creationId xmlns:a16="http://schemas.microsoft.com/office/drawing/2014/main" id="{63EE8A81-9FED-408D-AFEC-C11EBA8516E5}"/>
              </a:ext>
            </a:extLst>
          </p:cNvPr>
          <p:cNvSpPr>
            <a:spLocks xmlns:a="http://schemas.openxmlformats.org/drawingml/2006/main" noGrp="1"/>
          </p:cNvSpPr>
          <p:nvPr/>
        </p:nvSpPr>
        <p:spPr>
          <a:xfrm xmlns:a="http://schemas.openxmlformats.org/drawingml/2006/main">
            <a:off x="6324600" y="1838325"/>
            <a:ext cx="4762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Raw semantic output</a:t>
            </a:r>
          </a:p>
        </p:txBody>
      </p:sp>
      <p:sp>
        <p:nvSpPr>
          <p:cNvPr id="11" name="text-664-220">
            <a:extLst xmlns:a="http://schemas.openxmlformats.org/drawingml/2006/main">
              <a:ext uri="{FF2B5EF4-FFF2-40B4-BE49-F238E27FC236}">
                <a16:creationId xmlns:a16="http://schemas.microsoft.com/office/drawing/2014/main" id="{73E058D8-106C-4F08-8017-E5C84443C47F}"/>
              </a:ext>
            </a:extLst>
          </p:cNvPr>
          <p:cNvSpPr>
            <a:spLocks xmlns:a="http://schemas.openxmlformats.org/drawingml/2006/main" noGrp="1"/>
          </p:cNvSpPr>
          <p:nvPr/>
        </p:nvSpPr>
        <p:spPr>
          <a:xfrm xmlns:a="http://schemas.openxmlformats.org/drawingml/2006/main">
            <a:off x="6324600" y="2095500"/>
            <a:ext cx="49530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Immutable L1 object + claim-tagged citations</a:t>
            </a:r>
          </a:p>
        </p:txBody>
      </p:sp>
      <p:sp>
        <p:nvSpPr>
          <p:cNvPr id="12" name="box-590-266">
            <a:extLst xmlns:a="http://schemas.openxmlformats.org/drawingml/2006/main">
              <a:ext uri="{FF2B5EF4-FFF2-40B4-BE49-F238E27FC236}">
                <a16:creationId xmlns:a16="http://schemas.microsoft.com/office/drawing/2014/main" id="{2D0B047D-FC14-4AC8-9581-418064742B81}"/>
              </a:ext>
            </a:extLst>
          </p:cNvPr>
          <p:cNvSpPr>
            <a:spLocks xmlns:a="http://schemas.openxmlformats.org/drawingml/2006/main" noGrp="1"/>
          </p:cNvSpPr>
          <p:nvPr/>
        </p:nvSpPr>
        <p:spPr>
          <a:xfrm xmlns:a="http://schemas.openxmlformats.org/drawingml/2006/main">
            <a:off x="5619750" y="2533650"/>
            <a:ext cx="5905500" cy="6286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3" name="text-606-278">
            <a:extLst xmlns:a="http://schemas.openxmlformats.org/drawingml/2006/main">
              <a:ext uri="{FF2B5EF4-FFF2-40B4-BE49-F238E27FC236}">
                <a16:creationId xmlns:a16="http://schemas.microsoft.com/office/drawing/2014/main" id="{72E9D893-8D39-4DEA-BC4C-747DE65382D6}"/>
              </a:ext>
            </a:extLst>
          </p:cNvPr>
          <p:cNvSpPr>
            <a:spLocks xmlns:a="http://schemas.openxmlformats.org/drawingml/2006/main" noGrp="1"/>
          </p:cNvSpPr>
          <p:nvPr/>
        </p:nvSpPr>
        <p:spPr>
          <a:xfrm xmlns:a="http://schemas.openxmlformats.org/drawingml/2006/main">
            <a:off x="5772150" y="2647950"/>
            <a:ext cx="438150" cy="209550"/>
          </a:xfrm>
          <a:prstGeom xmlns:a="http://schemas.openxmlformats.org/drawingml/2006/main" prst="rect">
            <a:avLst/>
          </a:prstGeom>
        </p:spPr>
        <p:txBody>
          <a:bodyPr xmlns:a="http://schemas.openxmlformats.org/drawingml/2006/main" wrap="square" lIns="0" tIns="0" rIns="0" bIns="0" anchor="t">
            <a:normAutofit fontScale="80028"/>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CHECK</a:t>
            </a:r>
          </a:p>
        </p:txBody>
      </p:sp>
      <p:sp>
        <p:nvSpPr>
          <p:cNvPr id="14" name="text-664-275">
            <a:extLst xmlns:a="http://schemas.openxmlformats.org/drawingml/2006/main">
              <a:ext uri="{FF2B5EF4-FFF2-40B4-BE49-F238E27FC236}">
                <a16:creationId xmlns:a16="http://schemas.microsoft.com/office/drawing/2014/main" id="{5E5CEE23-F33A-48A5-8C91-B006EE2CE6A8}"/>
              </a:ext>
            </a:extLst>
          </p:cNvPr>
          <p:cNvSpPr>
            <a:spLocks xmlns:a="http://schemas.openxmlformats.org/drawingml/2006/main" noGrp="1"/>
          </p:cNvSpPr>
          <p:nvPr/>
        </p:nvSpPr>
        <p:spPr>
          <a:xfrm xmlns:a="http://schemas.openxmlformats.org/drawingml/2006/main">
            <a:off x="6324600" y="2619375"/>
            <a:ext cx="4762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Citation audit</a:t>
            </a:r>
          </a:p>
        </p:txBody>
      </p:sp>
      <p:sp>
        <p:nvSpPr>
          <p:cNvPr id="15" name="text-664-302">
            <a:extLst xmlns:a="http://schemas.openxmlformats.org/drawingml/2006/main">
              <a:ext uri="{FF2B5EF4-FFF2-40B4-BE49-F238E27FC236}">
                <a16:creationId xmlns:a16="http://schemas.microsoft.com/office/drawing/2014/main" id="{ADBE7416-9C50-4999-946B-C10D163CCBEE}"/>
              </a:ext>
            </a:extLst>
          </p:cNvPr>
          <p:cNvSpPr>
            <a:spLocks xmlns:a="http://schemas.openxmlformats.org/drawingml/2006/main" noGrp="1"/>
          </p:cNvSpPr>
          <p:nvPr/>
        </p:nvSpPr>
        <p:spPr>
          <a:xfrm xmlns:a="http://schemas.openxmlformats.org/drawingml/2006/main">
            <a:off x="6324600" y="2876550"/>
            <a:ext cx="4953000" cy="209550"/>
          </a:xfrm>
          <a:prstGeom xmlns:a="http://schemas.openxmlformats.org/drawingml/2006/main" prst="rect">
            <a:avLst/>
          </a:prstGeom>
        </p:spPr>
        <p:txBody>
          <a:bodyPr xmlns:a="http://schemas.openxmlformats.org/drawingml/2006/main" wrap="square" lIns="0" tIns="0" rIns="0" bIns="0" anchor="t">
            <a:normAutofit fontScale="100000" lnSpcReduction="20000"/>
          </a:bodyPr>
          <a:lstStyle xmlns:a="http://schemas.openxmlformats.org/drawingml/2006/main"/>
          <a:p xmlns:a="http://schemas.openxmlformats.org/drawingml/2006/main">
            <a:pPr algn="l">
              <a:buNone/>
              <a:defRPr sz="1125" b="0">
                <a:solidFill>
                  <a:srgbClr val="5D6470"/>
                </a:solidFill>
                <a:latin typeface="Courier New"/>
                <a:ea typeface="Courier New"/>
                <a:cs typeface="Courier New"/>
              </a:defRPr>
            </a:pPr>
            <a:r>
              <a:t>12083 resolves; cleanup 12135 stays downstream</a:t>
            </a:r>
          </a:p>
        </p:txBody>
      </p:sp>
      <p:sp>
        <p:nvSpPr>
          <p:cNvPr id="16" name="box-590-348">
            <a:extLst xmlns:a="http://schemas.openxmlformats.org/drawingml/2006/main">
              <a:ext uri="{FF2B5EF4-FFF2-40B4-BE49-F238E27FC236}">
                <a16:creationId xmlns:a16="http://schemas.microsoft.com/office/drawing/2014/main" id="{CEE2DF39-F1C5-4186-BD7B-591FFF29A4B7}"/>
              </a:ext>
            </a:extLst>
          </p:cNvPr>
          <p:cNvSpPr>
            <a:spLocks xmlns:a="http://schemas.openxmlformats.org/drawingml/2006/main" noGrp="1"/>
          </p:cNvSpPr>
          <p:nvPr/>
        </p:nvSpPr>
        <p:spPr>
          <a:xfrm xmlns:a="http://schemas.openxmlformats.org/drawingml/2006/main">
            <a:off x="5619750" y="3314700"/>
            <a:ext cx="5905500" cy="6286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7" name="text-606-360">
            <a:extLst xmlns:a="http://schemas.openxmlformats.org/drawingml/2006/main">
              <a:ext uri="{FF2B5EF4-FFF2-40B4-BE49-F238E27FC236}">
                <a16:creationId xmlns:a16="http://schemas.microsoft.com/office/drawing/2014/main" id="{612AE18E-69B6-4FB4-9FF8-2ABC69AD7FBF}"/>
              </a:ext>
            </a:extLst>
          </p:cNvPr>
          <p:cNvSpPr>
            <a:spLocks xmlns:a="http://schemas.openxmlformats.org/drawingml/2006/main" noGrp="1"/>
          </p:cNvSpPr>
          <p:nvPr/>
        </p:nvSpPr>
        <p:spPr>
          <a:xfrm xmlns:a="http://schemas.openxmlformats.org/drawingml/2006/main">
            <a:off x="5772150" y="3429000"/>
            <a:ext cx="438150" cy="209550"/>
          </a:xfrm>
          <a:prstGeom xmlns:a="http://schemas.openxmlformats.org/drawingml/2006/main" prst="rect">
            <a:avLst/>
          </a:prstGeom>
        </p:spPr>
        <p:txBody>
          <a:bodyPr xmlns:a="http://schemas.openxmlformats.org/drawingml/2006/main" wrap="square" lIns="0" tIns="0" rIns="0" bIns="0" anchor="t">
            <a:normAutofit fontScale="80028"/>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CHECK</a:t>
            </a:r>
          </a:p>
        </p:txBody>
      </p:sp>
      <p:sp>
        <p:nvSpPr>
          <p:cNvPr id="18" name="text-664-357">
            <a:extLst xmlns:a="http://schemas.openxmlformats.org/drawingml/2006/main">
              <a:ext uri="{FF2B5EF4-FFF2-40B4-BE49-F238E27FC236}">
                <a16:creationId xmlns:a16="http://schemas.microsoft.com/office/drawing/2014/main" id="{EC2A1AC5-E1FB-45D4-979F-F0E74E5C5B2F}"/>
              </a:ext>
            </a:extLst>
          </p:cNvPr>
          <p:cNvSpPr>
            <a:spLocks xmlns:a="http://schemas.openxmlformats.org/drawingml/2006/main" noGrp="1"/>
          </p:cNvSpPr>
          <p:nvPr/>
        </p:nvSpPr>
        <p:spPr>
          <a:xfrm xmlns:a="http://schemas.openxmlformats.org/drawingml/2006/main">
            <a:off x="6324600" y="3400425"/>
            <a:ext cx="4762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Operation/artifact support</a:t>
            </a:r>
          </a:p>
        </p:txBody>
      </p:sp>
      <p:sp>
        <p:nvSpPr>
          <p:cNvPr id="19" name="text-664-384">
            <a:extLst xmlns:a="http://schemas.openxmlformats.org/drawingml/2006/main">
              <a:ext uri="{FF2B5EF4-FFF2-40B4-BE49-F238E27FC236}">
                <a16:creationId xmlns:a16="http://schemas.microsoft.com/office/drawing/2014/main" id="{C375F5CC-18BE-4139-9B2D-6C13E5588BA7}"/>
              </a:ext>
            </a:extLst>
          </p:cNvPr>
          <p:cNvSpPr>
            <a:spLocks xmlns:a="http://schemas.openxmlformats.org/drawingml/2006/main" noGrp="1"/>
          </p:cNvSpPr>
          <p:nvPr/>
        </p:nvSpPr>
        <p:spPr>
          <a:xfrm xmlns:a="http://schemas.openxmlformats.org/drawingml/2006/main">
            <a:off x="6324600" y="3657600"/>
            <a:ext cx="49530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rank fanout in one attempt does not prove survival across restart</a:t>
            </a:r>
          </a:p>
        </p:txBody>
      </p:sp>
      <p:sp>
        <p:nvSpPr>
          <p:cNvPr id="20" name="box-590-430">
            <a:extLst xmlns:a="http://schemas.openxmlformats.org/drawingml/2006/main">
              <a:ext uri="{FF2B5EF4-FFF2-40B4-BE49-F238E27FC236}">
                <a16:creationId xmlns:a16="http://schemas.microsoft.com/office/drawing/2014/main" id="{026CCCEF-4051-4CE8-90C3-60B483E1A108}"/>
              </a:ext>
            </a:extLst>
          </p:cNvPr>
          <p:cNvSpPr>
            <a:spLocks xmlns:a="http://schemas.openxmlformats.org/drawingml/2006/main" noGrp="1"/>
          </p:cNvSpPr>
          <p:nvPr/>
        </p:nvSpPr>
        <p:spPr>
          <a:xfrm xmlns:a="http://schemas.openxmlformats.org/drawingml/2006/main">
            <a:off x="5619750" y="4095750"/>
            <a:ext cx="5905500" cy="6286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606-442">
            <a:extLst xmlns:a="http://schemas.openxmlformats.org/drawingml/2006/main">
              <a:ext uri="{FF2B5EF4-FFF2-40B4-BE49-F238E27FC236}">
                <a16:creationId xmlns:a16="http://schemas.microsoft.com/office/drawing/2014/main" id="{09179EB3-E14B-476A-979D-906AF7DB0A77}"/>
              </a:ext>
            </a:extLst>
          </p:cNvPr>
          <p:cNvSpPr>
            <a:spLocks xmlns:a="http://schemas.openxmlformats.org/drawingml/2006/main" noGrp="1"/>
          </p:cNvSpPr>
          <p:nvPr/>
        </p:nvSpPr>
        <p:spPr>
          <a:xfrm xmlns:a="http://schemas.openxmlformats.org/drawingml/2006/main">
            <a:off x="5772150" y="4210050"/>
            <a:ext cx="438150" cy="209550"/>
          </a:xfrm>
          <a:prstGeom xmlns:a="http://schemas.openxmlformats.org/drawingml/2006/main" prst="rect">
            <a:avLst/>
          </a:prstGeom>
        </p:spPr>
        <p:txBody>
          <a:bodyPr xmlns:a="http://schemas.openxmlformats.org/drawingml/2006/main" wrap="square" lIns="0" tIns="0" rIns="0" bIns="0" anchor="t">
            <a:normAutofit fontScale="93478"/>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AUDIT</a:t>
            </a:r>
          </a:p>
        </p:txBody>
      </p:sp>
      <p:sp>
        <p:nvSpPr>
          <p:cNvPr id="22" name="text-664-439">
            <a:extLst xmlns:a="http://schemas.openxmlformats.org/drawingml/2006/main">
              <a:ext uri="{FF2B5EF4-FFF2-40B4-BE49-F238E27FC236}">
                <a16:creationId xmlns:a16="http://schemas.microsoft.com/office/drawing/2014/main" id="{5C231A13-E883-4209-84BD-D4F3DC129EFD}"/>
              </a:ext>
            </a:extLst>
          </p:cNvPr>
          <p:cNvSpPr>
            <a:spLocks xmlns:a="http://schemas.openxmlformats.org/drawingml/2006/main" noGrp="1"/>
          </p:cNvSpPr>
          <p:nvPr/>
        </p:nvSpPr>
        <p:spPr>
          <a:xfrm xmlns:a="http://schemas.openxmlformats.org/drawingml/2006/main">
            <a:off x="6324600" y="4181475"/>
            <a:ext cx="4762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Independent policy observation</a:t>
            </a:r>
          </a:p>
        </p:txBody>
      </p:sp>
      <p:sp>
        <p:nvSpPr>
          <p:cNvPr id="23" name="text-664-466">
            <a:extLst xmlns:a="http://schemas.openxmlformats.org/drawingml/2006/main">
              <a:ext uri="{FF2B5EF4-FFF2-40B4-BE49-F238E27FC236}">
                <a16:creationId xmlns:a16="http://schemas.microsoft.com/office/drawing/2014/main" id="{A7C697B5-1FB8-47BF-A028-1A1628DCAA22}"/>
              </a:ext>
            </a:extLst>
          </p:cNvPr>
          <p:cNvSpPr>
            <a:spLocks xmlns:a="http://schemas.openxmlformats.org/drawingml/2006/main" noGrp="1"/>
          </p:cNvSpPr>
          <p:nvPr/>
        </p:nvSpPr>
        <p:spPr>
          <a:xfrm xmlns:a="http://schemas.openxmlformats.org/drawingml/2006/main">
            <a:off x="6324600" y="4438650"/>
            <a:ext cx="49530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status support: weak; suggested: supported; applied=false</a:t>
            </a:r>
          </a:p>
        </p:txBody>
      </p:sp>
      <p:sp>
        <p:nvSpPr>
          <p:cNvPr id="24" name="box-590-512">
            <a:extLst xmlns:a="http://schemas.openxmlformats.org/drawingml/2006/main">
              <a:ext uri="{FF2B5EF4-FFF2-40B4-BE49-F238E27FC236}">
                <a16:creationId xmlns:a16="http://schemas.microsoft.com/office/drawing/2014/main" id="{8F4C9F4F-55C7-4287-9B4D-F78DB121B72C}"/>
              </a:ext>
            </a:extLst>
          </p:cNvPr>
          <p:cNvSpPr>
            <a:spLocks xmlns:a="http://schemas.openxmlformats.org/drawingml/2006/main" noGrp="1"/>
          </p:cNvSpPr>
          <p:nvPr/>
        </p:nvSpPr>
        <p:spPr>
          <a:xfrm xmlns:a="http://schemas.openxmlformats.org/drawingml/2006/main">
            <a:off x="5619750" y="4876800"/>
            <a:ext cx="5905500" cy="6286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25" name="text-606-524">
            <a:extLst xmlns:a="http://schemas.openxmlformats.org/drawingml/2006/main">
              <a:ext uri="{FF2B5EF4-FFF2-40B4-BE49-F238E27FC236}">
                <a16:creationId xmlns:a16="http://schemas.microsoft.com/office/drawing/2014/main" id="{CEB6B90D-F097-4CA6-B2DC-2EBE2BD500CC}"/>
              </a:ext>
            </a:extLst>
          </p:cNvPr>
          <p:cNvSpPr>
            <a:spLocks xmlns:a="http://schemas.openxmlformats.org/drawingml/2006/main" noGrp="1"/>
          </p:cNvSpPr>
          <p:nvPr/>
        </p:nvSpPr>
        <p:spPr>
          <a:xfrm xmlns:a="http://schemas.openxmlformats.org/drawingml/2006/main">
            <a:off x="5772150" y="4991100"/>
            <a:ext cx="4381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LIMIT</a:t>
            </a:r>
          </a:p>
        </p:txBody>
      </p:sp>
      <p:sp>
        <p:nvSpPr>
          <p:cNvPr id="26" name="text-664-521">
            <a:extLst xmlns:a="http://schemas.openxmlformats.org/drawingml/2006/main">
              <a:ext uri="{FF2B5EF4-FFF2-40B4-BE49-F238E27FC236}">
                <a16:creationId xmlns:a16="http://schemas.microsoft.com/office/drawing/2014/main" id="{33BDE42B-5DE1-4C8C-9589-A1DE40B8250A}"/>
              </a:ext>
            </a:extLst>
          </p:cNvPr>
          <p:cNvSpPr>
            <a:spLocks xmlns:a="http://schemas.openxmlformats.org/drawingml/2006/main" noGrp="1"/>
          </p:cNvSpPr>
          <p:nvPr/>
        </p:nvSpPr>
        <p:spPr>
          <a:xfrm xmlns:a="http://schemas.openxmlformats.org/drawingml/2006/main">
            <a:off x="6324600" y="4962525"/>
            <a:ext cx="4762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No semantic override</a:t>
            </a:r>
          </a:p>
        </p:txBody>
      </p:sp>
      <p:sp>
        <p:nvSpPr>
          <p:cNvPr id="27" name="text-664-548">
            <a:extLst xmlns:a="http://schemas.openxmlformats.org/drawingml/2006/main">
              <a:ext uri="{FF2B5EF4-FFF2-40B4-BE49-F238E27FC236}">
                <a16:creationId xmlns:a16="http://schemas.microsoft.com/office/drawing/2014/main" id="{E13346FA-6076-4DB4-BA60-8F787549D51F}"/>
              </a:ext>
            </a:extLst>
          </p:cNvPr>
          <p:cNvSpPr>
            <a:spLocks xmlns:a="http://schemas.openxmlformats.org/drawingml/2006/main" noGrp="1"/>
          </p:cNvSpPr>
          <p:nvPr/>
        </p:nvSpPr>
        <p:spPr>
          <a:xfrm xmlns:a="http://schemas.openxmlformats.org/drawingml/2006/main">
            <a:off x="6324600" y="5219700"/>
            <a:ext cx="49530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Courier New"/>
                <a:ea typeface="Courier New"/>
                <a:cs typeface="Courier New"/>
              </a:defRPr>
            </a:pPr>
            <a:r>
              <a:t>L1 primary, RCA, and recovery fields pass unchanged to L4</a:t>
            </a:r>
          </a:p>
        </p:txBody>
      </p:sp>
      <p:sp>
        <p:nvSpPr>
          <p:cNvPr id="28" name="text-590-604">
            <a:extLst xmlns:a="http://schemas.openxmlformats.org/drawingml/2006/main">
              <a:ext uri="{FF2B5EF4-FFF2-40B4-BE49-F238E27FC236}">
                <a16:creationId xmlns:a16="http://schemas.microsoft.com/office/drawing/2014/main" id="{CBF0E44F-A3D0-4E77-B309-76DD011C1C2C}"/>
              </a:ext>
            </a:extLst>
          </p:cNvPr>
          <p:cNvSpPr>
            <a:spLocks xmlns:a="http://schemas.openxmlformats.org/drawingml/2006/main" noGrp="1"/>
          </p:cNvSpPr>
          <p:nvPr/>
        </p:nvSpPr>
        <p:spPr>
          <a:xfrm xmlns:a="http://schemas.openxmlformats.org/drawingml/2006/main">
            <a:off x="5619750" y="5753100"/>
            <a:ext cx="447675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WHY THIS MATTERS</a:t>
            </a:r>
          </a:p>
        </p:txBody>
      </p:sp>
      <p:sp>
        <p:nvSpPr>
          <p:cNvPr id="29" name="text-590-636">
            <a:extLst xmlns:a="http://schemas.openxmlformats.org/drawingml/2006/main">
              <a:ext uri="{FF2B5EF4-FFF2-40B4-BE49-F238E27FC236}">
                <a16:creationId xmlns:a16="http://schemas.microsoft.com/office/drawing/2014/main" id="{141F4506-4311-4A9C-AC02-1AA6575658FA}"/>
              </a:ext>
            </a:extLst>
          </p:cNvPr>
          <p:cNvSpPr>
            <a:spLocks xmlns:a="http://schemas.openxmlformats.org/drawingml/2006/main" noGrp="1"/>
          </p:cNvSpPr>
          <p:nvPr/>
        </p:nvSpPr>
        <p:spPr>
          <a:xfrm xmlns:a="http://schemas.openxmlformats.org/drawingml/2006/main">
            <a:off x="5619750" y="6057900"/>
            <a:ext cx="59055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L1 value, audit suggestion, reason, and materiality stay visible.</a:t>
            </a:r>
          </a:p>
        </p:txBody>
      </p:sp>
      <p:sp>
        <p:nvSpPr>
          <p:cNvPr id="30" name="text-50-668">
            <a:extLst xmlns:a="http://schemas.openxmlformats.org/drawingml/2006/main">
              <a:ext uri="{FF2B5EF4-FFF2-40B4-BE49-F238E27FC236}">
                <a16:creationId xmlns:a16="http://schemas.microsoft.com/office/drawing/2014/main" id="{6B5B85ED-03F9-48AD-B1B9-78DE69B6A456}"/>
              </a:ext>
            </a:extLst>
          </p:cNvPr>
          <p:cNvSpPr>
            <a:spLocks xmlns:a="http://schemas.openxmlformats.org/drawingml/2006/main" noGrp="1"/>
          </p:cNvSpPr>
          <p:nvPr/>
        </p:nvSpPr>
        <p:spPr>
          <a:xfrm xmlns:a="http://schemas.openxmlformats.org/drawingml/2006/main">
            <a:off x="476250" y="6362700"/>
            <a:ext cx="8001000" cy="171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470"/>
                </a:solidFill>
                <a:latin typeface="Helvetica Neue"/>
                <a:ea typeface="Helvetica Neue"/>
                <a:cs typeface="Helvetica Neue"/>
              </a:defRPr>
            </a:pPr>
            <a:r>
              <a:t>The same comparison hierarchy applies to checkpoint shards and dataloader file/shard/region.</a:t>
            </a:r>
          </a:p>
        </p:txBody>
      </p:sp>
    </p:spTree>
    <p:extLst>
      <p:ext uri="{BB962C8B-B14F-4D97-AF65-F5344CB8AC3E}">
        <p14:creationId xmlns:p14="http://schemas.microsoft.com/office/powerpoint/2010/main" val="18603860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L2 KPIs</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L2 KPIs separate grounding quality from audit accuracy</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CASE / retry outlook = cannot_recover</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fontScale="79350"/>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status = established; suggested = supported; applied = false</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Grounding gold</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What should the audit accept, resolve, or challenge?</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Exact line + file/shard -&gt; strong</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Same logical artifact; shard unknown -&gt; partial</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Different checkpoint/file -&gt; runnability only</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Rank fanout -&gt; not restart-survival evidence</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Nonexistent line -&gt; ungrounded</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L1 value remains unchanged</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L2 KPI result</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Grounding + audit result</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Citation resolution: 2 / 2</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Audit false positives: 0</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L2 fingerprint: PASS (gold identity)</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Cross-model identity agreement: stable</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L2 SUCCESS  Grounded identity is stable; audit findings are measured separately.</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OPERATIONS  latency • fingerprint availability/source/history-ready</a:t>
            </a:r>
          </a:p>
        </p:txBody>
      </p:sp>
    </p:spTree>
    <p:extLst>
      <p:ext uri="{BB962C8B-B14F-4D97-AF65-F5344CB8AC3E}">
        <p14:creationId xmlns:p14="http://schemas.microsoft.com/office/powerpoint/2010/main" val="106230633"/>
      </p:ext>
    </p:extLst>
  </p:cSld>
</p:sld>
</file>

<file path=ppt/slides/slide29.xml><?xml version="1.0" encoding="utf-8"?>
<p:sld xmlns:p="http://schemas.openxmlformats.org/presentationml/2006/main">
  <p:cSld>
    <p:bg>
      <p:bgPr>
        <a:solidFill xmlns:a="http://schemas.openxmlformats.org/drawingml/2006/main">
          <a:srgbClr val="F2F7FF"/>
        </a:solidFill>
      </p:bgPr>
    </p:bg>
    <p:spTree>
      <p:nvGrpSpPr>
        <p:cNvPr id="1" name=""/>
        <p:cNvGrpSpPr/>
        <p:nvPr/>
      </p:nvGrpSpPr>
      <p:grpSpPr>
        <a:xfrm xmlns:a="http://schemas.openxmlformats.org/drawingml/2006/main"/>
      </p:grpSpPr>
      <p:sp>
        <p:nvSpPr>
          <p:cNvPr id="18" name="stage-left-rule">
            <a:extLst xmlns:a="http://schemas.openxmlformats.org/drawingml/2006/main">
              <a:ext uri="{FF2B5EF4-FFF2-40B4-BE49-F238E27FC236}">
                <a16:creationId xmlns:a16="http://schemas.microsoft.com/office/drawing/2014/main" id="{8CBFEB2C-690C-47E3-88EC-D6A4CAB5C71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tage-eyebrow">
            <a:extLst xmlns:a="http://schemas.openxmlformats.org/drawingml/2006/main">
              <a:ext uri="{FF2B5EF4-FFF2-40B4-BE49-F238E27FC236}">
                <a16:creationId xmlns:a16="http://schemas.microsoft.com/office/drawing/2014/main" id="{0F618D1D-EAF8-4B8C-8EB9-162334AA60BD}"/>
              </a:ext>
            </a:extLst>
          </p:cNvPr>
          <p:cNvSpPr>
            <a:spLocks xmlns:a="http://schemas.openxmlformats.org/drawingml/2006/main" noGrp="1"/>
          </p:cNvSpPr>
          <p:nvPr/>
        </p:nvSpPr>
        <p:spPr>
          <a:xfrm xmlns:a="http://schemas.openxmlformats.org/drawingml/2006/main">
            <a:off x="685800" y="8382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3B82F6"/>
                </a:solidFill>
                <a:latin typeface="Calibri"/>
                <a:ea typeface="Calibri"/>
                <a:cs typeface="Calibri"/>
              </a:defRPr>
            </a:pPr>
            <a:r>
              <a:rPr sz="975" b="1">
                <a:solidFill>
                  <a:srgbClr val="3B82F6"/>
                </a:solidFill>
                <a:latin typeface="Calibri"/>
                <a:ea typeface="Calibri"/>
                <a:cs typeface="Calibri"/>
              </a:rPr>
              <a:t>RUNTIME PIPELINE  /  STAGE 4 OF 5</a:t>
            </a:r>
          </a:p>
        </p:txBody>
      </p:sp>
      <p:sp>
        <p:nvSpPr>
          <p:cNvPr id="3" name="stage-code">
            <a:extLst xmlns:a="http://schemas.openxmlformats.org/drawingml/2006/main">
              <a:ext uri="{FF2B5EF4-FFF2-40B4-BE49-F238E27FC236}">
                <a16:creationId xmlns:a16="http://schemas.microsoft.com/office/drawing/2014/main" id="{37FAE407-BDA9-4374-B068-35DB757906C9}"/>
              </a:ext>
            </a:extLst>
          </p:cNvPr>
          <p:cNvSpPr>
            <a:spLocks xmlns:a="http://schemas.openxmlformats.org/drawingml/2006/main" noGrp="1"/>
          </p:cNvSpPr>
          <p:nvPr/>
        </p:nvSpPr>
        <p:spPr>
          <a:xfrm xmlns:a="http://schemas.openxmlformats.org/drawingml/2006/main">
            <a:off x="685800" y="1790700"/>
            <a:ext cx="1428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700" b="1">
                <a:solidFill>
                  <a:srgbClr val="3B82F6"/>
                </a:solidFill>
                <a:latin typeface="Calibri"/>
                <a:ea typeface="Calibri"/>
                <a:cs typeface="Calibri"/>
              </a:defRPr>
            </a:pPr>
            <a:r>
              <a:rPr sz="5700" b="1">
                <a:solidFill>
                  <a:srgbClr val="3B82F6"/>
                </a:solidFill>
                <a:latin typeface="Calibri"/>
                <a:ea typeface="Calibri"/>
                <a:cs typeface="Calibri"/>
              </a:rPr>
              <a:t>L3</a:t>
            </a:r>
          </a:p>
        </p:txBody>
      </p:sp>
      <p:sp>
        <p:nvSpPr>
          <p:cNvPr id="4" name="stage-divider-rule">
            <a:extLst xmlns:a="http://schemas.openxmlformats.org/drawingml/2006/main">
              <a:ext uri="{FF2B5EF4-FFF2-40B4-BE49-F238E27FC236}">
                <a16:creationId xmlns:a16="http://schemas.microsoft.com/office/drawing/2014/main" id="{0AE2CEE0-30D7-41C9-AE19-DC93BCBFA297}"/>
              </a:ext>
            </a:extLst>
          </p:cNvPr>
          <p:cNvSpPr>
            <a:spLocks xmlns:a="http://schemas.openxmlformats.org/drawingml/2006/main" noGrp="1"/>
          </p:cNvSpPr>
          <p:nvPr/>
        </p:nvSpPr>
        <p:spPr>
          <a:xfrm xmlns:a="http://schemas.openxmlformats.org/drawingml/2006/main">
            <a:off x="2305050" y="1790700"/>
            <a:ext cx="19050" cy="1190625"/>
          </a:xfrm>
          <a:prstGeom xmlns:a="http://schemas.openxmlformats.org/drawingml/2006/main" prst="rect">
            <a:avLst/>
          </a:prstGeom>
          <a:solidFill xmlns:a="http://schemas.openxmlformats.org/drawingml/2006/main">
            <a:srgbClr val="B8D9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stage-title">
            <a:extLst xmlns:a="http://schemas.openxmlformats.org/drawingml/2006/main">
              <a:ext uri="{FF2B5EF4-FFF2-40B4-BE49-F238E27FC236}">
                <a16:creationId xmlns:a16="http://schemas.microsoft.com/office/drawing/2014/main" id="{B97A12CB-3686-4129-894A-88E5F8D01C17}"/>
              </a:ext>
            </a:extLst>
          </p:cNvPr>
          <p:cNvSpPr>
            <a:spLocks xmlns:a="http://schemas.openxmlformats.org/drawingml/2006/main" noGrp="1"/>
          </p:cNvSpPr>
          <p:nvPr/>
        </p:nvSpPr>
        <p:spPr>
          <a:xfrm xmlns:a="http://schemas.openxmlformats.org/drawingml/2006/main">
            <a:off x="2686050" y="1790700"/>
            <a:ext cx="809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111111"/>
                </a:solidFill>
                <a:latin typeface="Calibri"/>
                <a:ea typeface="Calibri"/>
                <a:cs typeface="Calibri"/>
              </a:defRPr>
            </a:pPr>
            <a:r>
              <a:rPr sz="2850" b="1">
                <a:solidFill>
                  <a:srgbClr val="111111"/>
                </a:solidFill>
                <a:latin typeface="Calibri"/>
                <a:ea typeface="Calibri"/>
                <a:cs typeface="Calibri"/>
              </a:rPr>
              <a:t>History Enrichment</a:t>
            </a:r>
          </a:p>
        </p:txBody>
      </p:sp>
      <p:sp>
        <p:nvSpPr>
          <p:cNvPr id="6" name="stage-summary">
            <a:extLst xmlns:a="http://schemas.openxmlformats.org/drawingml/2006/main">
              <a:ext uri="{FF2B5EF4-FFF2-40B4-BE49-F238E27FC236}">
                <a16:creationId xmlns:a16="http://schemas.microsoft.com/office/drawing/2014/main" id="{44B6F436-03E3-4BE7-B294-8A827C75C91B}"/>
              </a:ext>
            </a:extLst>
          </p:cNvPr>
          <p:cNvSpPr>
            <a:spLocks xmlns:a="http://schemas.openxmlformats.org/drawingml/2006/main" noGrp="1"/>
          </p:cNvSpPr>
          <p:nvPr/>
        </p:nvSpPr>
        <p:spPr>
          <a:xfrm xmlns:a="http://schemas.openxmlformats.org/drawingml/2006/main">
            <a:off x="2686050" y="2476500"/>
            <a:ext cx="833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5F6673"/>
                </a:solidFill>
                <a:latin typeface="Calibri"/>
                <a:ea typeface="Calibri"/>
                <a:cs typeface="Calibri"/>
              </a:defRPr>
            </a:pPr>
            <a:r>
              <a:rPr sz="1575">
                <a:solidFill>
                  <a:srgbClr val="5F6673"/>
                </a:solidFill>
                <a:latin typeface="Calibri"/>
                <a:ea typeface="Calibri"/>
                <a:cs typeface="Calibri"/>
              </a:rPr>
              <a:t>Compare exact-root prior cycles from the same job; report marker-compatible history facts.</a:t>
            </a:r>
          </a:p>
        </p:txBody>
      </p:sp>
      <p:sp>
        <p:nvSpPr>
          <p:cNvPr id="7" name="stage-progress-rail">
            <a:extLst xmlns:a="http://schemas.openxmlformats.org/drawingml/2006/main">
              <a:ext uri="{FF2B5EF4-FFF2-40B4-BE49-F238E27FC236}">
                <a16:creationId xmlns:a16="http://schemas.microsoft.com/office/drawing/2014/main" id="{785BCE6C-D80F-4AD0-8D4B-A7CBD4773C28}"/>
              </a:ext>
            </a:extLst>
          </p:cNvPr>
          <p:cNvSpPr>
            <a:spLocks xmlns:a="http://schemas.openxmlformats.org/drawingml/2006/main" noGrp="1"/>
          </p:cNvSpPr>
          <p:nvPr/>
        </p:nvSpPr>
        <p:spPr>
          <a:xfrm xmlns:a="http://schemas.openxmlformats.org/drawingml/2006/main">
            <a:off x="1066800" y="4762500"/>
            <a:ext cx="10058400" cy="2857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stage-progress-dot-0">
            <a:extLst xmlns:a="http://schemas.openxmlformats.org/drawingml/2006/main">
              <a:ext uri="{FF2B5EF4-FFF2-40B4-BE49-F238E27FC236}">
                <a16:creationId xmlns:a16="http://schemas.microsoft.com/office/drawing/2014/main" id="{9F2B223D-3D0C-4CDA-99B1-A582DAEFAEEC}"/>
              </a:ext>
            </a:extLst>
          </p:cNvPr>
          <p:cNvSpPr>
            <a:spLocks xmlns:a="http://schemas.openxmlformats.org/drawingml/2006/main" noGrp="1"/>
          </p:cNvSpPr>
          <p:nvPr/>
        </p:nvSpPr>
        <p:spPr>
          <a:xfrm xmlns:a="http://schemas.openxmlformats.org/drawingml/2006/main">
            <a:off x="10001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stage-progress-label-0">
            <a:extLst xmlns:a="http://schemas.openxmlformats.org/drawingml/2006/main">
              <a:ext uri="{FF2B5EF4-FFF2-40B4-BE49-F238E27FC236}">
                <a16:creationId xmlns:a16="http://schemas.microsoft.com/office/drawing/2014/main" id="{B1BD0BF8-8A0A-4252-8CE9-EA94B9EA6FDC}"/>
              </a:ext>
            </a:extLst>
          </p:cNvPr>
          <p:cNvSpPr>
            <a:spLocks xmlns:a="http://schemas.openxmlformats.org/drawingml/2006/main" noGrp="1"/>
          </p:cNvSpPr>
          <p:nvPr/>
        </p:nvSpPr>
        <p:spPr>
          <a:xfrm xmlns:a="http://schemas.openxmlformats.org/drawingml/2006/main">
            <a:off x="7810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L0</a:t>
            </a:r>
          </a:p>
        </p:txBody>
      </p:sp>
      <p:sp>
        <p:nvSpPr>
          <p:cNvPr id="10" name="stage-progress-dot-1">
            <a:extLst xmlns:a="http://schemas.openxmlformats.org/drawingml/2006/main">
              <a:ext uri="{FF2B5EF4-FFF2-40B4-BE49-F238E27FC236}">
                <a16:creationId xmlns:a16="http://schemas.microsoft.com/office/drawing/2014/main" id="{BFC37AA9-3BCE-40D7-AFA2-96147EF23599}"/>
              </a:ext>
            </a:extLst>
          </p:cNvPr>
          <p:cNvSpPr>
            <a:spLocks xmlns:a="http://schemas.openxmlformats.org/drawingml/2006/main" noGrp="1"/>
          </p:cNvSpPr>
          <p:nvPr/>
        </p:nvSpPr>
        <p:spPr>
          <a:xfrm xmlns:a="http://schemas.openxmlformats.org/drawingml/2006/main">
            <a:off x="35147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stage-progress-label-1">
            <a:extLst xmlns:a="http://schemas.openxmlformats.org/drawingml/2006/main">
              <a:ext uri="{FF2B5EF4-FFF2-40B4-BE49-F238E27FC236}">
                <a16:creationId xmlns:a16="http://schemas.microsoft.com/office/drawing/2014/main" id="{A40BC6D5-29FA-430E-BEC9-B0AAA5CE9372}"/>
              </a:ext>
            </a:extLst>
          </p:cNvPr>
          <p:cNvSpPr>
            <a:spLocks xmlns:a="http://schemas.openxmlformats.org/drawingml/2006/main" noGrp="1"/>
          </p:cNvSpPr>
          <p:nvPr/>
        </p:nvSpPr>
        <p:spPr>
          <a:xfrm xmlns:a="http://schemas.openxmlformats.org/drawingml/2006/main">
            <a:off x="32956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L1</a:t>
            </a:r>
          </a:p>
        </p:txBody>
      </p:sp>
      <p:sp>
        <p:nvSpPr>
          <p:cNvPr id="12" name="stage-progress-dot-2">
            <a:extLst xmlns:a="http://schemas.openxmlformats.org/drawingml/2006/main">
              <a:ext uri="{FF2B5EF4-FFF2-40B4-BE49-F238E27FC236}">
                <a16:creationId xmlns:a16="http://schemas.microsoft.com/office/drawing/2014/main" id="{12C8D64D-5759-49FE-A3C8-D5FBE7E15CE4}"/>
              </a:ext>
            </a:extLst>
          </p:cNvPr>
          <p:cNvSpPr>
            <a:spLocks xmlns:a="http://schemas.openxmlformats.org/drawingml/2006/main" noGrp="1"/>
          </p:cNvSpPr>
          <p:nvPr/>
        </p:nvSpPr>
        <p:spPr>
          <a:xfrm xmlns:a="http://schemas.openxmlformats.org/drawingml/2006/main">
            <a:off x="60293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stage-progress-label-2">
            <a:extLst xmlns:a="http://schemas.openxmlformats.org/drawingml/2006/main">
              <a:ext uri="{FF2B5EF4-FFF2-40B4-BE49-F238E27FC236}">
                <a16:creationId xmlns:a16="http://schemas.microsoft.com/office/drawing/2014/main" id="{005C25AD-F377-4D2B-B60A-42A37AF6A114}"/>
              </a:ext>
            </a:extLst>
          </p:cNvPr>
          <p:cNvSpPr>
            <a:spLocks xmlns:a="http://schemas.openxmlformats.org/drawingml/2006/main" noGrp="1"/>
          </p:cNvSpPr>
          <p:nvPr/>
        </p:nvSpPr>
        <p:spPr>
          <a:xfrm xmlns:a="http://schemas.openxmlformats.org/drawingml/2006/main">
            <a:off x="58102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L2</a:t>
            </a:r>
          </a:p>
        </p:txBody>
      </p:sp>
      <p:sp>
        <p:nvSpPr>
          <p:cNvPr id="14" name="stage-progress-dot-3">
            <a:extLst xmlns:a="http://schemas.openxmlformats.org/drawingml/2006/main">
              <a:ext uri="{FF2B5EF4-FFF2-40B4-BE49-F238E27FC236}">
                <a16:creationId xmlns:a16="http://schemas.microsoft.com/office/drawing/2014/main" id="{75EDE44C-3C5C-4215-959A-037581187E32}"/>
              </a:ext>
            </a:extLst>
          </p:cNvPr>
          <p:cNvSpPr>
            <a:spLocks xmlns:a="http://schemas.openxmlformats.org/drawingml/2006/main" noGrp="1"/>
          </p:cNvSpPr>
          <p:nvPr/>
        </p:nvSpPr>
        <p:spPr>
          <a:xfrm xmlns:a="http://schemas.openxmlformats.org/drawingml/2006/main">
            <a:off x="8515350" y="4681538"/>
            <a:ext cx="190500" cy="190500"/>
          </a:xfrm>
          <a:prstGeom xmlns:a="http://schemas.openxmlformats.org/drawingml/2006/main" prst="ellipse">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stage-progress-label-3">
            <a:extLst xmlns:a="http://schemas.openxmlformats.org/drawingml/2006/main">
              <a:ext uri="{FF2B5EF4-FFF2-40B4-BE49-F238E27FC236}">
                <a16:creationId xmlns:a16="http://schemas.microsoft.com/office/drawing/2014/main" id="{A88FC11C-A850-4C77-BB4E-4C9974428A18}"/>
              </a:ext>
            </a:extLst>
          </p:cNvPr>
          <p:cNvSpPr>
            <a:spLocks xmlns:a="http://schemas.openxmlformats.org/drawingml/2006/main" noGrp="1"/>
          </p:cNvSpPr>
          <p:nvPr/>
        </p:nvSpPr>
        <p:spPr>
          <a:xfrm xmlns:a="http://schemas.openxmlformats.org/drawingml/2006/main">
            <a:off x="83248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3B82F6"/>
                </a:solidFill>
                <a:latin typeface="Calibri"/>
                <a:ea typeface="Calibri"/>
                <a:cs typeface="Calibri"/>
              </a:defRPr>
            </a:pPr>
            <a:r>
              <a:rPr sz="975" b="1">
                <a:solidFill>
                  <a:srgbClr val="3B82F6"/>
                </a:solidFill>
                <a:latin typeface="Calibri"/>
                <a:ea typeface="Calibri"/>
                <a:cs typeface="Calibri"/>
              </a:rPr>
              <a:t>L3</a:t>
            </a:r>
          </a:p>
        </p:txBody>
      </p:sp>
      <p:sp>
        <p:nvSpPr>
          <p:cNvPr id="16" name="stage-progress-dot-4">
            <a:extLst xmlns:a="http://schemas.openxmlformats.org/drawingml/2006/main">
              <a:ext uri="{FF2B5EF4-FFF2-40B4-BE49-F238E27FC236}">
                <a16:creationId xmlns:a16="http://schemas.microsoft.com/office/drawing/2014/main" id="{52827A63-6E44-4EFE-B1CF-DF528AB44E27}"/>
              </a:ext>
            </a:extLst>
          </p:cNvPr>
          <p:cNvSpPr>
            <a:spLocks xmlns:a="http://schemas.openxmlformats.org/drawingml/2006/main" noGrp="1"/>
          </p:cNvSpPr>
          <p:nvPr/>
        </p:nvSpPr>
        <p:spPr>
          <a:xfrm xmlns:a="http://schemas.openxmlformats.org/drawingml/2006/main">
            <a:off x="110585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stage-progress-label-4">
            <a:extLst xmlns:a="http://schemas.openxmlformats.org/drawingml/2006/main">
              <a:ext uri="{FF2B5EF4-FFF2-40B4-BE49-F238E27FC236}">
                <a16:creationId xmlns:a16="http://schemas.microsoft.com/office/drawing/2014/main" id="{7465C450-BA4A-475C-AC24-5F1C23EAD327}"/>
              </a:ext>
            </a:extLst>
          </p:cNvPr>
          <p:cNvSpPr>
            <a:spLocks xmlns:a="http://schemas.openxmlformats.org/drawingml/2006/main" noGrp="1"/>
          </p:cNvSpPr>
          <p:nvPr/>
        </p:nvSpPr>
        <p:spPr>
          <a:xfrm xmlns:a="http://schemas.openxmlformats.org/drawingml/2006/main">
            <a:off x="108394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L4</a:t>
            </a:r>
          </a:p>
        </p:txBody>
      </p:sp>
    </p:spTree>
    <p:extLst>
      <p:ext uri="{BB962C8B-B14F-4D97-AF65-F5344CB8AC3E}">
        <p14:creationId xmlns:p14="http://schemas.microsoft.com/office/powerpoint/2010/main" val="387116648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14F762B7-4DD3-4C7E-8C68-2AFBA7865C8C}"/>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HISTORY</a:t>
            </a:r>
          </a:p>
        </p:txBody>
      </p:sp>
      <p:sp>
        <p:nvSpPr>
          <p:cNvPr id="2" name="text-42-54">
            <a:extLst xmlns:a="http://schemas.openxmlformats.org/drawingml/2006/main">
              <a:ext uri="{FF2B5EF4-FFF2-40B4-BE49-F238E27FC236}">
                <a16:creationId xmlns:a16="http://schemas.microsoft.com/office/drawing/2014/main" id="{E8BD00EE-AAA1-4C2B-B7D4-E776D77B0210}"/>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History resolves what one cycle cannot</a:t>
            </a:r>
          </a:p>
        </p:txBody>
      </p:sp>
      <p:sp>
        <p:nvSpPr>
          <p:cNvPr id="3" name="line-42-133">
            <a:extLst xmlns:a="http://schemas.openxmlformats.org/drawingml/2006/main">
              <a:ext uri="{FF2B5EF4-FFF2-40B4-BE49-F238E27FC236}">
                <a16:creationId xmlns:a16="http://schemas.microsoft.com/office/drawing/2014/main" id="{A2BE8748-F70E-43BA-9EFE-6B1E7213CA60}"/>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2-174">
            <a:extLst xmlns:a="http://schemas.openxmlformats.org/drawingml/2006/main">
              <a:ext uri="{FF2B5EF4-FFF2-40B4-BE49-F238E27FC236}">
                <a16:creationId xmlns:a16="http://schemas.microsoft.com/office/drawing/2014/main" id="{355B10BE-81F3-4353-85C3-458EABCBEBA4}"/>
              </a:ext>
            </a:extLst>
          </p:cNvPr>
          <p:cNvSpPr>
            <a:spLocks xmlns:a="http://schemas.openxmlformats.org/drawingml/2006/main" noGrp="1"/>
          </p:cNvSpPr>
          <p:nvPr/>
        </p:nvSpPr>
        <p:spPr>
          <a:xfrm xmlns:a="http://schemas.openxmlformats.org/drawingml/2006/main">
            <a:off x="590550" y="1657350"/>
            <a:ext cx="2095500" cy="266700"/>
          </a:xfrm>
          <a:prstGeom xmlns:a="http://schemas.openxmlformats.org/drawingml/2006/main" prst="rect">
            <a:avLst/>
          </a:prstGeom>
        </p:spPr>
        <p:txBody>
          <a:bodyPr xmlns:a="http://schemas.openxmlformats.org/drawingml/2006/main" wrap="square" lIns="0" tIns="0" rIns="0" bIns="0" anchor="t">
            <a:normAutofit fontScale="68412"/>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L0 deterministic OR L2 enriched</a:t>
            </a:r>
          </a:p>
        </p:txBody>
      </p:sp>
      <p:sp>
        <p:nvSpPr>
          <p:cNvPr id="5" name="text-62-207">
            <a:extLst xmlns:a="http://schemas.openxmlformats.org/drawingml/2006/main">
              <a:ext uri="{FF2B5EF4-FFF2-40B4-BE49-F238E27FC236}">
                <a16:creationId xmlns:a16="http://schemas.microsoft.com/office/drawing/2014/main" id="{812DFB19-4058-417E-A5F1-B7C563C059A0}"/>
              </a:ext>
            </a:extLst>
          </p:cNvPr>
          <p:cNvSpPr>
            <a:spLocks xmlns:a="http://schemas.openxmlformats.org/drawingml/2006/main" noGrp="1"/>
          </p:cNvSpPr>
          <p:nvPr/>
        </p:nvSpPr>
        <p:spPr>
          <a:xfrm xmlns:a="http://schemas.openxmlformats.org/drawingml/2006/main">
            <a:off x="590550" y="1971675"/>
            <a:ext cx="2095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deterministic observed identity</a:t>
            </a:r>
          </a:p>
        </p:txBody>
      </p:sp>
      <p:sp>
        <p:nvSpPr>
          <p:cNvPr id="6" name="arrow-286-190">
            <a:extLst xmlns:a="http://schemas.openxmlformats.org/drawingml/2006/main">
              <a:ext uri="{FF2B5EF4-FFF2-40B4-BE49-F238E27FC236}">
                <a16:creationId xmlns:a16="http://schemas.microsoft.com/office/drawing/2014/main" id="{DE1B72CA-7C69-4E68-B32A-E67655EA3DC0}"/>
              </a:ext>
            </a:extLst>
          </p:cNvPr>
          <p:cNvSpPr>
            <a:spLocks xmlns:a="http://schemas.openxmlformats.org/drawingml/2006/main" noGrp="1"/>
          </p:cNvSpPr>
          <p:nvPr/>
        </p:nvSpPr>
        <p:spPr>
          <a:xfrm xmlns:a="http://schemas.openxmlformats.org/drawingml/2006/main">
            <a:off x="2724150" y="18097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7" name="box-330-164">
            <a:extLst xmlns:a="http://schemas.openxmlformats.org/drawingml/2006/main">
              <a:ext uri="{FF2B5EF4-FFF2-40B4-BE49-F238E27FC236}">
                <a16:creationId xmlns:a16="http://schemas.microsoft.com/office/drawing/2014/main" id="{1EC5A44F-B6CF-4EF2-9B6F-C4C7051A4678}"/>
              </a:ext>
            </a:extLst>
          </p:cNvPr>
          <p:cNvSpPr>
            <a:spLocks xmlns:a="http://schemas.openxmlformats.org/drawingml/2006/main" noGrp="1"/>
          </p:cNvSpPr>
          <p:nvPr/>
        </p:nvSpPr>
        <p:spPr>
          <a:xfrm xmlns:a="http://schemas.openxmlformats.org/drawingml/2006/main">
            <a:off x="3143250" y="1562100"/>
            <a:ext cx="3371850" cy="8763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350-181">
            <a:extLst xmlns:a="http://schemas.openxmlformats.org/drawingml/2006/main">
              <a:ext uri="{FF2B5EF4-FFF2-40B4-BE49-F238E27FC236}">
                <a16:creationId xmlns:a16="http://schemas.microsoft.com/office/drawing/2014/main" id="{F65A2C11-8298-4317-96B4-58BB7759E407}"/>
              </a:ext>
            </a:extLst>
          </p:cNvPr>
          <p:cNvSpPr>
            <a:spLocks xmlns:a="http://schemas.openxmlformats.org/drawingml/2006/main" noGrp="1"/>
          </p:cNvSpPr>
          <p:nvPr/>
        </p:nvSpPr>
        <p:spPr>
          <a:xfrm xmlns:a="http://schemas.openxmlformats.org/drawingml/2006/main">
            <a:off x="3333750" y="1724025"/>
            <a:ext cx="29908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Policy-active root fingerprint</a:t>
            </a:r>
          </a:p>
        </p:txBody>
      </p:sp>
      <p:sp>
        <p:nvSpPr>
          <p:cNvPr id="9" name="text-350-216">
            <a:extLst xmlns:a="http://schemas.openxmlformats.org/drawingml/2006/main">
              <a:ext uri="{FF2B5EF4-FFF2-40B4-BE49-F238E27FC236}">
                <a16:creationId xmlns:a16="http://schemas.microsoft.com/office/drawing/2014/main" id="{63EC2381-0B03-4D9E-B3EB-1996C75573FF}"/>
              </a:ext>
            </a:extLst>
          </p:cNvPr>
          <p:cNvSpPr>
            <a:spLocks xmlns:a="http://schemas.openxmlformats.org/drawingml/2006/main" noGrp="1"/>
          </p:cNvSpPr>
          <p:nvPr/>
        </p:nvSpPr>
        <p:spPr>
          <a:xfrm xmlns:a="http://schemas.openxmlformats.org/drawingml/2006/main">
            <a:off x="3333750" y="2057400"/>
            <a:ext cx="2990850" cy="285750"/>
          </a:xfrm>
          <a:prstGeom xmlns:a="http://schemas.openxmlformats.org/drawingml/2006/main" prst="rect">
            <a:avLst/>
          </a:prstGeom>
        </p:spPr>
        <p:txBody>
          <a:bodyPr xmlns:a="http://schemas.openxmlformats.org/drawingml/2006/main" wrap="square" lIns="0" tIns="0" rIns="0" bIns="0" anchor="t">
            <a:normAutofit fontScale="100000" lnSpcReduction="1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created by L0 or L2; never by L1 or L3</a:t>
            </a:r>
          </a:p>
        </p:txBody>
      </p:sp>
      <p:sp>
        <p:nvSpPr>
          <p:cNvPr id="10" name="arrow-696-190">
            <a:extLst xmlns:a="http://schemas.openxmlformats.org/drawingml/2006/main">
              <a:ext uri="{FF2B5EF4-FFF2-40B4-BE49-F238E27FC236}">
                <a16:creationId xmlns:a16="http://schemas.microsoft.com/office/drawing/2014/main" id="{B5DE48B5-1EC2-4DB8-9A44-2E037793AD59}"/>
              </a:ext>
            </a:extLst>
          </p:cNvPr>
          <p:cNvSpPr>
            <a:spLocks xmlns:a="http://schemas.openxmlformats.org/drawingml/2006/main" noGrp="1"/>
          </p:cNvSpPr>
          <p:nvPr/>
        </p:nvSpPr>
        <p:spPr>
          <a:xfrm xmlns:a="http://schemas.openxmlformats.org/drawingml/2006/main">
            <a:off x="6629400" y="18097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box-740-164">
            <a:extLst xmlns:a="http://schemas.openxmlformats.org/drawingml/2006/main">
              <a:ext uri="{FF2B5EF4-FFF2-40B4-BE49-F238E27FC236}">
                <a16:creationId xmlns:a16="http://schemas.microsoft.com/office/drawing/2014/main" id="{74898C62-6424-49B5-9630-9119B885BA00}"/>
              </a:ext>
            </a:extLst>
          </p:cNvPr>
          <p:cNvSpPr>
            <a:spLocks xmlns:a="http://schemas.openxmlformats.org/drawingml/2006/main" noGrp="1"/>
          </p:cNvSpPr>
          <p:nvPr/>
        </p:nvSpPr>
        <p:spPr>
          <a:xfrm xmlns:a="http://schemas.openxmlformats.org/drawingml/2006/main">
            <a:off x="7048500" y="1562100"/>
            <a:ext cx="4514850" cy="8763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2" name="text-760-181">
            <a:extLst xmlns:a="http://schemas.openxmlformats.org/drawingml/2006/main">
              <a:ext uri="{FF2B5EF4-FFF2-40B4-BE49-F238E27FC236}">
                <a16:creationId xmlns:a16="http://schemas.microsoft.com/office/drawing/2014/main" id="{FBE2072E-3B98-42EF-8C45-5C51BEC6F5C6}"/>
              </a:ext>
            </a:extLst>
          </p:cNvPr>
          <p:cNvSpPr>
            <a:spLocks xmlns:a="http://schemas.openxmlformats.org/drawingml/2006/main" noGrp="1"/>
          </p:cNvSpPr>
          <p:nvPr/>
        </p:nvSpPr>
        <p:spPr>
          <a:xfrm xmlns:a="http://schemas.openxmlformats.org/drawingml/2006/main">
            <a:off x="7239000" y="1724025"/>
            <a:ext cx="41338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L3 exact compatibility check</a:t>
            </a:r>
          </a:p>
        </p:txBody>
      </p:sp>
      <p:sp>
        <p:nvSpPr>
          <p:cNvPr id="13" name="text-760-216">
            <a:extLst xmlns:a="http://schemas.openxmlformats.org/drawingml/2006/main">
              <a:ext uri="{FF2B5EF4-FFF2-40B4-BE49-F238E27FC236}">
                <a16:creationId xmlns:a16="http://schemas.microsoft.com/office/drawing/2014/main" id="{005FF7EA-7202-4263-8FE3-1F1B6520EF7D}"/>
              </a:ext>
            </a:extLst>
          </p:cNvPr>
          <p:cNvSpPr>
            <a:spLocks xmlns:a="http://schemas.openxmlformats.org/drawingml/2006/main" noGrp="1"/>
          </p:cNvSpPr>
          <p:nvPr/>
        </p:nvSpPr>
        <p:spPr>
          <a:xfrm xmlns:a="http://schemas.openxmlformats.org/drawingml/2006/main">
            <a:off x="7239000" y="2057400"/>
            <a:ext cx="4133850" cy="228600"/>
          </a:xfrm>
          <a:prstGeom xmlns:a="http://schemas.openxmlformats.org/drawingml/2006/main" prst="rect">
            <a:avLst/>
          </a:prstGeom>
        </p:spPr>
        <p:txBody>
          <a:bodyPr xmlns:a="http://schemas.openxmlformats.org/drawingml/2006/main" wrap="square" lIns="0" tIns="0" rIns="0" bIns="0" anchor="t">
            <a:normAutofit fontScale="9161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earlier cycle + exact job/root + absolute progress + marker comparison</a:t>
            </a:r>
          </a:p>
        </p:txBody>
      </p:sp>
      <p:sp>
        <p:nvSpPr>
          <p:cNvPr id="14" name="box-62-296">
            <a:extLst xmlns:a="http://schemas.openxmlformats.org/drawingml/2006/main">
              <a:ext uri="{FF2B5EF4-FFF2-40B4-BE49-F238E27FC236}">
                <a16:creationId xmlns:a16="http://schemas.microsoft.com/office/drawing/2014/main" id="{86EF6D0C-0C18-4A3B-B248-E7A2BA07C251}"/>
              </a:ext>
            </a:extLst>
          </p:cNvPr>
          <p:cNvSpPr>
            <a:spLocks xmlns:a="http://schemas.openxmlformats.org/drawingml/2006/main" noGrp="1"/>
          </p:cNvSpPr>
          <p:nvPr/>
        </p:nvSpPr>
        <p:spPr>
          <a:xfrm xmlns:a="http://schemas.openxmlformats.org/drawingml/2006/main">
            <a:off x="590550" y="2819400"/>
            <a:ext cx="10972800" cy="1238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5" name="text-82-315">
            <a:extLst xmlns:a="http://schemas.openxmlformats.org/drawingml/2006/main">
              <a:ext uri="{FF2B5EF4-FFF2-40B4-BE49-F238E27FC236}">
                <a16:creationId xmlns:a16="http://schemas.microsoft.com/office/drawing/2014/main" id="{FD2680E7-1C76-4096-B31F-89D73DE8010A}"/>
              </a:ext>
            </a:extLst>
          </p:cNvPr>
          <p:cNvSpPr>
            <a:spLocks xmlns:a="http://schemas.openxmlformats.org/drawingml/2006/main" noGrp="1"/>
          </p:cNvSpPr>
          <p:nvPr/>
        </p:nvSpPr>
        <p:spPr>
          <a:xfrm xmlns:a="http://schemas.openxmlformats.org/drawingml/2006/main">
            <a:off x="781050" y="3000375"/>
            <a:ext cx="14287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PORT BIND</a:t>
            </a:r>
          </a:p>
        </p:txBody>
      </p:sp>
      <p:sp>
        <p:nvSpPr>
          <p:cNvPr id="16" name="text-82-350">
            <a:extLst xmlns:a="http://schemas.openxmlformats.org/drawingml/2006/main">
              <a:ext uri="{FF2B5EF4-FFF2-40B4-BE49-F238E27FC236}">
                <a16:creationId xmlns:a16="http://schemas.microsoft.com/office/drawing/2014/main" id="{8BAC5ED2-CA04-49F4-AB4F-2AD54F2B414D}"/>
              </a:ext>
            </a:extLst>
          </p:cNvPr>
          <p:cNvSpPr>
            <a:spLocks xmlns:a="http://schemas.openxmlformats.org/drawingml/2006/main" noGrp="1"/>
          </p:cNvSpPr>
          <p:nvPr/>
        </p:nvSpPr>
        <p:spPr>
          <a:xfrm xmlns:a="http://schemas.openxmlformats.org/drawingml/2006/main">
            <a:off x="781050" y="3333750"/>
            <a:ext cx="10668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Cycle 1</a:t>
            </a:r>
          </a:p>
        </p:txBody>
      </p:sp>
      <p:sp>
        <p:nvSpPr>
          <p:cNvPr id="17" name="text-180-350">
            <a:extLst xmlns:a="http://schemas.openxmlformats.org/drawingml/2006/main">
              <a:ext uri="{FF2B5EF4-FFF2-40B4-BE49-F238E27FC236}">
                <a16:creationId xmlns:a16="http://schemas.microsoft.com/office/drawing/2014/main" id="{08F1BC52-19B4-46F5-AB23-21FA237E1386}"/>
              </a:ext>
            </a:extLst>
          </p:cNvPr>
          <p:cNvSpPr>
            <a:spLocks xmlns:a="http://schemas.openxmlformats.org/drawingml/2006/main" noGrp="1"/>
          </p:cNvSpPr>
          <p:nvPr/>
        </p:nvSpPr>
        <p:spPr>
          <a:xfrm xmlns:a="http://schemas.openxmlformats.org/drawingml/2006/main">
            <a:off x="1714500" y="3333750"/>
            <a:ext cx="22479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Courier New"/>
                <a:ea typeface="Courier New"/>
                <a:cs typeface="Courier New"/>
              </a:defRPr>
            </a:pPr>
            <a:r>
              <a:t>address already in use</a:t>
            </a:r>
          </a:p>
        </p:txBody>
      </p:sp>
      <p:sp>
        <p:nvSpPr>
          <p:cNvPr id="18" name="text-438-350">
            <a:extLst xmlns:a="http://schemas.openxmlformats.org/drawingml/2006/main">
              <a:ext uri="{FF2B5EF4-FFF2-40B4-BE49-F238E27FC236}">
                <a16:creationId xmlns:a16="http://schemas.microsoft.com/office/drawing/2014/main" id="{77BEFA85-E33B-4975-98BB-4292E99E3743}"/>
              </a:ext>
            </a:extLst>
          </p:cNvPr>
          <p:cNvSpPr>
            <a:spLocks xmlns:a="http://schemas.openxmlformats.org/drawingml/2006/main" noGrp="1"/>
          </p:cNvSpPr>
          <p:nvPr/>
        </p:nvSpPr>
        <p:spPr>
          <a:xfrm xmlns:a="http://schemas.openxmlformats.org/drawingml/2006/main">
            <a:off x="4171950" y="3333750"/>
            <a:ext cx="4495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5D6470"/>
                </a:solidFill>
                <a:latin typeface="Helvetica Neue"/>
                <a:ea typeface="Helvetica Neue"/>
                <a:cs typeface="Helvetica Neue"/>
              </a:defRPr>
            </a:pPr>
            <a:r>
              <a:t>One cycle cannot distinguish a stale listener from a persistent collision.</a:t>
            </a:r>
          </a:p>
        </p:txBody>
      </p:sp>
      <p:sp>
        <p:nvSpPr>
          <p:cNvPr id="19" name="text-1060-350">
            <a:extLst xmlns:a="http://schemas.openxmlformats.org/drawingml/2006/main">
              <a:ext uri="{FF2B5EF4-FFF2-40B4-BE49-F238E27FC236}">
                <a16:creationId xmlns:a16="http://schemas.microsoft.com/office/drawing/2014/main" id="{750C3663-CC96-4B4A-81BF-4958EFC1C227}"/>
              </a:ext>
            </a:extLst>
          </p:cNvPr>
          <p:cNvSpPr>
            <a:spLocks xmlns:a="http://schemas.openxmlformats.org/drawingml/2006/main" noGrp="1"/>
          </p:cNvSpPr>
          <p:nvPr/>
        </p:nvSpPr>
        <p:spPr>
          <a:xfrm xmlns:a="http://schemas.openxmlformats.org/drawingml/2006/main">
            <a:off x="10096500" y="3333750"/>
            <a:ext cx="1181100" cy="247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500" b="1">
                <a:solidFill>
                  <a:srgbClr val="1D7A5B"/>
                </a:solidFill>
                <a:latin typeface="Helvetica Neue"/>
                <a:ea typeface="Helvetica Neue"/>
                <a:cs typeface="Helvetica Neue"/>
              </a:defRPr>
            </a:pPr>
            <a:r>
              <a:t>RESTART</a:t>
            </a:r>
          </a:p>
        </p:txBody>
      </p:sp>
      <p:sp>
        <p:nvSpPr>
          <p:cNvPr id="20" name="text-82-394">
            <a:extLst xmlns:a="http://schemas.openxmlformats.org/drawingml/2006/main">
              <a:ext uri="{FF2B5EF4-FFF2-40B4-BE49-F238E27FC236}">
                <a16:creationId xmlns:a16="http://schemas.microsoft.com/office/drawing/2014/main" id="{6BD885E9-440C-4ED1-8B9C-0CE4C643471C}"/>
              </a:ext>
            </a:extLst>
          </p:cNvPr>
          <p:cNvSpPr>
            <a:spLocks xmlns:a="http://schemas.openxmlformats.org/drawingml/2006/main" noGrp="1"/>
          </p:cNvSpPr>
          <p:nvPr/>
        </p:nvSpPr>
        <p:spPr>
          <a:xfrm xmlns:a="http://schemas.openxmlformats.org/drawingml/2006/main">
            <a:off x="781050" y="3752850"/>
            <a:ext cx="10668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Later</a:t>
            </a:r>
          </a:p>
        </p:txBody>
      </p:sp>
      <p:sp>
        <p:nvSpPr>
          <p:cNvPr id="21" name="text-180-394">
            <a:extLst xmlns:a="http://schemas.openxmlformats.org/drawingml/2006/main">
              <a:ext uri="{FF2B5EF4-FFF2-40B4-BE49-F238E27FC236}">
                <a16:creationId xmlns:a16="http://schemas.microsoft.com/office/drawing/2014/main" id="{777EBFEB-45EC-46F8-9741-DD2A5E2A72BE}"/>
              </a:ext>
            </a:extLst>
          </p:cNvPr>
          <p:cNvSpPr>
            <a:spLocks xmlns:a="http://schemas.openxmlformats.org/drawingml/2006/main" noGrp="1"/>
          </p:cNvSpPr>
          <p:nvPr/>
        </p:nvSpPr>
        <p:spPr>
          <a:xfrm xmlns:a="http://schemas.openxmlformats.org/drawingml/2006/main">
            <a:off x="1714500" y="3752850"/>
            <a:ext cx="3048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000000"/>
                </a:solidFill>
                <a:latin typeface="Courier New"/>
                <a:ea typeface="Courier New"/>
                <a:cs typeface="Courier New"/>
              </a:defRPr>
            </a:pPr>
            <a:r>
              <a:t>same root + step unchanged</a:t>
            </a:r>
          </a:p>
        </p:txBody>
      </p:sp>
      <p:sp>
        <p:nvSpPr>
          <p:cNvPr id="22" name="text-520-394">
            <a:extLst xmlns:a="http://schemas.openxmlformats.org/drawingml/2006/main">
              <a:ext uri="{FF2B5EF4-FFF2-40B4-BE49-F238E27FC236}">
                <a16:creationId xmlns:a16="http://schemas.microsoft.com/office/drawing/2014/main" id="{EDB058D6-061B-498B-9ACB-8B71180009C4}"/>
              </a:ext>
            </a:extLst>
          </p:cNvPr>
          <p:cNvSpPr>
            <a:spLocks xmlns:a="http://schemas.openxmlformats.org/drawingml/2006/main" noGrp="1"/>
          </p:cNvSpPr>
          <p:nvPr/>
        </p:nvSpPr>
        <p:spPr>
          <a:xfrm xmlns:a="http://schemas.openxmlformats.org/drawingml/2006/main">
            <a:off x="4953000" y="3752850"/>
            <a:ext cx="4514850" cy="228600"/>
          </a:xfrm>
          <a:prstGeom xmlns:a="http://schemas.openxmlformats.org/drawingml/2006/main" prst="rect">
            <a:avLst/>
          </a:prstGeom>
        </p:spPr>
        <p:txBody>
          <a:bodyPr xmlns:a="http://schemas.openxmlformats.org/drawingml/2006/main" wrap="square" lIns="0" tIns="0" rIns="0" bIns="0" anchor="t">
            <a:normAutofit fontScale="78484"/>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Same comparable marker strengthens persistence; duplicate traceback lines do not.</a:t>
            </a:r>
          </a:p>
        </p:txBody>
      </p:sp>
      <p:sp>
        <p:nvSpPr>
          <p:cNvPr id="23" name="text-1034-394">
            <a:extLst xmlns:a="http://schemas.openxmlformats.org/drawingml/2006/main">
              <a:ext uri="{FF2B5EF4-FFF2-40B4-BE49-F238E27FC236}">
                <a16:creationId xmlns:a16="http://schemas.microsoft.com/office/drawing/2014/main" id="{8930FBFB-88B3-434E-B00C-0B861452267A}"/>
              </a:ext>
            </a:extLst>
          </p:cNvPr>
          <p:cNvSpPr>
            <a:spLocks xmlns:a="http://schemas.openxmlformats.org/drawingml/2006/main" noGrp="1"/>
          </p:cNvSpPr>
          <p:nvPr/>
        </p:nvSpPr>
        <p:spPr>
          <a:xfrm xmlns:a="http://schemas.openxmlformats.org/drawingml/2006/main">
            <a:off x="9848850" y="3752850"/>
            <a:ext cx="1428750" cy="228600"/>
          </a:xfrm>
          <a:prstGeom xmlns:a="http://schemas.openxmlformats.org/drawingml/2006/main" prst="rect">
            <a:avLst/>
          </a:prstGeom>
        </p:spPr>
        <p:txBody>
          <a:bodyPr xmlns:a="http://schemas.openxmlformats.org/drawingml/2006/main" wrap="square" lIns="0" tIns="0" rIns="0" bIns="0" anchor="t">
            <a:normAutofit fontScale="87380"/>
          </a:bodyPr>
          <a:lstStyle xmlns:a="http://schemas.openxmlformats.org/drawingml/2006/main"/>
          <a:p xmlns:a="http://schemas.openxmlformats.org/drawingml/2006/main">
            <a:pPr algn="r">
              <a:buNone/>
              <a:defRPr sz="1350" b="1">
                <a:solidFill>
                  <a:srgbClr val="000000"/>
                </a:solidFill>
                <a:latin typeface="Helvetica Neue"/>
                <a:ea typeface="Helvetica Neue"/>
                <a:cs typeface="Helvetica Neue"/>
              </a:defRPr>
            </a:pPr>
            <a:r>
              <a:t>L3: 1 matching prior</a:t>
            </a:r>
          </a:p>
        </p:txBody>
      </p:sp>
      <p:sp>
        <p:nvSpPr>
          <p:cNvPr id="24" name="box-62-448">
            <a:extLst xmlns:a="http://schemas.openxmlformats.org/drawingml/2006/main">
              <a:ext uri="{FF2B5EF4-FFF2-40B4-BE49-F238E27FC236}">
                <a16:creationId xmlns:a16="http://schemas.microsoft.com/office/drawing/2014/main" id="{8571264E-F2AC-49C4-BD55-ED22A3D32FF3}"/>
              </a:ext>
            </a:extLst>
          </p:cNvPr>
          <p:cNvSpPr>
            <a:spLocks xmlns:a="http://schemas.openxmlformats.org/drawingml/2006/main" noGrp="1"/>
          </p:cNvSpPr>
          <p:nvPr/>
        </p:nvSpPr>
        <p:spPr>
          <a:xfrm xmlns:a="http://schemas.openxmlformats.org/drawingml/2006/main">
            <a:off x="590550" y="4267200"/>
            <a:ext cx="10972800" cy="12382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25" name="text-82-467">
            <a:extLst xmlns:a="http://schemas.openxmlformats.org/drawingml/2006/main">
              <a:ext uri="{FF2B5EF4-FFF2-40B4-BE49-F238E27FC236}">
                <a16:creationId xmlns:a16="http://schemas.microsoft.com/office/drawing/2014/main" id="{56555FB5-1791-47D9-B326-825D2442A16D}"/>
              </a:ext>
            </a:extLst>
          </p:cNvPr>
          <p:cNvSpPr>
            <a:spLocks xmlns:a="http://schemas.openxmlformats.org/drawingml/2006/main" noGrp="1"/>
          </p:cNvSpPr>
          <p:nvPr/>
        </p:nvSpPr>
        <p:spPr>
          <a:xfrm xmlns:a="http://schemas.openxmlformats.org/drawingml/2006/main">
            <a:off x="781050" y="4448175"/>
            <a:ext cx="17145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CHECKSUM / READ</a:t>
            </a:r>
          </a:p>
        </p:txBody>
      </p:sp>
      <p:sp>
        <p:nvSpPr>
          <p:cNvPr id="26" name="text-82-502">
            <a:extLst xmlns:a="http://schemas.openxmlformats.org/drawingml/2006/main">
              <a:ext uri="{FF2B5EF4-FFF2-40B4-BE49-F238E27FC236}">
                <a16:creationId xmlns:a16="http://schemas.microsoft.com/office/drawing/2014/main" id="{9A08B14A-6549-4499-9D5F-4D99CDEAFB15}"/>
              </a:ext>
            </a:extLst>
          </p:cNvPr>
          <p:cNvSpPr>
            <a:spLocks xmlns:a="http://schemas.openxmlformats.org/drawingml/2006/main" noGrp="1"/>
          </p:cNvSpPr>
          <p:nvPr/>
        </p:nvSpPr>
        <p:spPr>
          <a:xfrm xmlns:a="http://schemas.openxmlformats.org/drawingml/2006/main">
            <a:off x="781050" y="4781550"/>
            <a:ext cx="10668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Cycle 1</a:t>
            </a:r>
          </a:p>
        </p:txBody>
      </p:sp>
      <p:sp>
        <p:nvSpPr>
          <p:cNvPr id="27" name="text-180-502">
            <a:extLst xmlns:a="http://schemas.openxmlformats.org/drawingml/2006/main">
              <a:ext uri="{FF2B5EF4-FFF2-40B4-BE49-F238E27FC236}">
                <a16:creationId xmlns:a16="http://schemas.microsoft.com/office/drawing/2014/main" id="{FA489F7F-9114-4B09-A6FE-2D1FBC2B1B9E}"/>
              </a:ext>
            </a:extLst>
          </p:cNvPr>
          <p:cNvSpPr>
            <a:spLocks xmlns:a="http://schemas.openxmlformats.org/drawingml/2006/main" noGrp="1"/>
          </p:cNvSpPr>
          <p:nvPr/>
        </p:nvSpPr>
        <p:spPr>
          <a:xfrm xmlns:a="http://schemas.openxmlformats.org/drawingml/2006/main">
            <a:off x="1714500" y="4781550"/>
            <a:ext cx="22479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Courier New"/>
                <a:ea typeface="Courier New"/>
                <a:cs typeface="Courier New"/>
              </a:defRPr>
            </a:pPr>
            <a:r>
              <a:t>checkpoint read fails</a:t>
            </a:r>
          </a:p>
        </p:txBody>
      </p:sp>
      <p:sp>
        <p:nvSpPr>
          <p:cNvPr id="28" name="text-438-502">
            <a:extLst xmlns:a="http://schemas.openxmlformats.org/drawingml/2006/main">
              <a:ext uri="{FF2B5EF4-FFF2-40B4-BE49-F238E27FC236}">
                <a16:creationId xmlns:a16="http://schemas.microsoft.com/office/drawing/2014/main" id="{EC86BD1A-6C84-40AB-8945-EF13B22C5367}"/>
              </a:ext>
            </a:extLst>
          </p:cNvPr>
          <p:cNvSpPr>
            <a:spLocks xmlns:a="http://schemas.openxmlformats.org/drawingml/2006/main" noGrp="1"/>
          </p:cNvSpPr>
          <p:nvPr/>
        </p:nvSpPr>
        <p:spPr>
          <a:xfrm xmlns:a="http://schemas.openxmlformats.org/drawingml/2006/main">
            <a:off x="4171950" y="4781550"/>
            <a:ext cx="4495800" cy="4000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5D6470"/>
                </a:solidFill>
                <a:latin typeface="Helvetica Neue"/>
                <a:ea typeface="Helvetica Neue"/>
                <a:cs typeface="Helvetica Neue"/>
              </a:defRPr>
            </a:pPr>
            <a:r>
              <a:t>Could be transient I/O or persisted corruption; a single read is ambiguous.</a:t>
            </a:r>
          </a:p>
        </p:txBody>
      </p:sp>
      <p:sp>
        <p:nvSpPr>
          <p:cNvPr id="29" name="text-1060-502">
            <a:extLst xmlns:a="http://schemas.openxmlformats.org/drawingml/2006/main">
              <a:ext uri="{FF2B5EF4-FFF2-40B4-BE49-F238E27FC236}">
                <a16:creationId xmlns:a16="http://schemas.microsoft.com/office/drawing/2014/main" id="{6314DCE2-B013-4DD9-AC47-1149FDE219FB}"/>
              </a:ext>
            </a:extLst>
          </p:cNvPr>
          <p:cNvSpPr>
            <a:spLocks xmlns:a="http://schemas.openxmlformats.org/drawingml/2006/main" noGrp="1"/>
          </p:cNvSpPr>
          <p:nvPr/>
        </p:nvSpPr>
        <p:spPr>
          <a:xfrm xmlns:a="http://schemas.openxmlformats.org/drawingml/2006/main">
            <a:off x="10096500" y="4781550"/>
            <a:ext cx="1181100" cy="247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500" b="1">
                <a:solidFill>
                  <a:srgbClr val="1D7A5B"/>
                </a:solidFill>
                <a:latin typeface="Helvetica Neue"/>
                <a:ea typeface="Helvetica Neue"/>
                <a:cs typeface="Helvetica Neue"/>
              </a:defRPr>
            </a:pPr>
            <a:r>
              <a:t>RESTART</a:t>
            </a:r>
          </a:p>
        </p:txBody>
      </p:sp>
      <p:sp>
        <p:nvSpPr>
          <p:cNvPr id="30" name="text-82-546">
            <a:extLst xmlns:a="http://schemas.openxmlformats.org/drawingml/2006/main">
              <a:ext uri="{FF2B5EF4-FFF2-40B4-BE49-F238E27FC236}">
                <a16:creationId xmlns:a16="http://schemas.microsoft.com/office/drawing/2014/main" id="{59D16CCB-1479-4F6C-8C91-46F0B25B49AB}"/>
              </a:ext>
            </a:extLst>
          </p:cNvPr>
          <p:cNvSpPr>
            <a:spLocks xmlns:a="http://schemas.openxmlformats.org/drawingml/2006/main" noGrp="1"/>
          </p:cNvSpPr>
          <p:nvPr/>
        </p:nvSpPr>
        <p:spPr>
          <a:xfrm xmlns:a="http://schemas.openxmlformats.org/drawingml/2006/main">
            <a:off x="781050" y="5200650"/>
            <a:ext cx="10668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Later</a:t>
            </a:r>
          </a:p>
        </p:txBody>
      </p:sp>
      <p:sp>
        <p:nvSpPr>
          <p:cNvPr id="31" name="text-180-546">
            <a:extLst xmlns:a="http://schemas.openxmlformats.org/drawingml/2006/main">
              <a:ext uri="{FF2B5EF4-FFF2-40B4-BE49-F238E27FC236}">
                <a16:creationId xmlns:a16="http://schemas.microsoft.com/office/drawing/2014/main" id="{60685ACC-62F8-4C5E-97B1-C48900E9218C}"/>
              </a:ext>
            </a:extLst>
          </p:cNvPr>
          <p:cNvSpPr>
            <a:spLocks xmlns:a="http://schemas.openxmlformats.org/drawingml/2006/main" noGrp="1"/>
          </p:cNvSpPr>
          <p:nvPr/>
        </p:nvSpPr>
        <p:spPr>
          <a:xfrm xmlns:a="http://schemas.openxmlformats.org/drawingml/2006/main">
            <a:off x="1714500" y="5200650"/>
            <a:ext cx="30480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Courier New"/>
                <a:ea typeface="Courier New"/>
                <a:cs typeface="Courier New"/>
              </a:defRPr>
            </a:pPr>
            <a:r>
              <a:t>same root + artifact / position</a:t>
            </a:r>
          </a:p>
        </p:txBody>
      </p:sp>
      <p:sp>
        <p:nvSpPr>
          <p:cNvPr id="32" name="text-520-546">
            <a:extLst xmlns:a="http://schemas.openxmlformats.org/drawingml/2006/main">
              <a:ext uri="{FF2B5EF4-FFF2-40B4-BE49-F238E27FC236}">
                <a16:creationId xmlns:a16="http://schemas.microsoft.com/office/drawing/2014/main" id="{8BE85101-E161-40DC-8137-BCD972D26E74}"/>
              </a:ext>
            </a:extLst>
          </p:cNvPr>
          <p:cNvSpPr>
            <a:spLocks xmlns:a="http://schemas.openxmlformats.org/drawingml/2006/main" noGrp="1"/>
          </p:cNvSpPr>
          <p:nvPr/>
        </p:nvSpPr>
        <p:spPr>
          <a:xfrm xmlns:a="http://schemas.openxmlformats.org/drawingml/2006/main">
            <a:off x="4953000" y="5200650"/>
            <a:ext cx="4514850" cy="228600"/>
          </a:xfrm>
          <a:prstGeom xmlns:a="http://schemas.openxmlformats.org/drawingml/2006/main" prst="rect">
            <a:avLst/>
          </a:prstGeom>
        </p:spPr>
        <p:txBody>
          <a:bodyPr xmlns:a="http://schemas.openxmlformats.org/drawingml/2006/main" wrap="square" lIns="0" tIns="0" rIns="0" bIns="0" anchor="t">
            <a:normAutofit fontScale="90841" lnSpcReduction="2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Same artifact/position strengthens corruption; a different position stays distinct.</a:t>
            </a:r>
          </a:p>
        </p:txBody>
      </p:sp>
      <p:sp>
        <p:nvSpPr>
          <p:cNvPr id="33" name="text-1034-546">
            <a:extLst xmlns:a="http://schemas.openxmlformats.org/drawingml/2006/main">
              <a:ext uri="{FF2B5EF4-FFF2-40B4-BE49-F238E27FC236}">
                <a16:creationId xmlns:a16="http://schemas.microsoft.com/office/drawing/2014/main" id="{6677DB6B-46D4-4392-9C76-604A0FBCC5DB}"/>
              </a:ext>
            </a:extLst>
          </p:cNvPr>
          <p:cNvSpPr>
            <a:spLocks xmlns:a="http://schemas.openxmlformats.org/drawingml/2006/main" noGrp="1"/>
          </p:cNvSpPr>
          <p:nvPr/>
        </p:nvSpPr>
        <p:spPr>
          <a:xfrm xmlns:a="http://schemas.openxmlformats.org/drawingml/2006/main">
            <a:off x="9848850" y="5200650"/>
            <a:ext cx="1428750" cy="228600"/>
          </a:xfrm>
          <a:prstGeom xmlns:a="http://schemas.openxmlformats.org/drawingml/2006/main" prst="rect">
            <a:avLst/>
          </a:prstGeom>
        </p:spPr>
        <p:txBody>
          <a:bodyPr xmlns:a="http://schemas.openxmlformats.org/drawingml/2006/main" wrap="square" lIns="0" tIns="0" rIns="0" bIns="0" anchor="t">
            <a:normAutofit fontScale="87380"/>
          </a:bodyPr>
          <a:lstStyle xmlns:a="http://schemas.openxmlformats.org/drawingml/2006/main"/>
          <a:p xmlns:a="http://schemas.openxmlformats.org/drawingml/2006/main">
            <a:pPr algn="r">
              <a:buNone/>
              <a:defRPr sz="1350" b="1">
                <a:solidFill>
                  <a:srgbClr val="000000"/>
                </a:solidFill>
                <a:latin typeface="Helvetica Neue"/>
                <a:ea typeface="Helvetica Neue"/>
                <a:cs typeface="Helvetica Neue"/>
              </a:defRPr>
            </a:pPr>
            <a:r>
              <a:t>L3: 1 matching prior</a:t>
            </a:r>
          </a:p>
        </p:txBody>
      </p:sp>
      <p:sp>
        <p:nvSpPr>
          <p:cNvPr id="34" name="text-62-615">
            <a:extLst xmlns:a="http://schemas.openxmlformats.org/drawingml/2006/main">
              <a:ext uri="{FF2B5EF4-FFF2-40B4-BE49-F238E27FC236}">
                <a16:creationId xmlns:a16="http://schemas.microsoft.com/office/drawing/2014/main" id="{1F0D17E4-478F-43E6-95B2-8CFAB19EA0A9}"/>
              </a:ext>
            </a:extLst>
          </p:cNvPr>
          <p:cNvSpPr>
            <a:spLocks xmlns:a="http://schemas.openxmlformats.org/drawingml/2006/main" noGrp="1"/>
          </p:cNvSpPr>
          <p:nvPr/>
        </p:nvSpPr>
        <p:spPr>
          <a:xfrm xmlns:a="http://schemas.openxmlformats.org/drawingml/2006/main">
            <a:off x="590550" y="5857875"/>
            <a:ext cx="3562350" cy="228600"/>
          </a:xfrm>
          <a:prstGeom xmlns:a="http://schemas.openxmlformats.org/drawingml/2006/main" prst="rect">
            <a:avLst/>
          </a:prstGeom>
        </p:spPr>
        <p:txBody>
          <a:bodyPr xmlns:a="http://schemas.openxmlformats.org/drawingml/2006/main" wrap="square" lIns="0" tIns="0" rIns="0" bIns="0" anchor="t">
            <a:normAutofit fontScale="75268"/>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STATE  3,000 attempts/job • in-memory • editable test fixtures</a:t>
            </a:r>
          </a:p>
        </p:txBody>
      </p:sp>
      <p:sp>
        <p:nvSpPr>
          <p:cNvPr id="35" name="text-458-606">
            <a:extLst xmlns:a="http://schemas.openxmlformats.org/drawingml/2006/main">
              <a:ext uri="{FF2B5EF4-FFF2-40B4-BE49-F238E27FC236}">
                <a16:creationId xmlns:a16="http://schemas.microsoft.com/office/drawing/2014/main" id="{F8257B82-DC0F-4A10-82F2-067BEA605D95}"/>
              </a:ext>
            </a:extLst>
          </p:cNvPr>
          <p:cNvSpPr>
            <a:spLocks xmlns:a="http://schemas.openxmlformats.org/drawingml/2006/main" noGrp="1"/>
          </p:cNvSpPr>
          <p:nvPr/>
        </p:nvSpPr>
        <p:spPr>
          <a:xfrm xmlns:a="http://schemas.openxmlformats.org/drawingml/2006/main">
            <a:off x="4362450" y="5772150"/>
            <a:ext cx="72009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125" b="0">
                <a:solidFill>
                  <a:srgbClr val="5D6470"/>
                </a:solidFill>
                <a:latin typeface="Helvetica Neue"/>
                <a:ea typeface="Helvetica Neue"/>
                <a:cs typeface="Helvetica Neue"/>
              </a:defRPr>
            </a:pPr>
            <a:r>
              <a:t>Experimental: family = operation + mechanism + exception; concrete adds callsite, stack, observed artifact path, and named position, then hashes canonical sorted JSON.</a:t>
            </a:r>
          </a:p>
        </p:txBody>
      </p:sp>
    </p:spTree>
    <p:extLst>
      <p:ext uri="{BB962C8B-B14F-4D97-AF65-F5344CB8AC3E}">
        <p14:creationId xmlns:p14="http://schemas.microsoft.com/office/powerpoint/2010/main" val="35167890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L3 IDENTITY</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L0 or L2 builds current facts; L3 compares history</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L0 DecisionEvidence OR L2-grounded L1 primary</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strip volatile occurrence data</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Inputs</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Stable facts used to build identity</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operation: checkpoint_load</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mechanism: metadata_deserialization</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exception: UnicodeDecodeError</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artifact: /ckpt/iter_418/metadata</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callsite: tensor_to_object</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position: byte 8</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Root fingerprint</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canonical identity -&gt; deterministic key</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family: operation + mechanism + exception</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concrete: + artifact + callsite + position</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exclude: rank, node, GPU, PID, time</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L3 receives facts + separate prior history</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QUALITY (gold/corpus)  L0 and L2 accuracy • false merges • false splits</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OPERATIONS  availability • source • history-ready • derivation latency</a:t>
            </a:r>
          </a:p>
        </p:txBody>
      </p:sp>
    </p:spTree>
    <p:extLst>
      <p:ext uri="{BB962C8B-B14F-4D97-AF65-F5344CB8AC3E}">
        <p14:creationId xmlns:p14="http://schemas.microsoft.com/office/powerpoint/2010/main" val="10623063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L3 KPIs</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88827"/>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History must match the same failure without merging look-alikes</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MULTI-CYCLE GOLD / exact job + root + compatible markers</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exact structure, not wording</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History cases</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Gold labels distinguish recurrence from look-alikes</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Cycle 1: training progress observed; step = 418</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Cycle 2: same root; step = 418</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Different artifact or read position</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Marker missing/mismatched -&gt; unknown</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Current step = 419 -&gt; advanced</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Malformed prior -&gt; ignored + counted</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L3 KPI result</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Match quality + availability</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Root-match precision: PASS</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Attempt progress + relation: PASS</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False merges / splits: 0 / 0</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Unknown handling: PASS</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GOOD HISTORY  compares earlier cycles only with exact job/root and compatible marker types.</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OPERATIONS  availability • usable records • latency</a:t>
            </a:r>
          </a:p>
        </p:txBody>
      </p:sp>
    </p:spTree>
    <p:extLst>
      <p:ext uri="{BB962C8B-B14F-4D97-AF65-F5344CB8AC3E}">
        <p14:creationId xmlns:p14="http://schemas.microsoft.com/office/powerpoint/2010/main" val="106230633"/>
      </p:ext>
    </p:extLst>
  </p:cSld>
</p:sld>
</file>

<file path=ppt/slides/slide33.xml><?xml version="1.0" encoding="utf-8"?>
<p:sld xmlns:p="http://schemas.openxmlformats.org/presentationml/2006/main">
  <p:cSld>
    <p:bg>
      <p:bgPr>
        <a:solidFill xmlns:a="http://schemas.openxmlformats.org/drawingml/2006/main">
          <a:srgbClr val="F2F7FF"/>
        </a:solidFill>
      </p:bgPr>
    </p:bg>
    <p:spTree>
      <p:nvGrpSpPr>
        <p:cNvPr id="1" name=""/>
        <p:cNvGrpSpPr/>
        <p:nvPr/>
      </p:nvGrpSpPr>
      <p:grpSpPr>
        <a:xfrm xmlns:a="http://schemas.openxmlformats.org/drawingml/2006/main"/>
      </p:grpSpPr>
      <p:sp>
        <p:nvSpPr>
          <p:cNvPr id="18" name="stage-left-rule">
            <a:extLst xmlns:a="http://schemas.openxmlformats.org/drawingml/2006/main">
              <a:ext uri="{FF2B5EF4-FFF2-40B4-BE49-F238E27FC236}">
                <a16:creationId xmlns:a16="http://schemas.microsoft.com/office/drawing/2014/main" id="{F513F77F-08BC-46B8-82D1-358A1578768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2" name="stage-eyebrow">
            <a:extLst xmlns:a="http://schemas.openxmlformats.org/drawingml/2006/main">
              <a:ext uri="{FF2B5EF4-FFF2-40B4-BE49-F238E27FC236}">
                <a16:creationId xmlns:a16="http://schemas.microsoft.com/office/drawing/2014/main" id="{4CA9EF1E-4B5A-45D9-A758-C24AC7797C8C}"/>
              </a:ext>
            </a:extLst>
          </p:cNvPr>
          <p:cNvSpPr>
            <a:spLocks xmlns:a="http://schemas.openxmlformats.org/drawingml/2006/main" noGrp="1"/>
          </p:cNvSpPr>
          <p:nvPr/>
        </p:nvSpPr>
        <p:spPr>
          <a:xfrm xmlns:a="http://schemas.openxmlformats.org/drawingml/2006/main">
            <a:off x="685800" y="8382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75" b="1">
                <a:solidFill>
                  <a:srgbClr val="3B82F6"/>
                </a:solidFill>
                <a:latin typeface="Calibri"/>
                <a:ea typeface="Calibri"/>
                <a:cs typeface="Calibri"/>
              </a:defRPr>
            </a:pPr>
            <a:r>
              <a:rPr sz="975" b="1">
                <a:solidFill>
                  <a:srgbClr val="3B82F6"/>
                </a:solidFill>
                <a:latin typeface="Calibri"/>
                <a:ea typeface="Calibri"/>
                <a:cs typeface="Calibri"/>
              </a:rPr>
              <a:t>RUNTIME PIPELINE  /  STAGE 5 OF 5</a:t>
            </a:r>
          </a:p>
        </p:txBody>
      </p:sp>
      <p:sp>
        <p:nvSpPr>
          <p:cNvPr id="3" name="stage-code">
            <a:extLst xmlns:a="http://schemas.openxmlformats.org/drawingml/2006/main">
              <a:ext uri="{FF2B5EF4-FFF2-40B4-BE49-F238E27FC236}">
                <a16:creationId xmlns:a16="http://schemas.microsoft.com/office/drawing/2014/main" id="{D70F80D9-EAB8-45BF-8F9F-9C9B4379D210}"/>
              </a:ext>
            </a:extLst>
          </p:cNvPr>
          <p:cNvSpPr>
            <a:spLocks xmlns:a="http://schemas.openxmlformats.org/drawingml/2006/main" noGrp="1"/>
          </p:cNvSpPr>
          <p:nvPr/>
        </p:nvSpPr>
        <p:spPr>
          <a:xfrm xmlns:a="http://schemas.openxmlformats.org/drawingml/2006/main">
            <a:off x="685800" y="1790700"/>
            <a:ext cx="1428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5700" b="1">
                <a:solidFill>
                  <a:srgbClr val="3B82F6"/>
                </a:solidFill>
                <a:latin typeface="Calibri"/>
                <a:ea typeface="Calibri"/>
                <a:cs typeface="Calibri"/>
              </a:defRPr>
            </a:pPr>
            <a:r>
              <a:rPr sz="5700" b="1">
                <a:solidFill>
                  <a:srgbClr val="3B82F6"/>
                </a:solidFill>
                <a:latin typeface="Calibri"/>
                <a:ea typeface="Calibri"/>
                <a:cs typeface="Calibri"/>
              </a:rPr>
              <a:t>L4</a:t>
            </a:r>
          </a:p>
        </p:txBody>
      </p:sp>
      <p:sp>
        <p:nvSpPr>
          <p:cNvPr id="4" name="stage-divider-rule">
            <a:extLst xmlns:a="http://schemas.openxmlformats.org/drawingml/2006/main">
              <a:ext uri="{FF2B5EF4-FFF2-40B4-BE49-F238E27FC236}">
                <a16:creationId xmlns:a16="http://schemas.microsoft.com/office/drawing/2014/main" id="{7A7F78E2-591E-44E9-9272-921FB5B68243}"/>
              </a:ext>
            </a:extLst>
          </p:cNvPr>
          <p:cNvSpPr>
            <a:spLocks xmlns:a="http://schemas.openxmlformats.org/drawingml/2006/main" noGrp="1"/>
          </p:cNvSpPr>
          <p:nvPr/>
        </p:nvSpPr>
        <p:spPr>
          <a:xfrm xmlns:a="http://schemas.openxmlformats.org/drawingml/2006/main">
            <a:off x="2305050" y="1790700"/>
            <a:ext cx="19050" cy="1190625"/>
          </a:xfrm>
          <a:prstGeom xmlns:a="http://schemas.openxmlformats.org/drawingml/2006/main" prst="rect">
            <a:avLst/>
          </a:prstGeom>
          <a:solidFill xmlns:a="http://schemas.openxmlformats.org/drawingml/2006/main">
            <a:srgbClr val="B8D9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5" name="stage-title">
            <a:extLst xmlns:a="http://schemas.openxmlformats.org/drawingml/2006/main">
              <a:ext uri="{FF2B5EF4-FFF2-40B4-BE49-F238E27FC236}">
                <a16:creationId xmlns:a16="http://schemas.microsoft.com/office/drawing/2014/main" id="{3E209B16-4869-402F-B051-55615A4112E5}"/>
              </a:ext>
            </a:extLst>
          </p:cNvPr>
          <p:cNvSpPr>
            <a:spLocks xmlns:a="http://schemas.openxmlformats.org/drawingml/2006/main" noGrp="1"/>
          </p:cNvSpPr>
          <p:nvPr/>
        </p:nvSpPr>
        <p:spPr>
          <a:xfrm xmlns:a="http://schemas.openxmlformats.org/drawingml/2006/main">
            <a:off x="2686050" y="1790700"/>
            <a:ext cx="809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111111"/>
                </a:solidFill>
                <a:latin typeface="Calibri"/>
                <a:ea typeface="Calibri"/>
                <a:cs typeface="Calibri"/>
              </a:defRPr>
            </a:pPr>
            <a:r>
              <a:rPr sz="2850" b="1">
                <a:solidFill>
                  <a:srgbClr val="111111"/>
                </a:solidFill>
                <a:latin typeface="Calibri"/>
                <a:ea typeface="Calibri"/>
                <a:cs typeface="Calibri"/>
              </a:rPr>
              <a:t>Deterministic Policy</a:t>
            </a:r>
          </a:p>
        </p:txBody>
      </p:sp>
      <p:sp>
        <p:nvSpPr>
          <p:cNvPr id="6" name="stage-summary">
            <a:extLst xmlns:a="http://schemas.openxmlformats.org/drawingml/2006/main">
              <a:ext uri="{FF2B5EF4-FFF2-40B4-BE49-F238E27FC236}">
                <a16:creationId xmlns:a16="http://schemas.microsoft.com/office/drawing/2014/main" id="{7E2C0580-FF1F-49FB-87A8-0E100643F3B2}"/>
              </a:ext>
            </a:extLst>
          </p:cNvPr>
          <p:cNvSpPr>
            <a:spLocks xmlns:a="http://schemas.openxmlformats.org/drawingml/2006/main" noGrp="1"/>
          </p:cNvSpPr>
          <p:nvPr/>
        </p:nvSpPr>
        <p:spPr>
          <a:xfrm xmlns:a="http://schemas.openxmlformats.org/drawingml/2006/main">
            <a:off x="2686050" y="2476500"/>
            <a:ext cx="833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5F6673"/>
                </a:solidFill>
                <a:latin typeface="Calibri"/>
                <a:ea typeface="Calibri"/>
                <a:cs typeface="Calibri"/>
              </a:defRPr>
            </a:pPr>
            <a:r>
              <a:rPr sz="1575">
                <a:solidFill>
                  <a:srgbClr val="5F6673"/>
                </a:solidFill>
                <a:latin typeface="Calibri"/>
                <a:ea typeface="Calibri"/>
                <a:cs typeface="Calibri"/>
              </a:rPr>
              <a:t>Preserve attribution; choose action from the L1 recovery assessment and history.</a:t>
            </a:r>
          </a:p>
        </p:txBody>
      </p:sp>
      <p:sp>
        <p:nvSpPr>
          <p:cNvPr id="7" name="stage-progress-rail">
            <a:extLst xmlns:a="http://schemas.openxmlformats.org/drawingml/2006/main">
              <a:ext uri="{FF2B5EF4-FFF2-40B4-BE49-F238E27FC236}">
                <a16:creationId xmlns:a16="http://schemas.microsoft.com/office/drawing/2014/main" id="{F5E6E4F5-75DD-4E2E-990A-F6C10AE3C00C}"/>
              </a:ext>
            </a:extLst>
          </p:cNvPr>
          <p:cNvSpPr>
            <a:spLocks xmlns:a="http://schemas.openxmlformats.org/drawingml/2006/main" noGrp="1"/>
          </p:cNvSpPr>
          <p:nvPr/>
        </p:nvSpPr>
        <p:spPr>
          <a:xfrm xmlns:a="http://schemas.openxmlformats.org/drawingml/2006/main">
            <a:off x="1066800" y="4762500"/>
            <a:ext cx="10058400" cy="28575"/>
          </a:xfrm>
          <a:prstGeom xmlns:a="http://schemas.openxmlformats.org/drawingml/2006/main" prst="rect">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8" name="stage-progress-dot-0">
            <a:extLst xmlns:a="http://schemas.openxmlformats.org/drawingml/2006/main">
              <a:ext uri="{FF2B5EF4-FFF2-40B4-BE49-F238E27FC236}">
                <a16:creationId xmlns:a16="http://schemas.microsoft.com/office/drawing/2014/main" id="{7FCCB2DF-BE67-4846-83F4-D8E8BDD132F5}"/>
              </a:ext>
            </a:extLst>
          </p:cNvPr>
          <p:cNvSpPr>
            <a:spLocks xmlns:a="http://schemas.openxmlformats.org/drawingml/2006/main" noGrp="1"/>
          </p:cNvSpPr>
          <p:nvPr/>
        </p:nvSpPr>
        <p:spPr>
          <a:xfrm xmlns:a="http://schemas.openxmlformats.org/drawingml/2006/main">
            <a:off x="10001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9" name="stage-progress-label-0">
            <a:extLst xmlns:a="http://schemas.openxmlformats.org/drawingml/2006/main">
              <a:ext uri="{FF2B5EF4-FFF2-40B4-BE49-F238E27FC236}">
                <a16:creationId xmlns:a16="http://schemas.microsoft.com/office/drawing/2014/main" id="{081FA1ED-2C5B-4DA8-AC07-2A8CC11F7B46}"/>
              </a:ext>
            </a:extLst>
          </p:cNvPr>
          <p:cNvSpPr>
            <a:spLocks xmlns:a="http://schemas.openxmlformats.org/drawingml/2006/main" noGrp="1"/>
          </p:cNvSpPr>
          <p:nvPr/>
        </p:nvSpPr>
        <p:spPr>
          <a:xfrm xmlns:a="http://schemas.openxmlformats.org/drawingml/2006/main">
            <a:off x="7810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L0</a:t>
            </a:r>
          </a:p>
        </p:txBody>
      </p:sp>
      <p:sp>
        <p:nvSpPr>
          <p:cNvPr id="10" name="stage-progress-dot-1">
            <a:extLst xmlns:a="http://schemas.openxmlformats.org/drawingml/2006/main">
              <a:ext uri="{FF2B5EF4-FFF2-40B4-BE49-F238E27FC236}">
                <a16:creationId xmlns:a16="http://schemas.microsoft.com/office/drawing/2014/main" id="{5F26DF6E-C067-4432-8D81-667614DE44BF}"/>
              </a:ext>
            </a:extLst>
          </p:cNvPr>
          <p:cNvSpPr>
            <a:spLocks xmlns:a="http://schemas.openxmlformats.org/drawingml/2006/main" noGrp="1"/>
          </p:cNvSpPr>
          <p:nvPr/>
        </p:nvSpPr>
        <p:spPr>
          <a:xfrm xmlns:a="http://schemas.openxmlformats.org/drawingml/2006/main">
            <a:off x="35147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1" name="stage-progress-label-1">
            <a:extLst xmlns:a="http://schemas.openxmlformats.org/drawingml/2006/main">
              <a:ext uri="{FF2B5EF4-FFF2-40B4-BE49-F238E27FC236}">
                <a16:creationId xmlns:a16="http://schemas.microsoft.com/office/drawing/2014/main" id="{E380422B-1826-43C5-8851-67B6E3227063}"/>
              </a:ext>
            </a:extLst>
          </p:cNvPr>
          <p:cNvSpPr>
            <a:spLocks xmlns:a="http://schemas.openxmlformats.org/drawingml/2006/main" noGrp="1"/>
          </p:cNvSpPr>
          <p:nvPr/>
        </p:nvSpPr>
        <p:spPr>
          <a:xfrm xmlns:a="http://schemas.openxmlformats.org/drawingml/2006/main">
            <a:off x="32956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L1</a:t>
            </a:r>
          </a:p>
        </p:txBody>
      </p:sp>
      <p:sp>
        <p:nvSpPr>
          <p:cNvPr id="12" name="stage-progress-dot-2">
            <a:extLst xmlns:a="http://schemas.openxmlformats.org/drawingml/2006/main">
              <a:ext uri="{FF2B5EF4-FFF2-40B4-BE49-F238E27FC236}">
                <a16:creationId xmlns:a16="http://schemas.microsoft.com/office/drawing/2014/main" id="{6961CD2A-01A8-4208-8070-188136907AD5}"/>
              </a:ext>
            </a:extLst>
          </p:cNvPr>
          <p:cNvSpPr>
            <a:spLocks xmlns:a="http://schemas.openxmlformats.org/drawingml/2006/main" noGrp="1"/>
          </p:cNvSpPr>
          <p:nvPr/>
        </p:nvSpPr>
        <p:spPr>
          <a:xfrm xmlns:a="http://schemas.openxmlformats.org/drawingml/2006/main">
            <a:off x="60293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3" name="stage-progress-label-2">
            <a:extLst xmlns:a="http://schemas.openxmlformats.org/drawingml/2006/main">
              <a:ext uri="{FF2B5EF4-FFF2-40B4-BE49-F238E27FC236}">
                <a16:creationId xmlns:a16="http://schemas.microsoft.com/office/drawing/2014/main" id="{7487B1FC-36C4-47FB-A4AA-75862419BD46}"/>
              </a:ext>
            </a:extLst>
          </p:cNvPr>
          <p:cNvSpPr>
            <a:spLocks xmlns:a="http://schemas.openxmlformats.org/drawingml/2006/main" noGrp="1"/>
          </p:cNvSpPr>
          <p:nvPr/>
        </p:nvSpPr>
        <p:spPr>
          <a:xfrm xmlns:a="http://schemas.openxmlformats.org/drawingml/2006/main">
            <a:off x="58102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L2</a:t>
            </a:r>
          </a:p>
        </p:txBody>
      </p:sp>
      <p:sp>
        <p:nvSpPr>
          <p:cNvPr id="14" name="stage-progress-dot-3">
            <a:extLst xmlns:a="http://schemas.openxmlformats.org/drawingml/2006/main">
              <a:ext uri="{FF2B5EF4-FFF2-40B4-BE49-F238E27FC236}">
                <a16:creationId xmlns:a16="http://schemas.microsoft.com/office/drawing/2014/main" id="{B382E702-9857-48E8-A35B-45373935EFF5}"/>
              </a:ext>
            </a:extLst>
          </p:cNvPr>
          <p:cNvSpPr>
            <a:spLocks xmlns:a="http://schemas.openxmlformats.org/drawingml/2006/main" noGrp="1"/>
          </p:cNvSpPr>
          <p:nvPr/>
        </p:nvSpPr>
        <p:spPr>
          <a:xfrm xmlns:a="http://schemas.openxmlformats.org/drawingml/2006/main">
            <a:off x="8543925" y="4710113"/>
            <a:ext cx="133350" cy="133350"/>
          </a:xfrm>
          <a:prstGeom xmlns:a="http://schemas.openxmlformats.org/drawingml/2006/main" prst="ellipse">
            <a:avLst/>
          </a:prstGeom>
          <a:solidFill xmlns:a="http://schemas.openxmlformats.org/drawingml/2006/main">
            <a:srgbClr val="D7E0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5" name="stage-progress-label-3">
            <a:extLst xmlns:a="http://schemas.openxmlformats.org/drawingml/2006/main">
              <a:ext uri="{FF2B5EF4-FFF2-40B4-BE49-F238E27FC236}">
                <a16:creationId xmlns:a16="http://schemas.microsoft.com/office/drawing/2014/main" id="{8D6516BB-7B4F-4E9C-8E59-1259CAC4947D}"/>
              </a:ext>
            </a:extLst>
          </p:cNvPr>
          <p:cNvSpPr>
            <a:spLocks xmlns:a="http://schemas.openxmlformats.org/drawingml/2006/main" noGrp="1"/>
          </p:cNvSpPr>
          <p:nvPr/>
        </p:nvSpPr>
        <p:spPr>
          <a:xfrm xmlns:a="http://schemas.openxmlformats.org/drawingml/2006/main">
            <a:off x="83248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AAB4C2"/>
                </a:solidFill>
                <a:latin typeface="Calibri"/>
                <a:ea typeface="Calibri"/>
                <a:cs typeface="Calibri"/>
              </a:defRPr>
            </a:pPr>
            <a:r>
              <a:rPr sz="975" b="1">
                <a:solidFill>
                  <a:srgbClr val="AAB4C2"/>
                </a:solidFill>
                <a:latin typeface="Calibri"/>
                <a:ea typeface="Calibri"/>
                <a:cs typeface="Calibri"/>
              </a:rPr>
              <a:t>L3</a:t>
            </a:r>
          </a:p>
        </p:txBody>
      </p:sp>
      <p:sp>
        <p:nvSpPr>
          <p:cNvPr id="16" name="stage-progress-dot-4">
            <a:extLst xmlns:a="http://schemas.openxmlformats.org/drawingml/2006/main">
              <a:ext uri="{FF2B5EF4-FFF2-40B4-BE49-F238E27FC236}">
                <a16:creationId xmlns:a16="http://schemas.microsoft.com/office/drawing/2014/main" id="{6B41D43D-4568-42A8-A1F2-D98FF5825F8A}"/>
              </a:ext>
            </a:extLst>
          </p:cNvPr>
          <p:cNvSpPr>
            <a:spLocks xmlns:a="http://schemas.openxmlformats.org/drawingml/2006/main" noGrp="1"/>
          </p:cNvSpPr>
          <p:nvPr/>
        </p:nvSpPr>
        <p:spPr>
          <a:xfrm xmlns:a="http://schemas.openxmlformats.org/drawingml/2006/main">
            <a:off x="11029950" y="4681538"/>
            <a:ext cx="190500" cy="190500"/>
          </a:xfrm>
          <a:prstGeom xmlns:a="http://schemas.openxmlformats.org/drawingml/2006/main" prst="ellipse">
            <a:avLst/>
          </a:prstGeom>
          <a:solidFill xmlns:a="http://schemas.openxmlformats.org/drawingml/2006/main">
            <a:srgbClr val="3B8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p:txBody>
      </p:sp>
      <p:sp>
        <p:nvSpPr>
          <p:cNvPr id="17" name="stage-progress-label-4">
            <a:extLst xmlns:a="http://schemas.openxmlformats.org/drawingml/2006/main">
              <a:ext uri="{FF2B5EF4-FFF2-40B4-BE49-F238E27FC236}">
                <a16:creationId xmlns:a16="http://schemas.microsoft.com/office/drawing/2014/main" id="{4FDFF314-1523-4B9B-9BF6-033F98666CE2}"/>
              </a:ext>
            </a:extLst>
          </p:cNvPr>
          <p:cNvSpPr>
            <a:spLocks xmlns:a="http://schemas.openxmlformats.org/drawingml/2006/main" noGrp="1"/>
          </p:cNvSpPr>
          <p:nvPr/>
        </p:nvSpPr>
        <p:spPr>
          <a:xfrm xmlns:a="http://schemas.openxmlformats.org/drawingml/2006/main">
            <a:off x="10839450" y="5029200"/>
            <a:ext cx="571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3B82F6"/>
                </a:solidFill>
                <a:latin typeface="Calibri"/>
                <a:ea typeface="Calibri"/>
                <a:cs typeface="Calibri"/>
              </a:defRPr>
            </a:pPr>
            <a:r>
              <a:rPr sz="975" b="1">
                <a:solidFill>
                  <a:srgbClr val="3B82F6"/>
                </a:solidFill>
                <a:latin typeface="Calibri"/>
                <a:ea typeface="Calibri"/>
                <a:cs typeface="Calibri"/>
              </a:rPr>
              <a:t>L4</a:t>
            </a:r>
          </a:p>
        </p:txBody>
      </p:sp>
    </p:spTree>
    <p:extLst>
      <p:ext uri="{BB962C8B-B14F-4D97-AF65-F5344CB8AC3E}">
        <p14:creationId xmlns:p14="http://schemas.microsoft.com/office/powerpoint/2010/main" val="387116648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ext-42-26">
            <a:extLst xmlns:a="http://schemas.openxmlformats.org/drawingml/2006/main">
              <a:ext uri="{FF2B5EF4-FFF2-40B4-BE49-F238E27FC236}">
                <a16:creationId xmlns:a16="http://schemas.microsoft.com/office/drawing/2014/main" id="{2E8F24E5-5740-41D5-B242-3068F26B0941}"/>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L4 BOUNDARY</a:t>
            </a:r>
          </a:p>
        </p:txBody>
      </p:sp>
      <p:sp>
        <p:nvSpPr>
          <p:cNvPr id="2" name="text-42-54">
            <a:extLst xmlns:a="http://schemas.openxmlformats.org/drawingml/2006/main">
              <a:ext uri="{FF2B5EF4-FFF2-40B4-BE49-F238E27FC236}">
                <a16:creationId xmlns:a16="http://schemas.microsoft.com/office/drawing/2014/main" id="{15E178E7-8FEA-40C1-A1BD-5B7AF32A7B5F}"/>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80515"/>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L4 deterministically maps L1 recovery assessment and history to action</a:t>
            </a:r>
          </a:p>
        </p:txBody>
      </p:sp>
      <p:sp>
        <p:nvSpPr>
          <p:cNvPr id="3" name="line-42-133">
            <a:extLst xmlns:a="http://schemas.openxmlformats.org/drawingml/2006/main">
              <a:ext uri="{FF2B5EF4-FFF2-40B4-BE49-F238E27FC236}">
                <a16:creationId xmlns:a16="http://schemas.microsoft.com/office/drawing/2014/main" id="{35E6AFDC-0A28-4A7A-9F85-9F537488B8ED}"/>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2-168">
            <a:extLst xmlns:a="http://schemas.openxmlformats.org/drawingml/2006/main">
              <a:ext uri="{FF2B5EF4-FFF2-40B4-BE49-F238E27FC236}">
                <a16:creationId xmlns:a16="http://schemas.microsoft.com/office/drawing/2014/main" id="{3EE8BA63-C352-4D93-B5D8-E4175EE848CA}"/>
              </a:ext>
            </a:extLst>
          </p:cNvPr>
          <p:cNvSpPr>
            <a:spLocks xmlns:a="http://schemas.openxmlformats.org/drawingml/2006/main" noGrp="1"/>
          </p:cNvSpPr>
          <p:nvPr/>
        </p:nvSpPr>
        <p:spPr>
          <a:xfrm xmlns:a="http://schemas.openxmlformats.org/drawingml/2006/main">
            <a:off x="590550" y="1600200"/>
            <a:ext cx="16954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INPUT</a:t>
            </a:r>
          </a:p>
        </p:txBody>
      </p:sp>
      <p:sp>
        <p:nvSpPr>
          <p:cNvPr id="5" name="arrow-244-170">
            <a:extLst xmlns:a="http://schemas.openxmlformats.org/drawingml/2006/main">
              <a:ext uri="{FF2B5EF4-FFF2-40B4-BE49-F238E27FC236}">
                <a16:creationId xmlns:a16="http://schemas.microsoft.com/office/drawing/2014/main" id="{C9DF21FA-F5C4-4127-9271-052ABE07877F}"/>
              </a:ext>
            </a:extLst>
          </p:cNvPr>
          <p:cNvSpPr>
            <a:spLocks xmlns:a="http://schemas.openxmlformats.org/drawingml/2006/main" noGrp="1"/>
          </p:cNvSpPr>
          <p:nvPr/>
        </p:nvSpPr>
        <p:spPr>
          <a:xfrm xmlns:a="http://schemas.openxmlformats.org/drawingml/2006/main">
            <a:off x="23241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text-288-168">
            <a:extLst xmlns:a="http://schemas.openxmlformats.org/drawingml/2006/main">
              <a:ext uri="{FF2B5EF4-FFF2-40B4-BE49-F238E27FC236}">
                <a16:creationId xmlns:a16="http://schemas.microsoft.com/office/drawing/2014/main" id="{78F62E56-55F0-4BF5-B0A6-43A27CBEDF83}"/>
              </a:ext>
            </a:extLst>
          </p:cNvPr>
          <p:cNvSpPr>
            <a:spLocks xmlns:a="http://schemas.openxmlformats.org/drawingml/2006/main" noGrp="1"/>
          </p:cNvSpPr>
          <p:nvPr/>
        </p:nvSpPr>
        <p:spPr>
          <a:xfrm xmlns:a="http://schemas.openxmlformats.org/drawingml/2006/main">
            <a:off x="2743200" y="1600200"/>
            <a:ext cx="209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MAP</a:t>
            </a:r>
          </a:p>
        </p:txBody>
      </p:sp>
      <p:sp>
        <p:nvSpPr>
          <p:cNvPr id="7" name="arrow-514-170">
            <a:extLst xmlns:a="http://schemas.openxmlformats.org/drawingml/2006/main">
              <a:ext uri="{FF2B5EF4-FFF2-40B4-BE49-F238E27FC236}">
                <a16:creationId xmlns:a16="http://schemas.microsoft.com/office/drawing/2014/main" id="{0DC265A1-9463-4855-873D-E309B86EA660}"/>
              </a:ext>
            </a:extLst>
          </p:cNvPr>
          <p:cNvSpPr>
            <a:spLocks xmlns:a="http://schemas.openxmlformats.org/drawingml/2006/main" noGrp="1"/>
          </p:cNvSpPr>
          <p:nvPr/>
        </p:nvSpPr>
        <p:spPr>
          <a:xfrm xmlns:a="http://schemas.openxmlformats.org/drawingml/2006/main">
            <a:off x="489585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558-168">
            <a:extLst xmlns:a="http://schemas.openxmlformats.org/drawingml/2006/main">
              <a:ext uri="{FF2B5EF4-FFF2-40B4-BE49-F238E27FC236}">
                <a16:creationId xmlns:a16="http://schemas.microsoft.com/office/drawing/2014/main" id="{82FBAFBB-1CEB-4A73-83B6-BFE4F4A233EE}"/>
              </a:ext>
            </a:extLst>
          </p:cNvPr>
          <p:cNvSpPr>
            <a:spLocks xmlns:a="http://schemas.openxmlformats.org/drawingml/2006/main" noGrp="1"/>
          </p:cNvSpPr>
          <p:nvPr/>
        </p:nvSpPr>
        <p:spPr>
          <a:xfrm xmlns:a="http://schemas.openxmlformats.org/drawingml/2006/main">
            <a:off x="5314950" y="1600200"/>
            <a:ext cx="21336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APPLY BUDGET</a:t>
            </a:r>
          </a:p>
        </p:txBody>
      </p:sp>
      <p:sp>
        <p:nvSpPr>
          <p:cNvPr id="9" name="arrow-788-170">
            <a:extLst xmlns:a="http://schemas.openxmlformats.org/drawingml/2006/main">
              <a:ext uri="{FF2B5EF4-FFF2-40B4-BE49-F238E27FC236}">
                <a16:creationId xmlns:a16="http://schemas.microsoft.com/office/drawing/2014/main" id="{27BAD463-5A42-44D2-AA51-FA4C1F11166A}"/>
              </a:ext>
            </a:extLst>
          </p:cNvPr>
          <p:cNvSpPr>
            <a:spLocks xmlns:a="http://schemas.openxmlformats.org/drawingml/2006/main" noGrp="1"/>
          </p:cNvSpPr>
          <p:nvPr/>
        </p:nvSpPr>
        <p:spPr>
          <a:xfrm xmlns:a="http://schemas.openxmlformats.org/drawingml/2006/main">
            <a:off x="7505700" y="16192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832-168">
            <a:extLst xmlns:a="http://schemas.openxmlformats.org/drawingml/2006/main">
              <a:ext uri="{FF2B5EF4-FFF2-40B4-BE49-F238E27FC236}">
                <a16:creationId xmlns:a16="http://schemas.microsoft.com/office/drawing/2014/main" id="{09A1E003-46A4-4B36-91C7-95414EDE0162}"/>
              </a:ext>
            </a:extLst>
          </p:cNvPr>
          <p:cNvSpPr>
            <a:spLocks xmlns:a="http://schemas.openxmlformats.org/drawingml/2006/main" noGrp="1"/>
          </p:cNvSpPr>
          <p:nvPr/>
        </p:nvSpPr>
        <p:spPr>
          <a:xfrm xmlns:a="http://schemas.openxmlformats.org/drawingml/2006/main">
            <a:off x="7924800" y="1600200"/>
            <a:ext cx="34290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FINAL RESULT</a:t>
            </a:r>
          </a:p>
        </p:txBody>
      </p:sp>
      <p:sp>
        <p:nvSpPr>
          <p:cNvPr id="11" name="box-62-228">
            <a:extLst xmlns:a="http://schemas.openxmlformats.org/drawingml/2006/main">
              <a:ext uri="{FF2B5EF4-FFF2-40B4-BE49-F238E27FC236}">
                <a16:creationId xmlns:a16="http://schemas.microsoft.com/office/drawing/2014/main" id="{395A74B4-5D3B-4EDE-A24B-5D70C0961FA6}"/>
              </a:ext>
            </a:extLst>
          </p:cNvPr>
          <p:cNvSpPr>
            <a:spLocks xmlns:a="http://schemas.openxmlformats.org/drawingml/2006/main" noGrp="1"/>
          </p:cNvSpPr>
          <p:nvPr/>
        </p:nvSpPr>
        <p:spPr>
          <a:xfrm xmlns:a="http://schemas.openxmlformats.org/drawingml/2006/main">
            <a:off x="590550" y="2171700"/>
            <a:ext cx="31623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2" name="text-82-250">
            <a:extLst xmlns:a="http://schemas.openxmlformats.org/drawingml/2006/main">
              <a:ext uri="{FF2B5EF4-FFF2-40B4-BE49-F238E27FC236}">
                <a16:creationId xmlns:a16="http://schemas.microsoft.com/office/drawing/2014/main" id="{1DF51230-E9D0-4ECB-AD5E-FF3619A866E6}"/>
              </a:ext>
            </a:extLst>
          </p:cNvPr>
          <p:cNvSpPr>
            <a:spLocks xmlns:a="http://schemas.openxmlformats.org/drawingml/2006/main" noGrp="1"/>
          </p:cNvSpPr>
          <p:nvPr/>
        </p:nvSpPr>
        <p:spPr>
          <a:xfrm xmlns:a="http://schemas.openxmlformats.org/drawingml/2006/main">
            <a:off x="781050" y="2381250"/>
            <a:ext cx="27813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L4 receives</a:t>
            </a:r>
          </a:p>
        </p:txBody>
      </p:sp>
      <p:sp>
        <p:nvSpPr>
          <p:cNvPr id="13" name="text-82-310">
            <a:extLst xmlns:a="http://schemas.openxmlformats.org/drawingml/2006/main">
              <a:ext uri="{FF2B5EF4-FFF2-40B4-BE49-F238E27FC236}">
                <a16:creationId xmlns:a16="http://schemas.microsoft.com/office/drawing/2014/main" id="{5E1B19B2-D558-4267-9A43-328298658A0B}"/>
              </a:ext>
            </a:extLst>
          </p:cNvPr>
          <p:cNvSpPr>
            <a:spLocks xmlns:a="http://schemas.openxmlformats.org/drawingml/2006/main" noGrp="1"/>
          </p:cNvSpPr>
          <p:nvPr/>
        </p:nvSpPr>
        <p:spPr>
          <a:xfrm xmlns:a="http://schemas.openxmlformats.org/drawingml/2006/main">
            <a:off x="781050" y="2952750"/>
            <a:ext cx="2781300" cy="228600"/>
          </a:xfrm>
          <a:prstGeom xmlns:a="http://schemas.openxmlformats.org/drawingml/2006/main" prst="rect">
            <a:avLst/>
          </a:prstGeom>
        </p:spPr>
        <p:txBody>
          <a:bodyPr xmlns:a="http://schemas.openxmlformats.org/drawingml/2006/main" wrap="square" lIns="0" tIns="0" rIns="0" bIns="0" anchor="t">
            <a:normAutofit fontScale="95216"/>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Immutable semantics + versioned policy</a:t>
            </a:r>
          </a:p>
        </p:txBody>
      </p:sp>
      <p:sp>
        <p:nvSpPr>
          <p:cNvPr id="14" name="dot-82-362">
            <a:extLst xmlns:a="http://schemas.openxmlformats.org/drawingml/2006/main">
              <a:ext uri="{FF2B5EF4-FFF2-40B4-BE49-F238E27FC236}">
                <a16:creationId xmlns:a16="http://schemas.microsoft.com/office/drawing/2014/main" id="{68AAB549-B5B2-42FD-A23C-B5D2D4337F38}"/>
              </a:ext>
            </a:extLst>
          </p:cNvPr>
          <p:cNvSpPr>
            <a:spLocks xmlns:a="http://schemas.openxmlformats.org/drawingml/2006/main" noGrp="1"/>
          </p:cNvSpPr>
          <p:nvPr/>
        </p:nvSpPr>
        <p:spPr>
          <a:xfrm xmlns:a="http://schemas.openxmlformats.org/drawingml/2006/main">
            <a:off x="7810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2-354">
            <a:extLst xmlns:a="http://schemas.openxmlformats.org/drawingml/2006/main">
              <a:ext uri="{FF2B5EF4-FFF2-40B4-BE49-F238E27FC236}">
                <a16:creationId xmlns:a16="http://schemas.microsoft.com/office/drawing/2014/main" id="{9CA6E212-9295-476D-BFD7-D28BF629A025}"/>
              </a:ext>
            </a:extLst>
          </p:cNvPr>
          <p:cNvSpPr>
            <a:spLocks xmlns:a="http://schemas.openxmlformats.org/drawingml/2006/main" noGrp="1"/>
          </p:cNvSpPr>
          <p:nvPr/>
        </p:nvSpPr>
        <p:spPr>
          <a:xfrm xmlns:a="http://schemas.openxmlformats.org/drawingml/2006/main">
            <a:off x="9715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Unchanged L1 assessment</a:t>
            </a:r>
          </a:p>
        </p:txBody>
      </p:sp>
      <p:sp>
        <p:nvSpPr>
          <p:cNvPr id="16" name="dot-82-416">
            <a:extLst xmlns:a="http://schemas.openxmlformats.org/drawingml/2006/main">
              <a:ext uri="{FF2B5EF4-FFF2-40B4-BE49-F238E27FC236}">
                <a16:creationId xmlns:a16="http://schemas.microsoft.com/office/drawing/2014/main" id="{3729A78D-A319-40E0-B9DF-A3E8F5CE4AE7}"/>
              </a:ext>
            </a:extLst>
          </p:cNvPr>
          <p:cNvSpPr>
            <a:spLocks xmlns:a="http://schemas.openxmlformats.org/drawingml/2006/main" noGrp="1"/>
          </p:cNvSpPr>
          <p:nvPr/>
        </p:nvSpPr>
        <p:spPr>
          <a:xfrm xmlns:a="http://schemas.openxmlformats.org/drawingml/2006/main">
            <a:off x="7810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102-408">
            <a:extLst xmlns:a="http://schemas.openxmlformats.org/drawingml/2006/main">
              <a:ext uri="{FF2B5EF4-FFF2-40B4-BE49-F238E27FC236}">
                <a16:creationId xmlns:a16="http://schemas.microsoft.com/office/drawing/2014/main" id="{A6477598-51D1-4C66-B090-A033E20E4995}"/>
              </a:ext>
            </a:extLst>
          </p:cNvPr>
          <p:cNvSpPr>
            <a:spLocks xmlns:a="http://schemas.openxmlformats.org/drawingml/2006/main" noGrp="1"/>
          </p:cNvSpPr>
          <p:nvPr/>
        </p:nvSpPr>
        <p:spPr>
          <a:xfrm xmlns:a="http://schemas.openxmlformats.org/drawingml/2006/main">
            <a:off x="9715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L3 recurrence + progress</a:t>
            </a:r>
          </a:p>
        </p:txBody>
      </p:sp>
      <p:sp>
        <p:nvSpPr>
          <p:cNvPr id="18" name="dot-82-470">
            <a:extLst xmlns:a="http://schemas.openxmlformats.org/drawingml/2006/main">
              <a:ext uri="{FF2B5EF4-FFF2-40B4-BE49-F238E27FC236}">
                <a16:creationId xmlns:a16="http://schemas.microsoft.com/office/drawing/2014/main" id="{97C62568-0B41-452D-B123-73FCC3FE3E0C}"/>
              </a:ext>
            </a:extLst>
          </p:cNvPr>
          <p:cNvSpPr>
            <a:spLocks xmlns:a="http://schemas.openxmlformats.org/drawingml/2006/main" noGrp="1"/>
          </p:cNvSpPr>
          <p:nvPr/>
        </p:nvSpPr>
        <p:spPr>
          <a:xfrm xmlns:a="http://schemas.openxmlformats.org/drawingml/2006/main">
            <a:off x="7810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102-462">
            <a:extLst xmlns:a="http://schemas.openxmlformats.org/drawingml/2006/main">
              <a:ext uri="{FF2B5EF4-FFF2-40B4-BE49-F238E27FC236}">
                <a16:creationId xmlns:a16="http://schemas.microsoft.com/office/drawing/2014/main" id="{1AE84897-7006-4F8C-BBFA-7B87792648E5}"/>
              </a:ext>
            </a:extLst>
          </p:cNvPr>
          <p:cNvSpPr>
            <a:spLocks xmlns:a="http://schemas.openxmlformats.org/drawingml/2006/main" noGrp="1"/>
          </p:cNvSpPr>
          <p:nvPr/>
        </p:nvSpPr>
        <p:spPr>
          <a:xfrm xmlns:a="http://schemas.openxmlformats.org/drawingml/2006/main">
            <a:off x="9715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Deterministic failure facts</a:t>
            </a:r>
          </a:p>
        </p:txBody>
      </p:sp>
      <p:sp>
        <p:nvSpPr>
          <p:cNvPr id="20" name="box-434-228">
            <a:extLst xmlns:a="http://schemas.openxmlformats.org/drawingml/2006/main">
              <a:ext uri="{FF2B5EF4-FFF2-40B4-BE49-F238E27FC236}">
                <a16:creationId xmlns:a16="http://schemas.microsoft.com/office/drawing/2014/main" id="{C18E8717-5015-47D5-A0C5-8927B47AD929}"/>
              </a:ext>
            </a:extLst>
          </p:cNvPr>
          <p:cNvSpPr>
            <a:spLocks xmlns:a="http://schemas.openxmlformats.org/drawingml/2006/main" noGrp="1"/>
          </p:cNvSpPr>
          <p:nvPr/>
        </p:nvSpPr>
        <p:spPr>
          <a:xfrm xmlns:a="http://schemas.openxmlformats.org/drawingml/2006/main">
            <a:off x="41338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454-250">
            <a:extLst xmlns:a="http://schemas.openxmlformats.org/drawingml/2006/main">
              <a:ext uri="{FF2B5EF4-FFF2-40B4-BE49-F238E27FC236}">
                <a16:creationId xmlns:a16="http://schemas.microsoft.com/office/drawing/2014/main" id="{4A64CE5D-113E-4D9E-9862-3E8BAC75122A}"/>
              </a:ext>
            </a:extLst>
          </p:cNvPr>
          <p:cNvSpPr>
            <a:spLocks xmlns:a="http://schemas.openxmlformats.org/drawingml/2006/main" noGrp="1"/>
          </p:cNvSpPr>
          <p:nvPr/>
        </p:nvSpPr>
        <p:spPr>
          <a:xfrm xmlns:a="http://schemas.openxmlformats.org/drawingml/2006/main">
            <a:off x="4324350" y="2381250"/>
            <a:ext cx="2781300" cy="514350"/>
          </a:xfrm>
          <a:prstGeom xmlns:a="http://schemas.openxmlformats.org/drawingml/2006/main" prst="rect">
            <a:avLst/>
          </a:prstGeom>
        </p:spPr>
        <p:txBody>
          <a:bodyPr xmlns:a="http://schemas.openxmlformats.org/drawingml/2006/main" wrap="square" lIns="0" tIns="0" rIns="0" bIns="0" anchor="t">
            <a:normAutofit fontScale="100000" lnSpcReduction="1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policy does</a:t>
            </a:r>
          </a:p>
        </p:txBody>
      </p:sp>
      <p:sp>
        <p:nvSpPr>
          <p:cNvPr id="22" name="text-454-310">
            <a:extLst xmlns:a="http://schemas.openxmlformats.org/drawingml/2006/main">
              <a:ext uri="{FF2B5EF4-FFF2-40B4-BE49-F238E27FC236}">
                <a16:creationId xmlns:a16="http://schemas.microsoft.com/office/drawing/2014/main" id="{FD2180B6-9D2C-4A94-BB6F-3360EEADD78E}"/>
              </a:ext>
            </a:extLst>
          </p:cNvPr>
          <p:cNvSpPr>
            <a:spLocks xmlns:a="http://schemas.openxmlformats.org/drawingml/2006/main" noGrp="1"/>
          </p:cNvSpPr>
          <p:nvPr/>
        </p:nvSpPr>
        <p:spPr>
          <a:xfrm xmlns:a="http://schemas.openxmlformats.org/drawingml/2006/main">
            <a:off x="43243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Replayable mapping; no model</a:t>
            </a:r>
          </a:p>
        </p:txBody>
      </p:sp>
      <p:sp>
        <p:nvSpPr>
          <p:cNvPr id="23" name="dot-454-362">
            <a:extLst xmlns:a="http://schemas.openxmlformats.org/drawingml/2006/main">
              <a:ext uri="{FF2B5EF4-FFF2-40B4-BE49-F238E27FC236}">
                <a16:creationId xmlns:a16="http://schemas.microsoft.com/office/drawing/2014/main" id="{2B5ABAAE-328B-43DB-BB67-B19F6355BBF4}"/>
              </a:ext>
            </a:extLst>
          </p:cNvPr>
          <p:cNvSpPr>
            <a:spLocks xmlns:a="http://schemas.openxmlformats.org/drawingml/2006/main" noGrp="1"/>
          </p:cNvSpPr>
          <p:nvPr/>
        </p:nvSpPr>
        <p:spPr>
          <a:xfrm xmlns:a="http://schemas.openxmlformats.org/drawingml/2006/main">
            <a:off x="43243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text-474-354">
            <a:extLst xmlns:a="http://schemas.openxmlformats.org/drawingml/2006/main">
              <a:ext uri="{FF2B5EF4-FFF2-40B4-BE49-F238E27FC236}">
                <a16:creationId xmlns:a16="http://schemas.microsoft.com/office/drawing/2014/main" id="{9CC8E4EF-4C62-4E65-A043-4EB6C61778AB}"/>
              </a:ext>
            </a:extLst>
          </p:cNvPr>
          <p:cNvSpPr>
            <a:spLocks xmlns:a="http://schemas.openxmlformats.org/drawingml/2006/main" noGrp="1"/>
          </p:cNvSpPr>
          <p:nvPr/>
        </p:nvSpPr>
        <p:spPr>
          <a:xfrm xmlns:a="http://schemas.openxmlformats.org/drawingml/2006/main">
            <a:off x="45148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Select the retry rule</a:t>
            </a:r>
          </a:p>
        </p:txBody>
      </p:sp>
      <p:sp>
        <p:nvSpPr>
          <p:cNvPr id="25" name="dot-454-416">
            <a:extLst xmlns:a="http://schemas.openxmlformats.org/drawingml/2006/main">
              <a:ext uri="{FF2B5EF4-FFF2-40B4-BE49-F238E27FC236}">
                <a16:creationId xmlns:a16="http://schemas.microsoft.com/office/drawing/2014/main" id="{CBBD01F2-9E0B-4739-BF76-7F02F9DB340D}"/>
              </a:ext>
            </a:extLst>
          </p:cNvPr>
          <p:cNvSpPr>
            <a:spLocks xmlns:a="http://schemas.openxmlformats.org/drawingml/2006/main" noGrp="1"/>
          </p:cNvSpPr>
          <p:nvPr/>
        </p:nvSpPr>
        <p:spPr>
          <a:xfrm xmlns:a="http://schemas.openxmlformats.org/drawingml/2006/main">
            <a:off x="43243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474-408">
            <a:extLst xmlns:a="http://schemas.openxmlformats.org/drawingml/2006/main">
              <a:ext uri="{FF2B5EF4-FFF2-40B4-BE49-F238E27FC236}">
                <a16:creationId xmlns:a16="http://schemas.microsoft.com/office/drawing/2014/main" id="{1494D069-AB8A-4A24-9766-4E838433FEEA}"/>
              </a:ext>
            </a:extLst>
          </p:cNvPr>
          <p:cNvSpPr>
            <a:spLocks xmlns:a="http://schemas.openxmlformats.org/drawingml/2006/main" noGrp="1"/>
          </p:cNvSpPr>
          <p:nvPr/>
        </p:nvSpPr>
        <p:spPr>
          <a:xfrm xmlns:a="http://schemas.openxmlformats.org/drawingml/2006/main">
            <a:off x="45148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Count exact-root no-advance priors</a:t>
            </a:r>
          </a:p>
        </p:txBody>
      </p:sp>
      <p:sp>
        <p:nvSpPr>
          <p:cNvPr id="27" name="dot-454-470">
            <a:extLst xmlns:a="http://schemas.openxmlformats.org/drawingml/2006/main">
              <a:ext uri="{FF2B5EF4-FFF2-40B4-BE49-F238E27FC236}">
                <a16:creationId xmlns:a16="http://schemas.microsoft.com/office/drawing/2014/main" id="{EDCB2778-EADA-461E-973D-2465A5F347BF}"/>
              </a:ext>
            </a:extLst>
          </p:cNvPr>
          <p:cNvSpPr>
            <a:spLocks xmlns:a="http://schemas.openxmlformats.org/drawingml/2006/main" noGrp="1"/>
          </p:cNvSpPr>
          <p:nvPr/>
        </p:nvSpPr>
        <p:spPr>
          <a:xfrm xmlns:a="http://schemas.openxmlformats.org/drawingml/2006/main">
            <a:off x="43243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474-462">
            <a:extLst xmlns:a="http://schemas.openxmlformats.org/drawingml/2006/main">
              <a:ext uri="{FF2B5EF4-FFF2-40B4-BE49-F238E27FC236}">
                <a16:creationId xmlns:a16="http://schemas.microsoft.com/office/drawing/2014/main" id="{D2FDBF89-79F2-4F08-8459-5343202244D4}"/>
              </a:ext>
            </a:extLst>
          </p:cNvPr>
          <p:cNvSpPr>
            <a:spLocks xmlns:a="http://schemas.openxmlformats.org/drawingml/2006/main" noGrp="1"/>
          </p:cNvSpPr>
          <p:nvPr/>
        </p:nvSpPr>
        <p:spPr>
          <a:xfrm xmlns:a="http://schemas.openxmlformats.org/drawingml/2006/main">
            <a:off x="45148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Apply budget; preserve attribution</a:t>
            </a:r>
          </a:p>
        </p:txBody>
      </p:sp>
      <p:sp>
        <p:nvSpPr>
          <p:cNvPr id="29" name="box-806-228">
            <a:extLst xmlns:a="http://schemas.openxmlformats.org/drawingml/2006/main">
              <a:ext uri="{FF2B5EF4-FFF2-40B4-BE49-F238E27FC236}">
                <a16:creationId xmlns:a16="http://schemas.microsoft.com/office/drawing/2014/main" id="{16EC43A0-C165-4FC1-8943-192E174D1BBC}"/>
              </a:ext>
            </a:extLst>
          </p:cNvPr>
          <p:cNvSpPr>
            <a:spLocks xmlns:a="http://schemas.openxmlformats.org/drawingml/2006/main" noGrp="1"/>
          </p:cNvSpPr>
          <p:nvPr/>
        </p:nvSpPr>
        <p:spPr>
          <a:xfrm xmlns:a="http://schemas.openxmlformats.org/drawingml/2006/main">
            <a:off x="7677150" y="2171700"/>
            <a:ext cx="31623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30" name="text-826-250">
            <a:extLst xmlns:a="http://schemas.openxmlformats.org/drawingml/2006/main">
              <a:ext uri="{FF2B5EF4-FFF2-40B4-BE49-F238E27FC236}">
                <a16:creationId xmlns:a16="http://schemas.microsoft.com/office/drawing/2014/main" id="{63C996DE-9285-43D2-877E-E4A36953608D}"/>
              </a:ext>
            </a:extLst>
          </p:cNvPr>
          <p:cNvSpPr>
            <a:spLocks xmlns:a="http://schemas.openxmlformats.org/drawingml/2006/main" noGrp="1"/>
          </p:cNvSpPr>
          <p:nvPr/>
        </p:nvSpPr>
        <p:spPr>
          <a:xfrm xmlns:a="http://schemas.openxmlformats.org/drawingml/2006/main">
            <a:off x="7867650" y="2381250"/>
            <a:ext cx="2781300" cy="5143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000000"/>
                </a:solidFill>
                <a:latin typeface="Helvetica Neue"/>
                <a:ea typeface="Helvetica Neue"/>
                <a:cs typeface="Helvetica Neue"/>
              </a:defRPr>
            </a:pPr>
            <a:r>
              <a:t>What L4 emits</a:t>
            </a:r>
          </a:p>
        </p:txBody>
      </p:sp>
      <p:sp>
        <p:nvSpPr>
          <p:cNvPr id="31" name="text-826-310">
            <a:extLst xmlns:a="http://schemas.openxmlformats.org/drawingml/2006/main">
              <a:ext uri="{FF2B5EF4-FFF2-40B4-BE49-F238E27FC236}">
                <a16:creationId xmlns:a16="http://schemas.microsoft.com/office/drawing/2014/main" id="{B9CD621D-79C4-4765-99E5-90F20A1E69EB}"/>
              </a:ext>
            </a:extLst>
          </p:cNvPr>
          <p:cNvSpPr>
            <a:spLocks xmlns:a="http://schemas.openxmlformats.org/drawingml/2006/main" noGrp="1"/>
          </p:cNvSpPr>
          <p:nvPr/>
        </p:nvSpPr>
        <p:spPr>
          <a:xfrm xmlns:a="http://schemas.openxmlformats.org/drawingml/2006/main">
            <a:off x="7867650" y="2952750"/>
            <a:ext cx="27813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NVRx-consumable result</a:t>
            </a:r>
          </a:p>
        </p:txBody>
      </p:sp>
      <p:sp>
        <p:nvSpPr>
          <p:cNvPr id="32" name="dot-826-362">
            <a:extLst xmlns:a="http://schemas.openxmlformats.org/drawingml/2006/main">
              <a:ext uri="{FF2B5EF4-FFF2-40B4-BE49-F238E27FC236}">
                <a16:creationId xmlns:a16="http://schemas.microsoft.com/office/drawing/2014/main" id="{A4D5F9F5-806C-4E86-98D8-634E9E9775D5}"/>
              </a:ext>
            </a:extLst>
          </p:cNvPr>
          <p:cNvSpPr>
            <a:spLocks xmlns:a="http://schemas.openxmlformats.org/drawingml/2006/main" noGrp="1"/>
          </p:cNvSpPr>
          <p:nvPr/>
        </p:nvSpPr>
        <p:spPr>
          <a:xfrm xmlns:a="http://schemas.openxmlformats.org/drawingml/2006/main">
            <a:off x="786765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46-354">
            <a:extLst xmlns:a="http://schemas.openxmlformats.org/drawingml/2006/main">
              <a:ext uri="{FF2B5EF4-FFF2-40B4-BE49-F238E27FC236}">
                <a16:creationId xmlns:a16="http://schemas.microsoft.com/office/drawing/2014/main" id="{E36A2BDA-007D-4045-81D4-1FA5081557E8}"/>
              </a:ext>
            </a:extLst>
          </p:cNvPr>
          <p:cNvSpPr>
            <a:spLocks xmlns:a="http://schemas.openxmlformats.org/drawingml/2006/main" noGrp="1"/>
          </p:cNvSpPr>
          <p:nvPr/>
        </p:nvSpPr>
        <p:spPr>
          <a:xfrm xmlns:a="http://schemas.openxmlformats.org/drawingml/2006/main">
            <a:off x="8058150" y="33718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Retry rule + policy version</a:t>
            </a:r>
          </a:p>
        </p:txBody>
      </p:sp>
      <p:sp>
        <p:nvSpPr>
          <p:cNvPr id="34" name="dot-826-416">
            <a:extLst xmlns:a="http://schemas.openxmlformats.org/drawingml/2006/main">
              <a:ext uri="{FF2B5EF4-FFF2-40B4-BE49-F238E27FC236}">
                <a16:creationId xmlns:a16="http://schemas.microsoft.com/office/drawing/2014/main" id="{7C380AC4-4795-4BB2-A3F8-72DE52309B59}"/>
              </a:ext>
            </a:extLst>
          </p:cNvPr>
          <p:cNvSpPr>
            <a:spLocks xmlns:a="http://schemas.openxmlformats.org/drawingml/2006/main" noGrp="1"/>
          </p:cNvSpPr>
          <p:nvPr/>
        </p:nvSpPr>
        <p:spPr>
          <a:xfrm xmlns:a="http://schemas.openxmlformats.org/drawingml/2006/main">
            <a:off x="7867650" y="39624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5" name="text-846-408">
            <a:extLst xmlns:a="http://schemas.openxmlformats.org/drawingml/2006/main">
              <a:ext uri="{FF2B5EF4-FFF2-40B4-BE49-F238E27FC236}">
                <a16:creationId xmlns:a16="http://schemas.microsoft.com/office/drawing/2014/main" id="{DA96D7C3-76CD-420D-8F07-1CE7E8D23ED5}"/>
              </a:ext>
            </a:extLst>
          </p:cNvPr>
          <p:cNvSpPr>
            <a:spLocks xmlns:a="http://schemas.openxmlformats.org/drawingml/2006/main" noGrp="1"/>
          </p:cNvSpPr>
          <p:nvPr/>
        </p:nvSpPr>
        <p:spPr>
          <a:xfrm xmlns:a="http://schemas.openxmlformats.org/drawingml/2006/main">
            <a:off x="8058150" y="388620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Prior / allowed + exhausted state</a:t>
            </a:r>
          </a:p>
        </p:txBody>
      </p:sp>
      <p:sp>
        <p:nvSpPr>
          <p:cNvPr id="36" name="dot-826-470">
            <a:extLst xmlns:a="http://schemas.openxmlformats.org/drawingml/2006/main">
              <a:ext uri="{FF2B5EF4-FFF2-40B4-BE49-F238E27FC236}">
                <a16:creationId xmlns:a16="http://schemas.microsoft.com/office/drawing/2014/main" id="{62124110-26B5-4CA7-BC5C-5D09491EA52E}"/>
              </a:ext>
            </a:extLst>
          </p:cNvPr>
          <p:cNvSpPr>
            <a:spLocks xmlns:a="http://schemas.openxmlformats.org/drawingml/2006/main" noGrp="1"/>
          </p:cNvSpPr>
          <p:nvPr/>
        </p:nvSpPr>
        <p:spPr>
          <a:xfrm xmlns:a="http://schemas.openxmlformats.org/drawingml/2006/main">
            <a:off x="7867650" y="44767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7" name="text-846-462">
            <a:extLst xmlns:a="http://schemas.openxmlformats.org/drawingml/2006/main">
              <a:ext uri="{FF2B5EF4-FFF2-40B4-BE49-F238E27FC236}">
                <a16:creationId xmlns:a16="http://schemas.microsoft.com/office/drawing/2014/main" id="{A6111747-2FEB-4B1F-BDD8-3A25F23F4533}"/>
              </a:ext>
            </a:extLst>
          </p:cNvPr>
          <p:cNvSpPr>
            <a:spLocks xmlns:a="http://schemas.openxmlformats.org/drawingml/2006/main" noGrp="1"/>
          </p:cNvSpPr>
          <p:nvPr/>
        </p:nvSpPr>
        <p:spPr>
          <a:xfrm xmlns:a="http://schemas.openxmlformats.org/drawingml/2006/main">
            <a:off x="8058150" y="4400550"/>
            <a:ext cx="2590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Provenance + usability</a:t>
            </a:r>
          </a:p>
        </p:txBody>
      </p:sp>
      <p:sp>
        <p:nvSpPr>
          <p:cNvPr id="38" name="box-62-574">
            <a:extLst xmlns:a="http://schemas.openxmlformats.org/drawingml/2006/main">
              <a:ext uri="{FF2B5EF4-FFF2-40B4-BE49-F238E27FC236}">
                <a16:creationId xmlns:a16="http://schemas.microsoft.com/office/drawing/2014/main" id="{6F8D4551-C523-45BB-B880-9B0BCB4F2A00}"/>
              </a:ext>
            </a:extLst>
          </p:cNvPr>
          <p:cNvSpPr>
            <a:spLocks xmlns:a="http://schemas.openxmlformats.org/drawingml/2006/main" noGrp="1"/>
          </p:cNvSpPr>
          <p:nvPr/>
        </p:nvSpPr>
        <p:spPr>
          <a:xfrm xmlns:a="http://schemas.openxmlformats.org/drawingml/2006/main">
            <a:off x="590550" y="5467350"/>
            <a:ext cx="1097280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9" name="text-86-593">
            <a:extLst xmlns:a="http://schemas.openxmlformats.org/drawingml/2006/main">
              <a:ext uri="{FF2B5EF4-FFF2-40B4-BE49-F238E27FC236}">
                <a16:creationId xmlns:a16="http://schemas.microsoft.com/office/drawing/2014/main" id="{6A5F2A43-1399-44A9-9BCD-5851656455F4}"/>
              </a:ext>
            </a:extLst>
          </p:cNvPr>
          <p:cNvSpPr>
            <a:spLocks xmlns:a="http://schemas.openxmlformats.org/drawingml/2006/main" noGrp="1"/>
          </p:cNvSpPr>
          <p:nvPr/>
        </p:nvSpPr>
        <p:spPr>
          <a:xfrm xmlns:a="http://schemas.openxmlformats.org/drawingml/2006/main">
            <a:off x="819150" y="5648325"/>
            <a:ext cx="8763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D7A5B"/>
                </a:solidFill>
                <a:latin typeface="Helvetica Neue"/>
                <a:ea typeface="Helvetica Neue"/>
                <a:cs typeface="Helvetica Neue"/>
              </a:defRPr>
            </a:pPr>
            <a:r>
              <a:t>OUTPUT</a:t>
            </a:r>
          </a:p>
        </p:txBody>
      </p:sp>
      <p:sp>
        <p:nvSpPr>
          <p:cNvPr id="40" name="text-176-593">
            <a:extLst xmlns:a="http://schemas.openxmlformats.org/drawingml/2006/main">
              <a:ext uri="{FF2B5EF4-FFF2-40B4-BE49-F238E27FC236}">
                <a16:creationId xmlns:a16="http://schemas.microsoft.com/office/drawing/2014/main" id="{1390676A-746F-425B-9CB4-2FF15446570C}"/>
              </a:ext>
            </a:extLst>
          </p:cNvPr>
          <p:cNvSpPr>
            <a:spLocks xmlns:a="http://schemas.openxmlformats.org/drawingml/2006/main" noGrp="1"/>
          </p:cNvSpPr>
          <p:nvPr/>
        </p:nvSpPr>
        <p:spPr>
          <a:xfrm xmlns:a="http://schemas.openxmlformats.org/drawingml/2006/main">
            <a:off x="1676400" y="5648325"/>
            <a:ext cx="3905250" cy="228600"/>
          </a:xfrm>
          <a:prstGeom xmlns:a="http://schemas.openxmlformats.org/drawingml/2006/main" prst="rect">
            <a:avLst/>
          </a:prstGeom>
        </p:spPr>
        <p:txBody>
          <a:bodyPr xmlns:a="http://schemas.openxmlformats.org/drawingml/2006/main" wrap="square" lIns="0" tIns="0" rIns="0" bIns="0" anchor="t">
            <a:normAutofit fontScale="72579"/>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Final action, retry-budget state, decision basis, and stage provenance</a:t>
            </a:r>
          </a:p>
        </p:txBody>
      </p:sp>
      <p:sp>
        <p:nvSpPr>
          <p:cNvPr id="41" name="text-650-593">
            <a:extLst xmlns:a="http://schemas.openxmlformats.org/drawingml/2006/main">
              <a:ext uri="{FF2B5EF4-FFF2-40B4-BE49-F238E27FC236}">
                <a16:creationId xmlns:a16="http://schemas.microsoft.com/office/drawing/2014/main" id="{78B230B8-BCC1-4534-8E62-AD12DE0FCB0D}"/>
              </a:ext>
            </a:extLst>
          </p:cNvPr>
          <p:cNvSpPr>
            <a:spLocks xmlns:a="http://schemas.openxmlformats.org/drawingml/2006/main" noGrp="1"/>
          </p:cNvSpPr>
          <p:nvPr/>
        </p:nvSpPr>
        <p:spPr>
          <a:xfrm xmlns:a="http://schemas.openxmlformats.org/drawingml/2006/main">
            <a:off x="6191250" y="5648325"/>
            <a:ext cx="10668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B25D00"/>
                </a:solidFill>
                <a:latin typeface="Helvetica Neue"/>
                <a:ea typeface="Helvetica Neue"/>
                <a:cs typeface="Helvetica Neue"/>
              </a:defRPr>
            </a:pPr>
            <a:r>
              <a:t>NOT OWNED</a:t>
            </a:r>
          </a:p>
        </p:txBody>
      </p:sp>
      <p:sp>
        <p:nvSpPr>
          <p:cNvPr id="42" name="text-760-593">
            <a:extLst xmlns:a="http://schemas.openxmlformats.org/drawingml/2006/main">
              <a:ext uri="{FF2B5EF4-FFF2-40B4-BE49-F238E27FC236}">
                <a16:creationId xmlns:a16="http://schemas.microsoft.com/office/drawing/2014/main" id="{D6461CE0-5651-4641-A5AC-13692A7A746A}"/>
              </a:ext>
            </a:extLst>
          </p:cNvPr>
          <p:cNvSpPr>
            <a:spLocks xmlns:a="http://schemas.openxmlformats.org/drawingml/2006/main" noGrp="1"/>
          </p:cNvSpPr>
          <p:nvPr/>
        </p:nvSpPr>
        <p:spPr>
          <a:xfrm xmlns:a="http://schemas.openxmlformats.org/drawingml/2006/main">
            <a:off x="7239000" y="5648325"/>
            <a:ext cx="405765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000000"/>
                </a:solidFill>
                <a:latin typeface="Helvetica Neue"/>
                <a:ea typeface="Helvetica Neue"/>
                <a:cs typeface="Helvetica Neue"/>
              </a:defRPr>
            </a:pPr>
            <a:r>
              <a:t>new semantic claims or silent changes to model output</a:t>
            </a:r>
          </a:p>
        </p:txBody>
      </p:sp>
    </p:spTree>
    <p:extLst>
      <p:ext uri="{BB962C8B-B14F-4D97-AF65-F5344CB8AC3E}">
        <p14:creationId xmlns:p14="http://schemas.microsoft.com/office/powerpoint/2010/main" val="152350585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14F762B7-4DD3-4C7E-8C68-2AFBA7865C8C}"/>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L4 EXAMPLE</a:t>
            </a:r>
          </a:p>
        </p:txBody>
      </p:sp>
      <p:sp>
        <p:nvSpPr>
          <p:cNvPr id="2" name="text-42-54">
            <a:extLst xmlns:a="http://schemas.openxmlformats.org/drawingml/2006/main">
              <a:ext uri="{FF2B5EF4-FFF2-40B4-BE49-F238E27FC236}">
                <a16:creationId xmlns:a16="http://schemas.microsoft.com/office/drawing/2014/main" id="{E8BD00EE-AAA1-4C2B-B7D4-E776D77B0210}"/>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A workload-owned failure can still be restartable now</a:t>
            </a:r>
          </a:p>
        </p:txBody>
      </p:sp>
      <p:sp>
        <p:nvSpPr>
          <p:cNvPr id="3" name="line-42-133">
            <a:extLst xmlns:a="http://schemas.openxmlformats.org/drawingml/2006/main">
              <a:ext uri="{FF2B5EF4-FFF2-40B4-BE49-F238E27FC236}">
                <a16:creationId xmlns:a16="http://schemas.microsoft.com/office/drawing/2014/main" id="{A2BE8748-F70E-43BA-9EFE-6B1E7213CA60}"/>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2-174">
            <a:extLst xmlns:a="http://schemas.openxmlformats.org/drawingml/2006/main">
              <a:ext uri="{FF2B5EF4-FFF2-40B4-BE49-F238E27FC236}">
                <a16:creationId xmlns:a16="http://schemas.microsoft.com/office/drawing/2014/main" id="{355B10BE-81F3-4353-85C3-458EABCBEBA4}"/>
              </a:ext>
            </a:extLst>
          </p:cNvPr>
          <p:cNvSpPr>
            <a:spLocks xmlns:a="http://schemas.openxmlformats.org/drawingml/2006/main" noGrp="1"/>
          </p:cNvSpPr>
          <p:nvPr/>
        </p:nvSpPr>
        <p:spPr>
          <a:xfrm xmlns:a="http://schemas.openxmlformats.org/drawingml/2006/main">
            <a:off x="590550" y="1657350"/>
            <a:ext cx="209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L1 attribution</a:t>
            </a:r>
          </a:p>
        </p:txBody>
      </p:sp>
      <p:sp>
        <p:nvSpPr>
          <p:cNvPr id="5" name="text-62-207">
            <a:extLst xmlns:a="http://schemas.openxmlformats.org/drawingml/2006/main">
              <a:ext uri="{FF2B5EF4-FFF2-40B4-BE49-F238E27FC236}">
                <a16:creationId xmlns:a16="http://schemas.microsoft.com/office/drawing/2014/main" id="{812DFB19-4058-417E-A5F1-B7C563C059A0}"/>
              </a:ext>
            </a:extLst>
          </p:cNvPr>
          <p:cNvSpPr>
            <a:spLocks xmlns:a="http://schemas.openxmlformats.org/drawingml/2006/main" noGrp="1"/>
          </p:cNvSpPr>
          <p:nvPr/>
        </p:nvSpPr>
        <p:spPr>
          <a:xfrm xmlns:a="http://schemas.openxmlformats.org/drawingml/2006/main">
            <a:off x="590550" y="1971675"/>
            <a:ext cx="2095500" cy="209550"/>
          </a:xfrm>
          <a:prstGeom xmlns:a="http://schemas.openxmlformats.org/drawingml/2006/main" prst="rect">
            <a:avLst/>
          </a:prstGeom>
        </p:spPr>
        <p:txBody>
          <a:bodyPr xmlns:a="http://schemas.openxmlformats.org/drawingml/2006/main" wrap="square" lIns="0" tIns="0" rIns="0" bIns="0" anchor="t">
            <a:normAutofit fontScale="8007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domain: workload; mechanism: port bind</a:t>
            </a:r>
          </a:p>
        </p:txBody>
      </p:sp>
      <p:sp>
        <p:nvSpPr>
          <p:cNvPr id="6" name="arrow-286-190">
            <a:extLst xmlns:a="http://schemas.openxmlformats.org/drawingml/2006/main">
              <a:ext uri="{FF2B5EF4-FFF2-40B4-BE49-F238E27FC236}">
                <a16:creationId xmlns:a16="http://schemas.microsoft.com/office/drawing/2014/main" id="{DE1B72CA-7C69-4E68-B32A-E67655EA3DC0}"/>
              </a:ext>
            </a:extLst>
          </p:cNvPr>
          <p:cNvSpPr>
            <a:spLocks xmlns:a="http://schemas.openxmlformats.org/drawingml/2006/main" noGrp="1"/>
          </p:cNvSpPr>
          <p:nvPr/>
        </p:nvSpPr>
        <p:spPr>
          <a:xfrm xmlns:a="http://schemas.openxmlformats.org/drawingml/2006/main">
            <a:off x="2724150" y="18097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7" name="box-330-164">
            <a:extLst xmlns:a="http://schemas.openxmlformats.org/drawingml/2006/main">
              <a:ext uri="{FF2B5EF4-FFF2-40B4-BE49-F238E27FC236}">
                <a16:creationId xmlns:a16="http://schemas.microsoft.com/office/drawing/2014/main" id="{1EC5A44F-B6CF-4EF2-9B6F-C4C7051A4678}"/>
              </a:ext>
            </a:extLst>
          </p:cNvPr>
          <p:cNvSpPr>
            <a:spLocks xmlns:a="http://schemas.openxmlformats.org/drawingml/2006/main" noGrp="1"/>
          </p:cNvSpPr>
          <p:nvPr/>
        </p:nvSpPr>
        <p:spPr>
          <a:xfrm xmlns:a="http://schemas.openxmlformats.org/drawingml/2006/main">
            <a:off x="3143250" y="1562100"/>
            <a:ext cx="3371850" cy="8763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350-181">
            <a:extLst xmlns:a="http://schemas.openxmlformats.org/drawingml/2006/main">
              <a:ext uri="{FF2B5EF4-FFF2-40B4-BE49-F238E27FC236}">
                <a16:creationId xmlns:a16="http://schemas.microsoft.com/office/drawing/2014/main" id="{F65A2C11-8298-4317-96B4-58BB7759E407}"/>
              </a:ext>
            </a:extLst>
          </p:cNvPr>
          <p:cNvSpPr>
            <a:spLocks xmlns:a="http://schemas.openxmlformats.org/drawingml/2006/main" noGrp="1"/>
          </p:cNvSpPr>
          <p:nvPr/>
        </p:nvSpPr>
        <p:spPr>
          <a:xfrm xmlns:a="http://schemas.openxmlformats.org/drawingml/2006/main">
            <a:off x="3333750" y="1724025"/>
            <a:ext cx="29908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Recovery assessment</a:t>
            </a:r>
          </a:p>
        </p:txBody>
      </p:sp>
      <p:sp>
        <p:nvSpPr>
          <p:cNvPr id="9" name="text-350-216">
            <a:extLst xmlns:a="http://schemas.openxmlformats.org/drawingml/2006/main">
              <a:ext uri="{FF2B5EF4-FFF2-40B4-BE49-F238E27FC236}">
                <a16:creationId xmlns:a16="http://schemas.microsoft.com/office/drawing/2014/main" id="{63EC2381-0B03-4D9E-B3EB-1996C75573FF}"/>
              </a:ext>
            </a:extLst>
          </p:cNvPr>
          <p:cNvSpPr>
            <a:spLocks xmlns:a="http://schemas.openxmlformats.org/drawingml/2006/main" noGrp="1"/>
          </p:cNvSpPr>
          <p:nvPr/>
        </p:nvSpPr>
        <p:spPr>
          <a:xfrm xmlns:a="http://schemas.openxmlformats.org/drawingml/2006/main">
            <a:off x="3333750" y="2057400"/>
            <a:ext cx="2990850" cy="285750"/>
          </a:xfrm>
          <a:prstGeom xmlns:a="http://schemas.openxmlformats.org/drawingml/2006/main" prst="rect">
            <a:avLst/>
          </a:prstGeom>
        </p:spPr>
        <p:txBody>
          <a:bodyPr xmlns:a="http://schemas.openxmlformats.org/drawingml/2006/main" wrap="square" lIns="0" tIns="0" rIns="0" bIns="0" anchor="t">
            <a:normAutofit fontScale="100000" lnSpcReduction="1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outlook: may_recover; status: supported</a:t>
            </a:r>
          </a:p>
        </p:txBody>
      </p:sp>
      <p:sp>
        <p:nvSpPr>
          <p:cNvPr id="10" name="arrow-696-190">
            <a:extLst xmlns:a="http://schemas.openxmlformats.org/drawingml/2006/main">
              <a:ext uri="{FF2B5EF4-FFF2-40B4-BE49-F238E27FC236}">
                <a16:creationId xmlns:a16="http://schemas.microsoft.com/office/drawing/2014/main" id="{B5DE48B5-1EC2-4DB8-9A44-2E037793AD59}"/>
              </a:ext>
            </a:extLst>
          </p:cNvPr>
          <p:cNvSpPr>
            <a:spLocks xmlns:a="http://schemas.openxmlformats.org/drawingml/2006/main" noGrp="1"/>
          </p:cNvSpPr>
          <p:nvPr/>
        </p:nvSpPr>
        <p:spPr>
          <a:xfrm xmlns:a="http://schemas.openxmlformats.org/drawingml/2006/main">
            <a:off x="6629400" y="18097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box-740-164">
            <a:extLst xmlns:a="http://schemas.openxmlformats.org/drawingml/2006/main">
              <a:ext uri="{FF2B5EF4-FFF2-40B4-BE49-F238E27FC236}">
                <a16:creationId xmlns:a16="http://schemas.microsoft.com/office/drawing/2014/main" id="{74898C62-6424-49B5-9630-9119B885BA00}"/>
              </a:ext>
            </a:extLst>
          </p:cNvPr>
          <p:cNvSpPr>
            <a:spLocks xmlns:a="http://schemas.openxmlformats.org/drawingml/2006/main" noGrp="1"/>
          </p:cNvSpPr>
          <p:nvPr/>
        </p:nvSpPr>
        <p:spPr>
          <a:xfrm xmlns:a="http://schemas.openxmlformats.org/drawingml/2006/main">
            <a:off x="7048500" y="1562100"/>
            <a:ext cx="4514850" cy="87630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2" name="text-760-181">
            <a:extLst xmlns:a="http://schemas.openxmlformats.org/drawingml/2006/main">
              <a:ext uri="{FF2B5EF4-FFF2-40B4-BE49-F238E27FC236}">
                <a16:creationId xmlns:a16="http://schemas.microsoft.com/office/drawing/2014/main" id="{FBE2072E-3B98-42EF-8C45-5C51BEC6F5C6}"/>
              </a:ext>
            </a:extLst>
          </p:cNvPr>
          <p:cNvSpPr>
            <a:spLocks xmlns:a="http://schemas.openxmlformats.org/drawingml/2006/main" noGrp="1"/>
          </p:cNvSpPr>
          <p:nvPr/>
        </p:nvSpPr>
        <p:spPr>
          <a:xfrm xmlns:a="http://schemas.openxmlformats.org/drawingml/2006/main">
            <a:off x="7239000" y="1724025"/>
            <a:ext cx="413385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L3 history</a:t>
            </a:r>
          </a:p>
        </p:txBody>
      </p:sp>
      <p:sp>
        <p:nvSpPr>
          <p:cNvPr id="13" name="text-760-216">
            <a:extLst xmlns:a="http://schemas.openxmlformats.org/drawingml/2006/main">
              <a:ext uri="{FF2B5EF4-FFF2-40B4-BE49-F238E27FC236}">
                <a16:creationId xmlns:a16="http://schemas.microsoft.com/office/drawing/2014/main" id="{005FF7EA-7202-4263-8FE3-1F1B6520EF7D}"/>
              </a:ext>
            </a:extLst>
          </p:cNvPr>
          <p:cNvSpPr>
            <a:spLocks xmlns:a="http://schemas.openxmlformats.org/drawingml/2006/main" noGrp="1"/>
          </p:cNvSpPr>
          <p:nvPr/>
        </p:nvSpPr>
        <p:spPr>
          <a:xfrm xmlns:a="http://schemas.openxmlformats.org/drawingml/2006/main">
            <a:off x="7239000" y="2057400"/>
            <a:ext cx="41338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matching priors: 0</a:t>
            </a:r>
          </a:p>
        </p:txBody>
      </p:sp>
      <p:sp>
        <p:nvSpPr>
          <p:cNvPr id="14" name="box-62-296">
            <a:extLst xmlns:a="http://schemas.openxmlformats.org/drawingml/2006/main">
              <a:ext uri="{FF2B5EF4-FFF2-40B4-BE49-F238E27FC236}">
                <a16:creationId xmlns:a16="http://schemas.microsoft.com/office/drawing/2014/main" id="{86EF6D0C-0C18-4A3B-B248-E7A2BA07C251}"/>
              </a:ext>
            </a:extLst>
          </p:cNvPr>
          <p:cNvSpPr>
            <a:spLocks xmlns:a="http://schemas.openxmlformats.org/drawingml/2006/main" noGrp="1"/>
          </p:cNvSpPr>
          <p:nvPr/>
        </p:nvSpPr>
        <p:spPr>
          <a:xfrm xmlns:a="http://schemas.openxmlformats.org/drawingml/2006/main">
            <a:off x="590550" y="2819400"/>
            <a:ext cx="10972800" cy="12382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5" name="text-82-315">
            <a:extLst xmlns:a="http://schemas.openxmlformats.org/drawingml/2006/main">
              <a:ext uri="{FF2B5EF4-FFF2-40B4-BE49-F238E27FC236}">
                <a16:creationId xmlns:a16="http://schemas.microsoft.com/office/drawing/2014/main" id="{FD2680E7-1C76-4096-B31F-89D73DE8010A}"/>
              </a:ext>
            </a:extLst>
          </p:cNvPr>
          <p:cNvSpPr>
            <a:spLocks xmlns:a="http://schemas.openxmlformats.org/drawingml/2006/main" noGrp="1"/>
          </p:cNvSpPr>
          <p:nvPr/>
        </p:nvSpPr>
        <p:spPr>
          <a:xfrm xmlns:a="http://schemas.openxmlformats.org/drawingml/2006/main">
            <a:off x="781050" y="3000375"/>
            <a:ext cx="142875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CURRENT ATTEMPT</a:t>
            </a:r>
          </a:p>
        </p:txBody>
      </p:sp>
      <p:sp>
        <p:nvSpPr>
          <p:cNvPr id="16" name="text-82-350">
            <a:extLst xmlns:a="http://schemas.openxmlformats.org/drawingml/2006/main">
              <a:ext uri="{FF2B5EF4-FFF2-40B4-BE49-F238E27FC236}">
                <a16:creationId xmlns:a16="http://schemas.microsoft.com/office/drawing/2014/main" id="{8BAC5ED2-CA04-49F4-AB4F-2AD54F2B414D}"/>
              </a:ext>
            </a:extLst>
          </p:cNvPr>
          <p:cNvSpPr>
            <a:spLocks xmlns:a="http://schemas.openxmlformats.org/drawingml/2006/main" noGrp="1"/>
          </p:cNvSpPr>
          <p:nvPr/>
        </p:nvSpPr>
        <p:spPr>
          <a:xfrm xmlns:a="http://schemas.openxmlformats.org/drawingml/2006/main">
            <a:off x="781050" y="3333750"/>
            <a:ext cx="10668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Attribution</a:t>
            </a:r>
          </a:p>
        </p:txBody>
      </p:sp>
      <p:sp>
        <p:nvSpPr>
          <p:cNvPr id="17" name="text-180-350">
            <a:extLst xmlns:a="http://schemas.openxmlformats.org/drawingml/2006/main">
              <a:ext uri="{FF2B5EF4-FFF2-40B4-BE49-F238E27FC236}">
                <a16:creationId xmlns:a16="http://schemas.microsoft.com/office/drawing/2014/main" id="{08F1BC52-19B4-46F5-AB23-21FA237E1386}"/>
              </a:ext>
            </a:extLst>
          </p:cNvPr>
          <p:cNvSpPr>
            <a:spLocks xmlns:a="http://schemas.openxmlformats.org/drawingml/2006/main" noGrp="1"/>
          </p:cNvSpPr>
          <p:nvPr/>
        </p:nvSpPr>
        <p:spPr>
          <a:xfrm xmlns:a="http://schemas.openxmlformats.org/drawingml/2006/main">
            <a:off x="1714500" y="3333750"/>
            <a:ext cx="2247900" cy="228600"/>
          </a:xfrm>
          <a:prstGeom xmlns:a="http://schemas.openxmlformats.org/drawingml/2006/main" prst="rect">
            <a:avLst/>
          </a:prstGeom>
        </p:spPr>
        <p:txBody>
          <a:bodyPr xmlns:a="http://schemas.openxmlformats.org/drawingml/2006/main" wrap="square" lIns="0" tIns="0" rIns="0" bIns="0" anchor="t">
            <a:normAutofit fontScale="95550"/>
          </a:bodyPr>
          <a:lstStyle xmlns:a="http://schemas.openxmlformats.org/drawingml/2006/main"/>
          <a:p xmlns:a="http://schemas.openxmlformats.org/drawingml/2006/main">
            <a:pPr algn="l">
              <a:buNone/>
              <a:defRPr sz="1275" b="0">
                <a:solidFill>
                  <a:srgbClr val="000000"/>
                </a:solidFill>
                <a:latin typeface="Courier New"/>
                <a:ea typeface="Courier New"/>
                <a:cs typeface="Courier New"/>
              </a:defRPr>
            </a:pPr>
            <a:r>
              <a:t>workload-owned collision</a:t>
            </a:r>
          </a:p>
        </p:txBody>
      </p:sp>
      <p:sp>
        <p:nvSpPr>
          <p:cNvPr id="18" name="text-438-350">
            <a:extLst xmlns:a="http://schemas.openxmlformats.org/drawingml/2006/main">
              <a:ext uri="{FF2B5EF4-FFF2-40B4-BE49-F238E27FC236}">
                <a16:creationId xmlns:a16="http://schemas.microsoft.com/office/drawing/2014/main" id="{77BEFA85-E33B-4975-98BB-4292E99E3743}"/>
              </a:ext>
            </a:extLst>
          </p:cNvPr>
          <p:cNvSpPr>
            <a:spLocks xmlns:a="http://schemas.openxmlformats.org/drawingml/2006/main" noGrp="1"/>
          </p:cNvSpPr>
          <p:nvPr/>
        </p:nvSpPr>
        <p:spPr>
          <a:xfrm xmlns:a="http://schemas.openxmlformats.org/drawingml/2006/main">
            <a:off x="4171950" y="3333750"/>
            <a:ext cx="4495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5D6470"/>
                </a:solidFill>
                <a:latin typeface="Helvetica Neue"/>
                <a:ea typeface="Helvetica Neue"/>
                <a:cs typeface="Helvetica Neue"/>
              </a:defRPr>
            </a:pPr>
            <a:r>
              <a:t>The failure is not datacenter infrastructure.</a:t>
            </a:r>
          </a:p>
        </p:txBody>
      </p:sp>
      <p:sp>
        <p:nvSpPr>
          <p:cNvPr id="19" name="text-1060-350">
            <a:extLst xmlns:a="http://schemas.openxmlformats.org/drawingml/2006/main">
              <a:ext uri="{FF2B5EF4-FFF2-40B4-BE49-F238E27FC236}">
                <a16:creationId xmlns:a16="http://schemas.microsoft.com/office/drawing/2014/main" id="{750C3663-CC96-4B4A-81BF-4958EFC1C227}"/>
              </a:ext>
            </a:extLst>
          </p:cNvPr>
          <p:cNvSpPr>
            <a:spLocks xmlns:a="http://schemas.openxmlformats.org/drawingml/2006/main" noGrp="1"/>
          </p:cNvSpPr>
          <p:nvPr/>
        </p:nvSpPr>
        <p:spPr>
          <a:xfrm xmlns:a="http://schemas.openxmlformats.org/drawingml/2006/main">
            <a:off x="10096500" y="3333750"/>
            <a:ext cx="1181100" cy="2476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500" b="1">
                <a:solidFill>
                  <a:srgbClr val="1D7A5B"/>
                </a:solidFill>
                <a:latin typeface="Helvetica Neue"/>
                <a:ea typeface="Helvetica Neue"/>
                <a:cs typeface="Helvetica Neue"/>
              </a:defRPr>
            </a:pPr>
            <a:r>
              <a:t>WORKLOAD</a:t>
            </a:r>
          </a:p>
        </p:txBody>
      </p:sp>
      <p:sp>
        <p:nvSpPr>
          <p:cNvPr id="20" name="text-82-394">
            <a:extLst xmlns:a="http://schemas.openxmlformats.org/drawingml/2006/main">
              <a:ext uri="{FF2B5EF4-FFF2-40B4-BE49-F238E27FC236}">
                <a16:creationId xmlns:a16="http://schemas.microsoft.com/office/drawing/2014/main" id="{6BD885E9-440C-4ED1-8B9C-0CE4C643471C}"/>
              </a:ext>
            </a:extLst>
          </p:cNvPr>
          <p:cNvSpPr>
            <a:spLocks xmlns:a="http://schemas.openxmlformats.org/drawingml/2006/main" noGrp="1"/>
          </p:cNvSpPr>
          <p:nvPr/>
        </p:nvSpPr>
        <p:spPr>
          <a:xfrm xmlns:a="http://schemas.openxmlformats.org/drawingml/2006/main">
            <a:off x="781050" y="3752850"/>
            <a:ext cx="10668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Policy</a:t>
            </a:r>
          </a:p>
        </p:txBody>
      </p:sp>
      <p:sp>
        <p:nvSpPr>
          <p:cNvPr id="21" name="text-180-394">
            <a:extLst xmlns:a="http://schemas.openxmlformats.org/drawingml/2006/main">
              <a:ext uri="{FF2B5EF4-FFF2-40B4-BE49-F238E27FC236}">
                <a16:creationId xmlns:a16="http://schemas.microsoft.com/office/drawing/2014/main" id="{777EBFEB-45EC-46F8-9741-DD2A5E2A72BE}"/>
              </a:ext>
            </a:extLst>
          </p:cNvPr>
          <p:cNvSpPr>
            <a:spLocks xmlns:a="http://schemas.openxmlformats.org/drawingml/2006/main" noGrp="1"/>
          </p:cNvSpPr>
          <p:nvPr/>
        </p:nvSpPr>
        <p:spPr>
          <a:xfrm xmlns:a="http://schemas.openxmlformats.org/drawingml/2006/main">
            <a:off x="1714500" y="3752850"/>
            <a:ext cx="3048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000000"/>
                </a:solidFill>
                <a:latin typeface="Courier New"/>
                <a:ea typeface="Courier New"/>
                <a:cs typeface="Courier New"/>
              </a:defRPr>
            </a:pPr>
            <a:r>
              <a:t>rule: bounded_retry</a:t>
            </a:r>
          </a:p>
        </p:txBody>
      </p:sp>
      <p:sp>
        <p:nvSpPr>
          <p:cNvPr id="22" name="text-520-394">
            <a:extLst xmlns:a="http://schemas.openxmlformats.org/drawingml/2006/main">
              <a:ext uri="{FF2B5EF4-FFF2-40B4-BE49-F238E27FC236}">
                <a16:creationId xmlns:a16="http://schemas.microsoft.com/office/drawing/2014/main" id="{EDB058D6-061B-498B-9ACB-8B71180009C4}"/>
              </a:ext>
            </a:extLst>
          </p:cNvPr>
          <p:cNvSpPr>
            <a:spLocks xmlns:a="http://schemas.openxmlformats.org/drawingml/2006/main" noGrp="1"/>
          </p:cNvSpPr>
          <p:nvPr/>
        </p:nvSpPr>
        <p:spPr>
          <a:xfrm xmlns:a="http://schemas.openxmlformats.org/drawingml/2006/main">
            <a:off x="4953000" y="3752850"/>
            <a:ext cx="45148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0 matching priors; 1 retry allowed.</a:t>
            </a:r>
          </a:p>
        </p:txBody>
      </p:sp>
      <p:sp>
        <p:nvSpPr>
          <p:cNvPr id="23" name="text-1034-394">
            <a:extLst xmlns:a="http://schemas.openxmlformats.org/drawingml/2006/main">
              <a:ext uri="{FF2B5EF4-FFF2-40B4-BE49-F238E27FC236}">
                <a16:creationId xmlns:a16="http://schemas.microsoft.com/office/drawing/2014/main" id="{8930FBFB-88B3-434E-B00C-0B861452267A}"/>
              </a:ext>
            </a:extLst>
          </p:cNvPr>
          <p:cNvSpPr>
            <a:spLocks xmlns:a="http://schemas.openxmlformats.org/drawingml/2006/main" noGrp="1"/>
          </p:cNvSpPr>
          <p:nvPr/>
        </p:nvSpPr>
        <p:spPr>
          <a:xfrm xmlns:a="http://schemas.openxmlformats.org/drawingml/2006/main">
            <a:off x="9848850" y="3752850"/>
            <a:ext cx="1428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1">
                <a:solidFill>
                  <a:srgbClr val="000000"/>
                </a:solidFill>
                <a:latin typeface="Helvetica Neue"/>
                <a:ea typeface="Helvetica Neue"/>
                <a:cs typeface="Helvetica Neue"/>
              </a:defRPr>
            </a:pPr>
            <a:r>
              <a:t>RESTART</a:t>
            </a:r>
          </a:p>
        </p:txBody>
      </p:sp>
      <p:sp>
        <p:nvSpPr>
          <p:cNvPr id="24" name="box-62-448">
            <a:extLst xmlns:a="http://schemas.openxmlformats.org/drawingml/2006/main">
              <a:ext uri="{FF2B5EF4-FFF2-40B4-BE49-F238E27FC236}">
                <a16:creationId xmlns:a16="http://schemas.microsoft.com/office/drawing/2014/main" id="{8571264E-F2AC-49C4-BD55-ED22A3D32FF3}"/>
              </a:ext>
            </a:extLst>
          </p:cNvPr>
          <p:cNvSpPr>
            <a:spLocks xmlns:a="http://schemas.openxmlformats.org/drawingml/2006/main" noGrp="1"/>
          </p:cNvSpPr>
          <p:nvPr/>
        </p:nvSpPr>
        <p:spPr>
          <a:xfrm xmlns:a="http://schemas.openxmlformats.org/drawingml/2006/main">
            <a:off x="590550" y="4267200"/>
            <a:ext cx="10972800" cy="12382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25" name="text-82-467">
            <a:extLst xmlns:a="http://schemas.openxmlformats.org/drawingml/2006/main">
              <a:ext uri="{FF2B5EF4-FFF2-40B4-BE49-F238E27FC236}">
                <a16:creationId xmlns:a16="http://schemas.microsoft.com/office/drawing/2014/main" id="{56555FB5-1791-47D9-B326-825D2442A16D}"/>
              </a:ext>
            </a:extLst>
          </p:cNvPr>
          <p:cNvSpPr>
            <a:spLocks xmlns:a="http://schemas.openxmlformats.org/drawingml/2006/main" noGrp="1"/>
          </p:cNvSpPr>
          <p:nvPr/>
        </p:nvSpPr>
        <p:spPr>
          <a:xfrm xmlns:a="http://schemas.openxmlformats.org/drawingml/2006/main">
            <a:off x="781050" y="4448175"/>
            <a:ext cx="17145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LATER RECURRENCE</a:t>
            </a:r>
          </a:p>
        </p:txBody>
      </p:sp>
      <p:sp>
        <p:nvSpPr>
          <p:cNvPr id="26" name="text-82-502">
            <a:extLst xmlns:a="http://schemas.openxmlformats.org/drawingml/2006/main">
              <a:ext uri="{FF2B5EF4-FFF2-40B4-BE49-F238E27FC236}">
                <a16:creationId xmlns:a16="http://schemas.microsoft.com/office/drawing/2014/main" id="{9A08B14A-6549-4499-9D5F-4D99CDEAFB15}"/>
              </a:ext>
            </a:extLst>
          </p:cNvPr>
          <p:cNvSpPr>
            <a:spLocks xmlns:a="http://schemas.openxmlformats.org/drawingml/2006/main" noGrp="1"/>
          </p:cNvSpPr>
          <p:nvPr/>
        </p:nvSpPr>
        <p:spPr>
          <a:xfrm xmlns:a="http://schemas.openxmlformats.org/drawingml/2006/main">
            <a:off x="781050" y="4781550"/>
            <a:ext cx="10668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History</a:t>
            </a:r>
          </a:p>
        </p:txBody>
      </p:sp>
      <p:sp>
        <p:nvSpPr>
          <p:cNvPr id="27" name="text-180-502">
            <a:extLst xmlns:a="http://schemas.openxmlformats.org/drawingml/2006/main">
              <a:ext uri="{FF2B5EF4-FFF2-40B4-BE49-F238E27FC236}">
                <a16:creationId xmlns:a16="http://schemas.microsoft.com/office/drawing/2014/main" id="{FA489F7F-9114-4B09-A6FE-2D1FBC2B1B9E}"/>
              </a:ext>
            </a:extLst>
          </p:cNvPr>
          <p:cNvSpPr>
            <a:spLocks xmlns:a="http://schemas.openxmlformats.org/drawingml/2006/main" noGrp="1"/>
          </p:cNvSpPr>
          <p:nvPr/>
        </p:nvSpPr>
        <p:spPr>
          <a:xfrm xmlns:a="http://schemas.openxmlformats.org/drawingml/2006/main">
            <a:off x="1714500" y="4781550"/>
            <a:ext cx="2247900" cy="228600"/>
          </a:xfrm>
          <a:prstGeom xmlns:a="http://schemas.openxmlformats.org/drawingml/2006/main" prst="rect">
            <a:avLst/>
          </a:prstGeom>
        </p:spPr>
        <p:txBody>
          <a:bodyPr xmlns:a="http://schemas.openxmlformats.org/drawingml/2006/main" wrap="square" lIns="0" tIns="0" rIns="0" bIns="0" anchor="t">
            <a:normAutofit fontScale="89079"/>
          </a:bodyPr>
          <a:lstStyle xmlns:a="http://schemas.openxmlformats.org/drawingml/2006/main"/>
          <a:p xmlns:a="http://schemas.openxmlformats.org/drawingml/2006/main">
            <a:pPr algn="l">
              <a:buNone/>
              <a:defRPr sz="1275" b="0">
                <a:solidFill>
                  <a:srgbClr val="000000"/>
                </a:solidFill>
                <a:latin typeface="Courier New"/>
                <a:ea typeface="Courier New"/>
                <a:cs typeface="Courier New"/>
              </a:defRPr>
            </a:pPr>
            <a:r>
              <a:t>same root + step unchanged</a:t>
            </a:r>
          </a:p>
        </p:txBody>
      </p:sp>
      <p:sp>
        <p:nvSpPr>
          <p:cNvPr id="28" name="text-438-502">
            <a:extLst xmlns:a="http://schemas.openxmlformats.org/drawingml/2006/main">
              <a:ext uri="{FF2B5EF4-FFF2-40B4-BE49-F238E27FC236}">
                <a16:creationId xmlns:a16="http://schemas.microsoft.com/office/drawing/2014/main" id="{EC86BD1A-6C84-40AB-8945-EF13B22C5367}"/>
              </a:ext>
            </a:extLst>
          </p:cNvPr>
          <p:cNvSpPr>
            <a:spLocks xmlns:a="http://schemas.openxmlformats.org/drawingml/2006/main" noGrp="1"/>
          </p:cNvSpPr>
          <p:nvPr/>
        </p:nvSpPr>
        <p:spPr>
          <a:xfrm xmlns:a="http://schemas.openxmlformats.org/drawingml/2006/main">
            <a:off x="4171950" y="4781550"/>
            <a:ext cx="449580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5D6470"/>
                </a:solidFill>
                <a:latin typeface="Helvetica Neue"/>
                <a:ea typeface="Helvetica Neue"/>
                <a:cs typeface="Helvetica Neue"/>
              </a:defRPr>
            </a:pPr>
            <a:r>
              <a:t>Exact root repeats with a comparable marker that does not advance.</a:t>
            </a:r>
          </a:p>
        </p:txBody>
      </p:sp>
      <p:sp>
        <p:nvSpPr>
          <p:cNvPr id="29" name="text-1060-502">
            <a:extLst xmlns:a="http://schemas.openxmlformats.org/drawingml/2006/main">
              <a:ext uri="{FF2B5EF4-FFF2-40B4-BE49-F238E27FC236}">
                <a16:creationId xmlns:a16="http://schemas.microsoft.com/office/drawing/2014/main" id="{6314DCE2-B013-4DD9-AC47-1149FDE219FB}"/>
              </a:ext>
            </a:extLst>
          </p:cNvPr>
          <p:cNvSpPr>
            <a:spLocks xmlns:a="http://schemas.openxmlformats.org/drawingml/2006/main" noGrp="1"/>
          </p:cNvSpPr>
          <p:nvPr/>
        </p:nvSpPr>
        <p:spPr>
          <a:xfrm xmlns:a="http://schemas.openxmlformats.org/drawingml/2006/main">
            <a:off x="10096500" y="4781550"/>
            <a:ext cx="1181100" cy="247650"/>
          </a:xfrm>
          <a:prstGeom xmlns:a="http://schemas.openxmlformats.org/drawingml/2006/main" prst="rect">
            <a:avLst/>
          </a:prstGeom>
        </p:spPr>
        <p:txBody>
          <a:bodyPr xmlns:a="http://schemas.openxmlformats.org/drawingml/2006/main" wrap="square" lIns="0" tIns="0" rIns="0" bIns="0" anchor="t">
            <a:normAutofit fontScale="58497"/>
          </a:bodyPr>
          <a:lstStyle xmlns:a="http://schemas.openxmlformats.org/drawingml/2006/main"/>
          <a:p xmlns:a="http://schemas.openxmlformats.org/drawingml/2006/main">
            <a:pPr algn="r">
              <a:buNone/>
              <a:defRPr sz="1500" b="1">
                <a:solidFill>
                  <a:srgbClr val="1D7A5B"/>
                </a:solidFill>
                <a:latin typeface="Helvetica Neue"/>
                <a:ea typeface="Helvetica Neue"/>
                <a:cs typeface="Helvetica Neue"/>
              </a:defRPr>
            </a:pPr>
            <a:r>
              <a:t>BUDGET EXHAUSTED</a:t>
            </a:r>
          </a:p>
        </p:txBody>
      </p:sp>
      <p:sp>
        <p:nvSpPr>
          <p:cNvPr id="30" name="text-82-546">
            <a:extLst xmlns:a="http://schemas.openxmlformats.org/drawingml/2006/main">
              <a:ext uri="{FF2B5EF4-FFF2-40B4-BE49-F238E27FC236}">
                <a16:creationId xmlns:a16="http://schemas.microsoft.com/office/drawing/2014/main" id="{59D16CCB-1479-4F6C-8C91-46F0B25B49AB}"/>
              </a:ext>
            </a:extLst>
          </p:cNvPr>
          <p:cNvSpPr>
            <a:spLocks xmlns:a="http://schemas.openxmlformats.org/drawingml/2006/main" noGrp="1"/>
          </p:cNvSpPr>
          <p:nvPr/>
        </p:nvSpPr>
        <p:spPr>
          <a:xfrm xmlns:a="http://schemas.openxmlformats.org/drawingml/2006/main">
            <a:off x="781050" y="5200650"/>
            <a:ext cx="10668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Policy</a:t>
            </a:r>
          </a:p>
        </p:txBody>
      </p:sp>
      <p:sp>
        <p:nvSpPr>
          <p:cNvPr id="31" name="text-180-546">
            <a:extLst xmlns:a="http://schemas.openxmlformats.org/drawingml/2006/main">
              <a:ext uri="{FF2B5EF4-FFF2-40B4-BE49-F238E27FC236}">
                <a16:creationId xmlns:a16="http://schemas.microsoft.com/office/drawing/2014/main" id="{60685ACC-62F8-4C5E-97B1-C48900E9218C}"/>
              </a:ext>
            </a:extLst>
          </p:cNvPr>
          <p:cNvSpPr>
            <a:spLocks xmlns:a="http://schemas.openxmlformats.org/drawingml/2006/main" noGrp="1"/>
          </p:cNvSpPr>
          <p:nvPr/>
        </p:nvSpPr>
        <p:spPr>
          <a:xfrm xmlns:a="http://schemas.openxmlformats.org/drawingml/2006/main">
            <a:off x="1714500" y="5200650"/>
            <a:ext cx="3048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000000"/>
                </a:solidFill>
                <a:latin typeface="Courier New"/>
                <a:ea typeface="Courier New"/>
                <a:cs typeface="Courier New"/>
              </a:defRPr>
            </a:pPr>
            <a:r>
              <a:t>rule: bounded_retry</a:t>
            </a:r>
          </a:p>
        </p:txBody>
      </p:sp>
      <p:sp>
        <p:nvSpPr>
          <p:cNvPr id="32" name="text-520-546">
            <a:extLst xmlns:a="http://schemas.openxmlformats.org/drawingml/2006/main">
              <a:ext uri="{FF2B5EF4-FFF2-40B4-BE49-F238E27FC236}">
                <a16:creationId xmlns:a16="http://schemas.microsoft.com/office/drawing/2014/main" id="{8BE85101-E161-40DC-8137-BCD972D26E74}"/>
              </a:ext>
            </a:extLst>
          </p:cNvPr>
          <p:cNvSpPr>
            <a:spLocks xmlns:a="http://schemas.openxmlformats.org/drawingml/2006/main" noGrp="1"/>
          </p:cNvSpPr>
          <p:nvPr/>
        </p:nvSpPr>
        <p:spPr>
          <a:xfrm xmlns:a="http://schemas.openxmlformats.org/drawingml/2006/main">
            <a:off x="4953000" y="5200650"/>
            <a:ext cx="4514850" cy="228600"/>
          </a:xfrm>
          <a:prstGeom xmlns:a="http://schemas.openxmlformats.org/drawingml/2006/main" prst="rect">
            <a:avLst/>
          </a:prstGeom>
        </p:spPr>
        <p:txBody>
          <a:bodyPr xmlns:a="http://schemas.openxmlformats.org/drawingml/2006/main" wrap="square" lIns="0" tIns="0" rIns="0" bIns="0" anchor="t">
            <a:normAutofit fontScale="100000" lnSpcReduction="2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1 matching prior; 1 retry allowed; budget exhausted.</a:t>
            </a:r>
          </a:p>
        </p:txBody>
      </p:sp>
      <p:sp>
        <p:nvSpPr>
          <p:cNvPr id="33" name="text-1034-546">
            <a:extLst xmlns:a="http://schemas.openxmlformats.org/drawingml/2006/main">
              <a:ext uri="{FF2B5EF4-FFF2-40B4-BE49-F238E27FC236}">
                <a16:creationId xmlns:a16="http://schemas.microsoft.com/office/drawing/2014/main" id="{6677DB6B-46D4-4392-9C76-604A0FBCC5DB}"/>
              </a:ext>
            </a:extLst>
          </p:cNvPr>
          <p:cNvSpPr>
            <a:spLocks xmlns:a="http://schemas.openxmlformats.org/drawingml/2006/main" noGrp="1"/>
          </p:cNvSpPr>
          <p:nvPr/>
        </p:nvSpPr>
        <p:spPr>
          <a:xfrm xmlns:a="http://schemas.openxmlformats.org/drawingml/2006/main">
            <a:off x="9848850" y="5200650"/>
            <a:ext cx="14287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1">
                <a:solidFill>
                  <a:srgbClr val="000000"/>
                </a:solidFill>
                <a:latin typeface="Helvetica Neue"/>
                <a:ea typeface="Helvetica Neue"/>
                <a:cs typeface="Helvetica Neue"/>
              </a:defRPr>
            </a:pPr>
            <a:r>
              <a:t>STOP</a:t>
            </a:r>
          </a:p>
        </p:txBody>
      </p:sp>
      <p:sp>
        <p:nvSpPr>
          <p:cNvPr id="34" name="text-62-615">
            <a:extLst xmlns:a="http://schemas.openxmlformats.org/drawingml/2006/main">
              <a:ext uri="{FF2B5EF4-FFF2-40B4-BE49-F238E27FC236}">
                <a16:creationId xmlns:a16="http://schemas.microsoft.com/office/drawing/2014/main" id="{1F0D17E4-478F-43E6-95B2-8CFAB19EA0A9}"/>
              </a:ext>
            </a:extLst>
          </p:cNvPr>
          <p:cNvSpPr>
            <a:spLocks xmlns:a="http://schemas.openxmlformats.org/drawingml/2006/main" noGrp="1"/>
          </p:cNvSpPr>
          <p:nvPr/>
        </p:nvSpPr>
        <p:spPr>
          <a:xfrm xmlns:a="http://schemas.openxmlformats.org/drawingml/2006/main">
            <a:off x="590550" y="5857875"/>
            <a:ext cx="35623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000000"/>
                </a:solidFill>
                <a:latin typeface="Helvetica Neue"/>
                <a:ea typeface="Helvetica Neue"/>
                <a:cs typeface="Helvetica Neue"/>
              </a:defRPr>
            </a:pPr>
            <a:r>
              <a:t>POLICY PRINCIPLE</a:t>
            </a:r>
          </a:p>
        </p:txBody>
      </p:sp>
      <p:sp>
        <p:nvSpPr>
          <p:cNvPr id="35" name="text-458-606">
            <a:extLst xmlns:a="http://schemas.openxmlformats.org/drawingml/2006/main">
              <a:ext uri="{FF2B5EF4-FFF2-40B4-BE49-F238E27FC236}">
                <a16:creationId xmlns:a16="http://schemas.microsoft.com/office/drawing/2014/main" id="{F8257B82-DC0F-4A10-82F2-067BEA605D95}"/>
              </a:ext>
            </a:extLst>
          </p:cNvPr>
          <p:cNvSpPr>
            <a:spLocks xmlns:a="http://schemas.openxmlformats.org/drawingml/2006/main" noGrp="1"/>
          </p:cNvSpPr>
          <p:nvPr/>
        </p:nvSpPr>
        <p:spPr>
          <a:xfrm xmlns:a="http://schemas.openxmlformats.org/drawingml/2006/main">
            <a:off x="4362450" y="5772150"/>
            <a:ext cx="72009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125" b="0">
                <a:solidFill>
                  <a:srgbClr val="5D6470"/>
                </a:solidFill>
                <a:latin typeface="Helvetica Neue"/>
                <a:ea typeface="Helvetica Neue"/>
                <a:cs typeface="Helvetica Neue"/>
              </a:defRPr>
            </a:pPr>
            <a:r>
              <a:t>Attribution says where the failure belongs. Policy asks whether the next attempt has a credible recovery path. These are related, but they are not the same answer.</a:t>
            </a:r>
          </a:p>
        </p:txBody>
      </p:sp>
    </p:spTree>
    <p:extLst>
      <p:ext uri="{BB962C8B-B14F-4D97-AF65-F5344CB8AC3E}">
        <p14:creationId xmlns:p14="http://schemas.microsoft.com/office/powerpoint/2010/main" val="35167890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42-26">
            <a:extLst xmlns:a="http://schemas.openxmlformats.org/drawingml/2006/main">
              <a:ext uri="{FF2B5EF4-FFF2-40B4-BE49-F238E27FC236}">
                <a16:creationId xmlns:a16="http://schemas.microsoft.com/office/drawing/2014/main" id="{EC469545-2711-46A0-8440-5C9968137E60}"/>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L4 KPIs</a:t>
            </a:r>
          </a:p>
        </p:txBody>
      </p:sp>
      <p:sp>
        <p:nvSpPr>
          <p:cNvPr id="2" name="text-42-54">
            <a:extLst xmlns:a="http://schemas.openxmlformats.org/drawingml/2006/main">
              <a:ext uri="{FF2B5EF4-FFF2-40B4-BE49-F238E27FC236}">
                <a16:creationId xmlns:a16="http://schemas.microsoft.com/office/drawing/2014/main" id="{DDCB30AF-B3E3-4593-A907-9AB09BCE5ACD}"/>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L4 quality is measured most harshly when it emits STOP</a:t>
            </a:r>
          </a:p>
        </p:txBody>
      </p:sp>
      <p:sp>
        <p:nvSpPr>
          <p:cNvPr id="3" name="line-42-133">
            <a:extLst xmlns:a="http://schemas.openxmlformats.org/drawingml/2006/main">
              <a:ext uri="{FF2B5EF4-FFF2-40B4-BE49-F238E27FC236}">
                <a16:creationId xmlns:a16="http://schemas.microsoft.com/office/drawing/2014/main" id="{D6A48527-4E16-4F20-851B-C6172D3501AB}"/>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166">
            <a:extLst xmlns:a="http://schemas.openxmlformats.org/drawingml/2006/main">
              <a:ext uri="{FF2B5EF4-FFF2-40B4-BE49-F238E27FC236}">
                <a16:creationId xmlns:a16="http://schemas.microsoft.com/office/drawing/2014/main" id="{4333308F-18EC-446F-B174-7ED1829BCA33}"/>
              </a:ext>
            </a:extLst>
          </p:cNvPr>
          <p:cNvSpPr>
            <a:spLocks xmlns:a="http://schemas.openxmlformats.org/drawingml/2006/main" noGrp="1"/>
          </p:cNvSpPr>
          <p:nvPr/>
        </p:nvSpPr>
        <p:spPr>
          <a:xfrm xmlns:a="http://schemas.openxmlformats.org/drawingml/2006/main">
            <a:off x="590550" y="1581150"/>
            <a:ext cx="10972800" cy="5143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5" name="text-86-182">
            <a:extLst xmlns:a="http://schemas.openxmlformats.org/drawingml/2006/main">
              <a:ext uri="{FF2B5EF4-FFF2-40B4-BE49-F238E27FC236}">
                <a16:creationId xmlns:a16="http://schemas.microsoft.com/office/drawing/2014/main" id="{77E0456B-27D8-4A11-B6D9-E3EC20BFB187}"/>
              </a:ext>
            </a:extLst>
          </p:cNvPr>
          <p:cNvSpPr>
            <a:spLocks xmlns:a="http://schemas.openxmlformats.org/drawingml/2006/main" noGrp="1"/>
          </p:cNvSpPr>
          <p:nvPr/>
        </p:nvSpPr>
        <p:spPr>
          <a:xfrm xmlns:a="http://schemas.openxmlformats.org/drawingml/2006/main">
            <a:off x="819150" y="1733550"/>
            <a:ext cx="5905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Courier New"/>
                <a:ea typeface="Courier New"/>
                <a:cs typeface="Courier New"/>
              </a:defRPr>
            </a:pPr>
            <a:r>
              <a:t>POLICY GOLD / approved actions + reasons</a:t>
            </a:r>
          </a:p>
        </p:txBody>
      </p:sp>
      <p:sp>
        <p:nvSpPr>
          <p:cNvPr id="6" name="text-822-182">
            <a:extLst xmlns:a="http://schemas.openxmlformats.org/drawingml/2006/main">
              <a:ext uri="{FF2B5EF4-FFF2-40B4-BE49-F238E27FC236}">
                <a16:creationId xmlns:a16="http://schemas.microsoft.com/office/drawing/2014/main" id="{1E2AE78E-8C52-4C36-AD60-74A2960EF5C5}"/>
              </a:ext>
            </a:extLst>
          </p:cNvPr>
          <p:cNvSpPr>
            <a:spLocks xmlns:a="http://schemas.openxmlformats.org/drawingml/2006/main" noGrp="1"/>
          </p:cNvSpPr>
          <p:nvPr/>
        </p:nvSpPr>
        <p:spPr>
          <a:xfrm xmlns:a="http://schemas.openxmlformats.org/drawingml/2006/main">
            <a:off x="7829550" y="1733550"/>
            <a:ext cx="348615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75" b="0">
                <a:solidFill>
                  <a:srgbClr val="5D6470"/>
                </a:solidFill>
                <a:latin typeface="Helvetica Neue"/>
                <a:ea typeface="Helvetica Neue"/>
                <a:cs typeface="Helvetica Neue"/>
              </a:defRPr>
            </a:pPr>
            <a:r>
              <a:t>deterministic replay required</a:t>
            </a:r>
          </a:p>
        </p:txBody>
      </p:sp>
      <p:sp>
        <p:nvSpPr>
          <p:cNvPr id="7" name="box-62-250">
            <a:extLst xmlns:a="http://schemas.openxmlformats.org/drawingml/2006/main">
              <a:ext uri="{FF2B5EF4-FFF2-40B4-BE49-F238E27FC236}">
                <a16:creationId xmlns:a16="http://schemas.microsoft.com/office/drawing/2014/main" id="{0BCEB7CF-E508-4AB3-B56A-BDD937A46D5B}"/>
              </a:ext>
            </a:extLst>
          </p:cNvPr>
          <p:cNvSpPr>
            <a:spLocks xmlns:a="http://schemas.openxmlformats.org/drawingml/2006/main" noGrp="1"/>
          </p:cNvSpPr>
          <p:nvPr/>
        </p:nvSpPr>
        <p:spPr>
          <a:xfrm xmlns:a="http://schemas.openxmlformats.org/drawingml/2006/main">
            <a:off x="590550" y="2381250"/>
            <a:ext cx="6858000" cy="2952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8" name="text-84-272">
            <a:extLst xmlns:a="http://schemas.openxmlformats.org/drawingml/2006/main">
              <a:ext uri="{FF2B5EF4-FFF2-40B4-BE49-F238E27FC236}">
                <a16:creationId xmlns:a16="http://schemas.microsoft.com/office/drawing/2014/main" id="{1F47EA15-6675-440D-8478-997B7B8AC15D}"/>
              </a:ext>
            </a:extLst>
          </p:cNvPr>
          <p:cNvSpPr>
            <a:spLocks xmlns:a="http://schemas.openxmlformats.org/drawingml/2006/main" noGrp="1"/>
          </p:cNvSpPr>
          <p:nvPr/>
        </p:nvSpPr>
        <p:spPr>
          <a:xfrm xmlns:a="http://schemas.openxmlformats.org/drawingml/2006/main">
            <a:off x="800100" y="2590800"/>
            <a:ext cx="2095500" cy="304800"/>
          </a:xfrm>
          <a:prstGeom xmlns:a="http://schemas.openxmlformats.org/drawingml/2006/main" prst="rect">
            <a:avLst/>
          </a:prstGeom>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buNone/>
              <a:defRPr sz="2025" b="1">
                <a:solidFill>
                  <a:srgbClr val="3D8DFF"/>
                </a:solidFill>
                <a:latin typeface="Helvetica Neue"/>
                <a:ea typeface="Helvetica Neue"/>
                <a:cs typeface="Helvetica Neue"/>
              </a:defRPr>
            </a:pPr>
            <a:r>
              <a:t>Policy cases</a:t>
            </a:r>
          </a:p>
        </p:txBody>
      </p:sp>
      <p:sp>
        <p:nvSpPr>
          <p:cNvPr id="9" name="text-84-310">
            <a:extLst xmlns:a="http://schemas.openxmlformats.org/drawingml/2006/main">
              <a:ext uri="{FF2B5EF4-FFF2-40B4-BE49-F238E27FC236}">
                <a16:creationId xmlns:a16="http://schemas.microsoft.com/office/drawing/2014/main" id="{A5D671A5-76E5-48F6-BBDF-912140A17A09}"/>
              </a:ext>
            </a:extLst>
          </p:cNvPr>
          <p:cNvSpPr>
            <a:spLocks xmlns:a="http://schemas.openxmlformats.org/drawingml/2006/main" noGrp="1"/>
          </p:cNvSpPr>
          <p:nvPr/>
        </p:nvSpPr>
        <p:spPr>
          <a:xfrm xmlns:a="http://schemas.openxmlformats.org/drawingml/2006/main">
            <a:off x="800100" y="2952750"/>
            <a:ext cx="59055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A right action with the wrong reason is still a defect</a:t>
            </a:r>
          </a:p>
        </p:txBody>
      </p:sp>
      <p:sp>
        <p:nvSpPr>
          <p:cNvPr id="10" name="dot-84-364">
            <a:extLst xmlns:a="http://schemas.openxmlformats.org/drawingml/2006/main">
              <a:ext uri="{FF2B5EF4-FFF2-40B4-BE49-F238E27FC236}">
                <a16:creationId xmlns:a16="http://schemas.microsoft.com/office/drawing/2014/main" id="{816F61EE-D919-40D8-B9C3-B5FB123CDE49}"/>
              </a:ext>
            </a:extLst>
          </p:cNvPr>
          <p:cNvSpPr>
            <a:spLocks xmlns:a="http://schemas.openxmlformats.org/drawingml/2006/main" noGrp="1"/>
          </p:cNvSpPr>
          <p:nvPr/>
        </p:nvSpPr>
        <p:spPr>
          <a:xfrm xmlns:a="http://schemas.openxmlformats.org/drawingml/2006/main">
            <a:off x="8001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1" name="text-104-356">
            <a:extLst xmlns:a="http://schemas.openxmlformats.org/drawingml/2006/main">
              <a:ext uri="{FF2B5EF4-FFF2-40B4-BE49-F238E27FC236}">
                <a16:creationId xmlns:a16="http://schemas.microsoft.com/office/drawing/2014/main" id="{0A18887B-EAD8-4189-BA08-59ABEF5D88A6}"/>
              </a:ext>
            </a:extLst>
          </p:cNvPr>
          <p:cNvSpPr>
            <a:spLocks xmlns:a="http://schemas.openxmlformats.org/drawingml/2006/main" noGrp="1"/>
          </p:cNvSpPr>
          <p:nvPr/>
        </p:nvSpPr>
        <p:spPr>
          <a:xfrm xmlns:a="http://schemas.openxmlformats.org/drawingml/2006/main">
            <a:off x="990600" y="3390900"/>
            <a:ext cx="28765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General retry: 0 / 3 -&gt; RESTART</a:t>
            </a:r>
          </a:p>
        </p:txBody>
      </p:sp>
      <p:sp>
        <p:nvSpPr>
          <p:cNvPr id="12" name="dot-84-422">
            <a:extLst xmlns:a="http://schemas.openxmlformats.org/drawingml/2006/main">
              <a:ext uri="{FF2B5EF4-FFF2-40B4-BE49-F238E27FC236}">
                <a16:creationId xmlns:a16="http://schemas.microsoft.com/office/drawing/2014/main" id="{E1ED0DDF-F149-4BCD-88C0-8556968454BA}"/>
              </a:ext>
            </a:extLst>
          </p:cNvPr>
          <p:cNvSpPr>
            <a:spLocks xmlns:a="http://schemas.openxmlformats.org/drawingml/2006/main" noGrp="1"/>
          </p:cNvSpPr>
          <p:nvPr/>
        </p:nvSpPr>
        <p:spPr>
          <a:xfrm xmlns:a="http://schemas.openxmlformats.org/drawingml/2006/main">
            <a:off x="8001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3" name="text-104-414">
            <a:extLst xmlns:a="http://schemas.openxmlformats.org/drawingml/2006/main">
              <a:ext uri="{FF2B5EF4-FFF2-40B4-BE49-F238E27FC236}">
                <a16:creationId xmlns:a16="http://schemas.microsoft.com/office/drawing/2014/main" id="{C9639172-DE99-4E7E-B9B6-C86A27A8AD8F}"/>
              </a:ext>
            </a:extLst>
          </p:cNvPr>
          <p:cNvSpPr>
            <a:spLocks xmlns:a="http://schemas.openxmlformats.org/drawingml/2006/main" noGrp="1"/>
          </p:cNvSpPr>
          <p:nvPr/>
        </p:nvSpPr>
        <p:spPr>
          <a:xfrm xmlns:a="http://schemas.openxmlformats.org/drawingml/2006/main">
            <a:off x="990600" y="39433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Workload unrecoverable: 0 allowed -&gt; STOP</a:t>
            </a:r>
          </a:p>
        </p:txBody>
      </p:sp>
      <p:sp>
        <p:nvSpPr>
          <p:cNvPr id="14" name="dot-84-478">
            <a:extLst xmlns:a="http://schemas.openxmlformats.org/drawingml/2006/main">
              <a:ext uri="{FF2B5EF4-FFF2-40B4-BE49-F238E27FC236}">
                <a16:creationId xmlns:a16="http://schemas.microsoft.com/office/drawing/2014/main" id="{90A69F12-3D94-4206-8BC5-630741A0B354}"/>
              </a:ext>
            </a:extLst>
          </p:cNvPr>
          <p:cNvSpPr>
            <a:spLocks xmlns:a="http://schemas.openxmlformats.org/drawingml/2006/main" noGrp="1"/>
          </p:cNvSpPr>
          <p:nvPr/>
        </p:nvSpPr>
        <p:spPr>
          <a:xfrm xmlns:a="http://schemas.openxmlformats.org/drawingml/2006/main">
            <a:off x="8001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5" name="text-104-470">
            <a:extLst xmlns:a="http://schemas.openxmlformats.org/drawingml/2006/main">
              <a:ext uri="{FF2B5EF4-FFF2-40B4-BE49-F238E27FC236}">
                <a16:creationId xmlns:a16="http://schemas.microsoft.com/office/drawing/2014/main" id="{65857144-90DB-4CC1-979A-9F4CA662A0F2}"/>
              </a:ext>
            </a:extLst>
          </p:cNvPr>
          <p:cNvSpPr>
            <a:spLocks xmlns:a="http://schemas.openxmlformats.org/drawingml/2006/main" noGrp="1"/>
          </p:cNvSpPr>
          <p:nvPr/>
        </p:nvSpPr>
        <p:spPr>
          <a:xfrm xmlns:a="http://schemas.openxmlformats.org/drawingml/2006/main">
            <a:off x="990600" y="4476750"/>
            <a:ext cx="28765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Bounded retry: 1 / 1 -&gt; STOP</a:t>
            </a:r>
          </a:p>
        </p:txBody>
      </p:sp>
      <p:sp>
        <p:nvSpPr>
          <p:cNvPr id="16" name="dot-424-364">
            <a:extLst xmlns:a="http://schemas.openxmlformats.org/drawingml/2006/main">
              <a:ext uri="{FF2B5EF4-FFF2-40B4-BE49-F238E27FC236}">
                <a16:creationId xmlns:a16="http://schemas.microsoft.com/office/drawing/2014/main" id="{8FD9F048-FDD8-45DB-A948-5ECF4AC6B4D5}"/>
              </a:ext>
            </a:extLst>
          </p:cNvPr>
          <p:cNvSpPr>
            <a:spLocks xmlns:a="http://schemas.openxmlformats.org/drawingml/2006/main" noGrp="1"/>
          </p:cNvSpPr>
          <p:nvPr/>
        </p:nvSpPr>
        <p:spPr>
          <a:xfrm xmlns:a="http://schemas.openxmlformats.org/drawingml/2006/main">
            <a:off x="4038600" y="34671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44-356">
            <a:extLst xmlns:a="http://schemas.openxmlformats.org/drawingml/2006/main">
              <a:ext uri="{FF2B5EF4-FFF2-40B4-BE49-F238E27FC236}">
                <a16:creationId xmlns:a16="http://schemas.microsoft.com/office/drawing/2014/main" id="{BBA65418-9D1E-4AD9-A259-1EB751F4E8D5}"/>
              </a:ext>
            </a:extLst>
          </p:cNvPr>
          <p:cNvSpPr>
            <a:spLocks xmlns:a="http://schemas.openxmlformats.org/drawingml/2006/main" noGrp="1"/>
          </p:cNvSpPr>
          <p:nvPr/>
        </p:nvSpPr>
        <p:spPr>
          <a:xfrm xmlns:a="http://schemas.openxmlformats.org/drawingml/2006/main">
            <a:off x="4229100" y="3390900"/>
            <a:ext cx="2952750" cy="495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Observed advance after retry -&gt; RESTART</a:t>
            </a:r>
          </a:p>
        </p:txBody>
      </p:sp>
      <p:sp>
        <p:nvSpPr>
          <p:cNvPr id="18" name="dot-424-422">
            <a:extLst xmlns:a="http://schemas.openxmlformats.org/drawingml/2006/main">
              <a:ext uri="{FF2B5EF4-FFF2-40B4-BE49-F238E27FC236}">
                <a16:creationId xmlns:a16="http://schemas.microsoft.com/office/drawing/2014/main" id="{9D131DEB-3173-46E6-B491-A47E5AB89BED}"/>
              </a:ext>
            </a:extLst>
          </p:cNvPr>
          <p:cNvSpPr>
            <a:spLocks xmlns:a="http://schemas.openxmlformats.org/drawingml/2006/main" noGrp="1"/>
          </p:cNvSpPr>
          <p:nvPr/>
        </p:nvSpPr>
        <p:spPr>
          <a:xfrm xmlns:a="http://schemas.openxmlformats.org/drawingml/2006/main">
            <a:off x="4038600" y="40195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44-414">
            <a:extLst xmlns:a="http://schemas.openxmlformats.org/drawingml/2006/main">
              <a:ext uri="{FF2B5EF4-FFF2-40B4-BE49-F238E27FC236}">
                <a16:creationId xmlns:a16="http://schemas.microsoft.com/office/drawing/2014/main" id="{C5D23F93-7EEC-48B2-8565-F2802EBA0664}"/>
              </a:ext>
            </a:extLst>
          </p:cNvPr>
          <p:cNvSpPr>
            <a:spLocks xmlns:a="http://schemas.openxmlformats.org/drawingml/2006/main" noGrp="1"/>
          </p:cNvSpPr>
          <p:nvPr/>
        </p:nvSpPr>
        <p:spPr>
          <a:xfrm xmlns:a="http://schemas.openxmlformats.org/drawingml/2006/main">
            <a:off x="4229100" y="39433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Time-limit exemption applies</a:t>
            </a:r>
          </a:p>
        </p:txBody>
      </p:sp>
      <p:sp>
        <p:nvSpPr>
          <p:cNvPr id="20" name="dot-424-478">
            <a:extLst xmlns:a="http://schemas.openxmlformats.org/drawingml/2006/main">
              <a:ext uri="{FF2B5EF4-FFF2-40B4-BE49-F238E27FC236}">
                <a16:creationId xmlns:a16="http://schemas.microsoft.com/office/drawing/2014/main" id="{C48996BF-E229-42DF-B263-B38ED5F7741F}"/>
              </a:ext>
            </a:extLst>
          </p:cNvPr>
          <p:cNvSpPr>
            <a:spLocks xmlns:a="http://schemas.openxmlformats.org/drawingml/2006/main" noGrp="1"/>
          </p:cNvSpPr>
          <p:nvPr/>
        </p:nvSpPr>
        <p:spPr>
          <a:xfrm xmlns:a="http://schemas.openxmlformats.org/drawingml/2006/main">
            <a:off x="4038600" y="4552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44-470">
            <a:extLst xmlns:a="http://schemas.openxmlformats.org/drawingml/2006/main">
              <a:ext uri="{FF2B5EF4-FFF2-40B4-BE49-F238E27FC236}">
                <a16:creationId xmlns:a16="http://schemas.microsoft.com/office/drawing/2014/main" id="{8AEA797E-62E8-4E92-BED2-44DFBBC46AAD}"/>
              </a:ext>
            </a:extLst>
          </p:cNvPr>
          <p:cNvSpPr>
            <a:spLocks xmlns:a="http://schemas.openxmlformats.org/drawingml/2006/main" noGrp="1"/>
          </p:cNvSpPr>
          <p:nvPr/>
        </p:nvSpPr>
        <p:spPr>
          <a:xfrm xmlns:a="http://schemas.openxmlformats.org/drawingml/2006/main">
            <a:off x="4229100" y="4476750"/>
            <a:ext cx="2952750" cy="4572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Degraded input stays explicit</a:t>
            </a:r>
          </a:p>
        </p:txBody>
      </p:sp>
      <p:sp>
        <p:nvSpPr>
          <p:cNvPr id="22" name="arrow-796-378">
            <a:extLst xmlns:a="http://schemas.openxmlformats.org/drawingml/2006/main">
              <a:ext uri="{FF2B5EF4-FFF2-40B4-BE49-F238E27FC236}">
                <a16:creationId xmlns:a16="http://schemas.microsoft.com/office/drawing/2014/main" id="{8ACFA819-9897-4DD0-82A7-DA11AEE7440F}"/>
              </a:ext>
            </a:extLst>
          </p:cNvPr>
          <p:cNvSpPr>
            <a:spLocks xmlns:a="http://schemas.openxmlformats.org/drawingml/2006/main" noGrp="1"/>
          </p:cNvSpPr>
          <p:nvPr/>
        </p:nvSpPr>
        <p:spPr>
          <a:xfrm xmlns:a="http://schemas.openxmlformats.org/drawingml/2006/main">
            <a:off x="7581900" y="3600450"/>
            <a:ext cx="342900" cy="2667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box-846-250">
            <a:extLst xmlns:a="http://schemas.openxmlformats.org/drawingml/2006/main">
              <a:ext uri="{FF2B5EF4-FFF2-40B4-BE49-F238E27FC236}">
                <a16:creationId xmlns:a16="http://schemas.microsoft.com/office/drawing/2014/main" id="{289D531A-36DF-463F-96D8-7EE060D8F8CF}"/>
              </a:ext>
            </a:extLst>
          </p:cNvPr>
          <p:cNvSpPr>
            <a:spLocks xmlns:a="http://schemas.openxmlformats.org/drawingml/2006/main" noGrp="1"/>
          </p:cNvSpPr>
          <p:nvPr/>
        </p:nvSpPr>
        <p:spPr>
          <a:xfrm xmlns:a="http://schemas.openxmlformats.org/drawingml/2006/main">
            <a:off x="8058150" y="2381250"/>
            <a:ext cx="3505200" cy="2952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4" name="text-868-272">
            <a:extLst xmlns:a="http://schemas.openxmlformats.org/drawingml/2006/main">
              <a:ext uri="{FF2B5EF4-FFF2-40B4-BE49-F238E27FC236}">
                <a16:creationId xmlns:a16="http://schemas.microsoft.com/office/drawing/2014/main" id="{94CC69A8-59FD-4456-8ADC-AFB8FE056533}"/>
              </a:ext>
            </a:extLst>
          </p:cNvPr>
          <p:cNvSpPr>
            <a:spLocks xmlns:a="http://schemas.openxmlformats.org/drawingml/2006/main" noGrp="1"/>
          </p:cNvSpPr>
          <p:nvPr/>
        </p:nvSpPr>
        <p:spPr>
          <a:xfrm xmlns:a="http://schemas.openxmlformats.org/drawingml/2006/main">
            <a:off x="8267700" y="2590800"/>
            <a:ext cx="30861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L4 KPI result</a:t>
            </a:r>
          </a:p>
        </p:txBody>
      </p:sp>
      <p:sp>
        <p:nvSpPr>
          <p:cNvPr id="25" name="text-868-310">
            <a:extLst xmlns:a="http://schemas.openxmlformats.org/drawingml/2006/main">
              <a:ext uri="{FF2B5EF4-FFF2-40B4-BE49-F238E27FC236}">
                <a16:creationId xmlns:a16="http://schemas.microsoft.com/office/drawing/2014/main" id="{9EDCDC2E-D8A9-43FE-962A-875B291E1238}"/>
              </a:ext>
            </a:extLst>
          </p:cNvPr>
          <p:cNvSpPr>
            <a:spLocks xmlns:a="http://schemas.openxmlformats.org/drawingml/2006/main" noGrp="1"/>
          </p:cNvSpPr>
          <p:nvPr/>
        </p:nvSpPr>
        <p:spPr>
          <a:xfrm xmlns:a="http://schemas.openxmlformats.org/drawingml/2006/main">
            <a:off x="8267700" y="2952750"/>
            <a:ext cx="30861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Action quality + usability</a:t>
            </a:r>
          </a:p>
        </p:txBody>
      </p:sp>
      <p:sp>
        <p:nvSpPr>
          <p:cNvPr id="26" name="dot-868-362">
            <a:extLst xmlns:a="http://schemas.openxmlformats.org/drawingml/2006/main">
              <a:ext uri="{FF2B5EF4-FFF2-40B4-BE49-F238E27FC236}">
                <a16:creationId xmlns:a16="http://schemas.microsoft.com/office/drawing/2014/main" id="{1ADDDDFA-0F74-4BF1-8A7A-C3862D3D0EE3}"/>
              </a:ext>
            </a:extLst>
          </p:cNvPr>
          <p:cNvSpPr>
            <a:spLocks xmlns:a="http://schemas.openxmlformats.org/drawingml/2006/main" noGrp="1"/>
          </p:cNvSpPr>
          <p:nvPr/>
        </p:nvSpPr>
        <p:spPr>
          <a:xfrm xmlns:a="http://schemas.openxmlformats.org/drawingml/2006/main">
            <a:off x="8267700" y="3448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7" name="text-888-354">
            <a:extLst xmlns:a="http://schemas.openxmlformats.org/drawingml/2006/main">
              <a:ext uri="{FF2B5EF4-FFF2-40B4-BE49-F238E27FC236}">
                <a16:creationId xmlns:a16="http://schemas.microsoft.com/office/drawing/2014/main" id="{92EA2D61-3797-4F69-A4E9-490C5D3944BA}"/>
              </a:ext>
            </a:extLst>
          </p:cNvPr>
          <p:cNvSpPr>
            <a:spLocks xmlns:a="http://schemas.openxmlformats.org/drawingml/2006/main" noGrp="1"/>
          </p:cNvSpPr>
          <p:nvPr/>
        </p:nvSpPr>
        <p:spPr>
          <a:xfrm xmlns:a="http://schemas.openxmlformats.org/drawingml/2006/main">
            <a:off x="8458200" y="33718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Retry-rule accuracy</a:t>
            </a:r>
          </a:p>
        </p:txBody>
      </p:sp>
      <p:sp>
        <p:nvSpPr>
          <p:cNvPr id="28" name="dot-868-412">
            <a:extLst xmlns:a="http://schemas.openxmlformats.org/drawingml/2006/main">
              <a:ext uri="{FF2B5EF4-FFF2-40B4-BE49-F238E27FC236}">
                <a16:creationId xmlns:a16="http://schemas.microsoft.com/office/drawing/2014/main" id="{168DF127-220E-4353-913E-DDFD44EA7932}"/>
              </a:ext>
            </a:extLst>
          </p:cNvPr>
          <p:cNvSpPr>
            <a:spLocks xmlns:a="http://schemas.openxmlformats.org/drawingml/2006/main" noGrp="1"/>
          </p:cNvSpPr>
          <p:nvPr/>
        </p:nvSpPr>
        <p:spPr>
          <a:xfrm xmlns:a="http://schemas.openxmlformats.org/drawingml/2006/main">
            <a:off x="8267700" y="39243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9" name="text-888-404">
            <a:extLst xmlns:a="http://schemas.openxmlformats.org/drawingml/2006/main">
              <a:ext uri="{FF2B5EF4-FFF2-40B4-BE49-F238E27FC236}">
                <a16:creationId xmlns:a16="http://schemas.microsoft.com/office/drawing/2014/main" id="{43E21E4E-17F8-4618-ADBC-4A329E4ACC6D}"/>
              </a:ext>
            </a:extLst>
          </p:cNvPr>
          <p:cNvSpPr>
            <a:spLocks xmlns:a="http://schemas.openxmlformats.org/drawingml/2006/main" noGrp="1"/>
          </p:cNvSpPr>
          <p:nvPr/>
        </p:nvSpPr>
        <p:spPr>
          <a:xfrm xmlns:a="http://schemas.openxmlformats.org/drawingml/2006/main">
            <a:off x="8458200" y="38481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Count / budget / exhaustion accuracy</a:t>
            </a:r>
          </a:p>
        </p:txBody>
      </p:sp>
      <p:sp>
        <p:nvSpPr>
          <p:cNvPr id="30" name="dot-868-458">
            <a:extLst xmlns:a="http://schemas.openxmlformats.org/drawingml/2006/main">
              <a:ext uri="{FF2B5EF4-FFF2-40B4-BE49-F238E27FC236}">
                <a16:creationId xmlns:a16="http://schemas.microsoft.com/office/drawing/2014/main" id="{AD9F63C3-2E2A-4C01-8FA6-94414A73F311}"/>
              </a:ext>
            </a:extLst>
          </p:cNvPr>
          <p:cNvSpPr>
            <a:spLocks xmlns:a="http://schemas.openxmlformats.org/drawingml/2006/main" noGrp="1"/>
          </p:cNvSpPr>
          <p:nvPr/>
        </p:nvSpPr>
        <p:spPr>
          <a:xfrm xmlns:a="http://schemas.openxmlformats.org/drawingml/2006/main">
            <a:off x="826770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1" name="text-888-450">
            <a:extLst xmlns:a="http://schemas.openxmlformats.org/drawingml/2006/main">
              <a:ext uri="{FF2B5EF4-FFF2-40B4-BE49-F238E27FC236}">
                <a16:creationId xmlns:a16="http://schemas.microsoft.com/office/drawing/2014/main" id="{6EB45F43-A2E4-41E0-B326-5D98459689F8}"/>
              </a:ext>
            </a:extLst>
          </p:cNvPr>
          <p:cNvSpPr>
            <a:spLocks xmlns:a="http://schemas.openxmlformats.org/drawingml/2006/main" noGrp="1"/>
          </p:cNvSpPr>
          <p:nvPr/>
        </p:nvSpPr>
        <p:spPr>
          <a:xfrm xmlns:a="http://schemas.openxmlformats.org/drawingml/2006/main">
            <a:off x="8458200" y="4286250"/>
            <a:ext cx="28575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Action + basis accuracy; false STOP</a:t>
            </a:r>
          </a:p>
        </p:txBody>
      </p:sp>
      <p:sp>
        <p:nvSpPr>
          <p:cNvPr id="32" name="dot-868-508">
            <a:extLst xmlns:a="http://schemas.openxmlformats.org/drawingml/2006/main">
              <a:ext uri="{FF2B5EF4-FFF2-40B4-BE49-F238E27FC236}">
                <a16:creationId xmlns:a16="http://schemas.microsoft.com/office/drawing/2014/main" id="{9E8B35E5-B69E-4A2B-9123-BF3B0E7B741E}"/>
              </a:ext>
            </a:extLst>
          </p:cNvPr>
          <p:cNvSpPr>
            <a:spLocks xmlns:a="http://schemas.openxmlformats.org/drawingml/2006/main" noGrp="1"/>
          </p:cNvSpPr>
          <p:nvPr/>
        </p:nvSpPr>
        <p:spPr>
          <a:xfrm xmlns:a="http://schemas.openxmlformats.org/drawingml/2006/main">
            <a:off x="8267700" y="483870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3" name="text-888-500">
            <a:extLst xmlns:a="http://schemas.openxmlformats.org/drawingml/2006/main">
              <a:ext uri="{FF2B5EF4-FFF2-40B4-BE49-F238E27FC236}">
                <a16:creationId xmlns:a16="http://schemas.microsoft.com/office/drawing/2014/main" id="{A7166908-DB68-4DAA-B282-0D83571DBE95}"/>
              </a:ext>
            </a:extLst>
          </p:cNvPr>
          <p:cNvSpPr>
            <a:spLocks xmlns:a="http://schemas.openxmlformats.org/drawingml/2006/main" noGrp="1"/>
          </p:cNvSpPr>
          <p:nvPr/>
        </p:nvSpPr>
        <p:spPr>
          <a:xfrm xmlns:a="http://schemas.openxmlformats.org/drawingml/2006/main">
            <a:off x="8458200" y="4762500"/>
            <a:ext cx="2857500"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Deadline + NVRx eligibility</a:t>
            </a:r>
          </a:p>
        </p:txBody>
      </p:sp>
      <p:sp>
        <p:nvSpPr>
          <p:cNvPr id="34" name="text-62-598">
            <a:extLst xmlns:a="http://schemas.openxmlformats.org/drawingml/2006/main">
              <a:ext uri="{FF2B5EF4-FFF2-40B4-BE49-F238E27FC236}">
                <a16:creationId xmlns:a16="http://schemas.microsoft.com/office/drawing/2014/main" id="{CD09BC94-862B-46B3-9266-7AE99ED72C72}"/>
              </a:ext>
            </a:extLst>
          </p:cNvPr>
          <p:cNvSpPr>
            <a:spLocks xmlns:a="http://schemas.openxmlformats.org/drawingml/2006/main" noGrp="1"/>
          </p:cNvSpPr>
          <p:nvPr/>
        </p:nvSpPr>
        <p:spPr>
          <a:xfrm xmlns:a="http://schemas.openxmlformats.org/drawingml/2006/main">
            <a:off x="590550" y="5695950"/>
            <a:ext cx="5810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000000"/>
                </a:solidFill>
                <a:latin typeface="Helvetica Neue"/>
                <a:ea typeface="Helvetica Neue"/>
                <a:cs typeface="Helvetica Neue"/>
              </a:defRPr>
            </a:pPr>
            <a:r>
              <a:rPr sz="1050" b="1">
                <a:solidFill>
                  <a:srgbClr val="000000"/>
                </a:solidFill>
                <a:latin typeface="Helvetica Neue"/>
                <a:ea typeface="Helvetica Neue"/>
                <a:cs typeface="Helvetica Neue"/>
              </a:rPr>
              <a:t>PRIORITY  A false STOP wastes a recoverable job; reason coverage keeps policy reviewable.</a:t>
            </a:r>
          </a:p>
        </p:txBody>
      </p:sp>
      <p:sp>
        <p:nvSpPr>
          <p:cNvPr id="35" name="text-850-598">
            <a:extLst xmlns:a="http://schemas.openxmlformats.org/drawingml/2006/main">
              <a:ext uri="{FF2B5EF4-FFF2-40B4-BE49-F238E27FC236}">
                <a16:creationId xmlns:a16="http://schemas.microsoft.com/office/drawing/2014/main" id="{4E3394F1-A674-47C8-8D22-89DB5298A3FA}"/>
              </a:ext>
            </a:extLst>
          </p:cNvPr>
          <p:cNvSpPr>
            <a:spLocks xmlns:a="http://schemas.openxmlformats.org/drawingml/2006/main" noGrp="1"/>
          </p:cNvSpPr>
          <p:nvPr/>
        </p:nvSpPr>
        <p:spPr>
          <a:xfrm xmlns:a="http://schemas.openxmlformats.org/drawingml/2006/main">
            <a:off x="6515100" y="5695950"/>
            <a:ext cx="5048250"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5F6673"/>
                </a:solidFill>
                <a:latin typeface="Helvetica Neue"/>
                <a:ea typeface="Helvetica Neue"/>
                <a:cs typeface="Helvetica Neue"/>
              </a:defRPr>
            </a:pPr>
            <a:r>
              <a:rPr sz="1050" b="0">
                <a:solidFill>
                  <a:srgbClr val="5F6673"/>
                </a:solidFill>
                <a:latin typeface="Helvetica Neue"/>
                <a:ea typeface="Helvetica Neue"/>
                <a:cs typeface="Helvetica Neue"/>
              </a:rPr>
              <a:t>OPERATIONS  policy latency • replay consistency • provenance</a:t>
            </a:r>
          </a:p>
        </p:txBody>
      </p:sp>
    </p:spTree>
    <p:extLst>
      <p:ext uri="{BB962C8B-B14F-4D97-AF65-F5344CB8AC3E}">
        <p14:creationId xmlns:p14="http://schemas.microsoft.com/office/powerpoint/2010/main" val="10623063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42-26">
            <a:extLst xmlns:a="http://schemas.openxmlformats.org/drawingml/2006/main">
              <a:ext uri="{FF2B5EF4-FFF2-40B4-BE49-F238E27FC236}">
                <a16:creationId xmlns:a16="http://schemas.microsoft.com/office/drawing/2014/main" id="{ABD58D02-750C-45CB-94F0-BA27C9474B7A}"/>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B. ACT / WALKTHROUGH</a:t>
            </a:r>
          </a:p>
        </p:txBody>
      </p:sp>
      <p:sp>
        <p:nvSpPr>
          <p:cNvPr id="2" name="text-42-54">
            <a:extLst xmlns:a="http://schemas.openxmlformats.org/drawingml/2006/main">
              <a:ext uri="{FF2B5EF4-FFF2-40B4-BE49-F238E27FC236}">
                <a16:creationId xmlns:a16="http://schemas.microsoft.com/office/drawing/2014/main" id="{3B191F05-9359-47F4-8930-0496041880E8}"/>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One traceback becomes an auditable workload decision</a:t>
            </a:r>
          </a:p>
        </p:txBody>
      </p:sp>
      <p:sp>
        <p:nvSpPr>
          <p:cNvPr id="3" name="line-42-133">
            <a:extLst xmlns:a="http://schemas.openxmlformats.org/drawingml/2006/main">
              <a:ext uri="{FF2B5EF4-FFF2-40B4-BE49-F238E27FC236}">
                <a16:creationId xmlns:a16="http://schemas.microsoft.com/office/drawing/2014/main" id="{4FA29BE3-D9E4-47EA-B72E-BDBB8113A010}"/>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50-182">
            <a:extLst xmlns:a="http://schemas.openxmlformats.org/drawingml/2006/main">
              <a:ext uri="{FF2B5EF4-FFF2-40B4-BE49-F238E27FC236}">
                <a16:creationId xmlns:a16="http://schemas.microsoft.com/office/drawing/2014/main" id="{B09E31F8-AA6C-4C22-B3AC-8599D9F0D5FB}"/>
              </a:ext>
            </a:extLst>
          </p:cNvPr>
          <p:cNvSpPr>
            <a:spLocks xmlns:a="http://schemas.openxmlformats.org/drawingml/2006/main" noGrp="1"/>
          </p:cNvSpPr>
          <p:nvPr/>
        </p:nvSpPr>
        <p:spPr>
          <a:xfrm xmlns:a="http://schemas.openxmlformats.org/drawingml/2006/main">
            <a:off x="476250" y="1733550"/>
            <a:ext cx="4572000" cy="3943350"/>
          </a:xfrm>
          <a:prstGeom xmlns:a="http://schemas.openxmlformats.org/drawingml/2006/main" prst="rect">
            <a:avLst/>
          </a:prstGeom>
          <a:solidFill xmlns:a="http://schemas.openxmlformats.org/drawingml/2006/main">
            <a:srgbClr val="171A1F"/>
          </a:solidFill>
          <a:ln xmlns:a="http://schemas.openxmlformats.org/drawingml/2006/main" w="9525">
            <a:solidFill>
              <a:srgbClr val="171A1F"/>
            </a:solidFill>
            <a:prstDash val="solid"/>
          </a:ln>
        </p:spPr>
        <p:txBody>
          <a:bodyPr xmlns:a="http://schemas.openxmlformats.org/drawingml/2006/main"/>
          <a:lstStyle xmlns:a="http://schemas.openxmlformats.org/drawingml/2006/main"/>
          <a:p xmlns:a="http://schemas.openxmlformats.org/drawingml/2006/main"/>
        </p:txBody>
      </p:sp>
      <p:sp>
        <p:nvSpPr>
          <p:cNvPr id="5" name="text-72-202">
            <a:extLst xmlns:a="http://schemas.openxmlformats.org/drawingml/2006/main">
              <a:ext uri="{FF2B5EF4-FFF2-40B4-BE49-F238E27FC236}">
                <a16:creationId xmlns:a16="http://schemas.microsoft.com/office/drawing/2014/main" id="{DD8D31B0-35CC-4EE6-B414-230EA0FD54ED}"/>
              </a:ext>
            </a:extLst>
          </p:cNvPr>
          <p:cNvSpPr>
            <a:spLocks xmlns:a="http://schemas.openxmlformats.org/drawingml/2006/main" noGrp="1"/>
          </p:cNvSpPr>
          <p:nvPr/>
        </p:nvSpPr>
        <p:spPr>
          <a:xfrm xmlns:a="http://schemas.openxmlformats.org/drawingml/2006/main">
            <a:off x="685800" y="1924050"/>
            <a:ext cx="171450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6DCBF4"/>
                </a:solidFill>
                <a:latin typeface="Helvetica Neue"/>
                <a:ea typeface="Helvetica Neue"/>
                <a:cs typeface="Helvetica Neue"/>
              </a:defRPr>
            </a:pPr>
            <a:r>
              <a:t>OBSERVED LOG</a:t>
            </a:r>
          </a:p>
        </p:txBody>
      </p:sp>
      <p:sp>
        <p:nvSpPr>
          <p:cNvPr id="6" name="text-72-244">
            <a:extLst xmlns:a="http://schemas.openxmlformats.org/drawingml/2006/main">
              <a:ext uri="{FF2B5EF4-FFF2-40B4-BE49-F238E27FC236}">
                <a16:creationId xmlns:a16="http://schemas.microsoft.com/office/drawing/2014/main" id="{59145F92-A0F1-43DE-963A-C82F04FFCF31}"/>
              </a:ext>
            </a:extLst>
          </p:cNvPr>
          <p:cNvSpPr>
            <a:spLocks xmlns:a="http://schemas.openxmlformats.org/drawingml/2006/main" noGrp="1"/>
          </p:cNvSpPr>
          <p:nvPr/>
        </p:nvSpPr>
        <p:spPr>
          <a:xfrm xmlns:a="http://schemas.openxmlformats.org/drawingml/2006/main">
            <a:off x="685800" y="2324100"/>
            <a:ext cx="4114800" cy="2457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0">
                <a:solidFill>
                  <a:srgbClr val="F4F6F8"/>
                </a:solidFill>
                <a:latin typeface="Courier New"/>
                <a:ea typeface="Courier New"/>
                <a:cs typeface="Courier New"/>
              </a:defRPr>
            </a:pPr>
            <a:r>
              <a:t>30952  dgrad_logging.py: hook
30953  grad.detach().cpu()
30955  AcceleratorError:
       operation not permitted
       when stream is capturing
30956  async reporting advice
30957  CUDA_LAUNCH_BLOCKING advice
30958  TORCH_USE_CUDA_DSA advice</a:t>
            </a:r>
          </a:p>
        </p:txBody>
      </p:sp>
      <p:sp>
        <p:nvSpPr>
          <p:cNvPr id="7" name="text-72-526">
            <a:extLst xmlns:a="http://schemas.openxmlformats.org/drawingml/2006/main">
              <a:ext uri="{FF2B5EF4-FFF2-40B4-BE49-F238E27FC236}">
                <a16:creationId xmlns:a16="http://schemas.microsoft.com/office/drawing/2014/main" id="{0560C05C-43AE-4F13-AAB9-71CC129DC184}"/>
              </a:ext>
            </a:extLst>
          </p:cNvPr>
          <p:cNvSpPr>
            <a:spLocks xmlns:a="http://schemas.openxmlformats.org/drawingml/2006/main" noGrp="1"/>
          </p:cNvSpPr>
          <p:nvPr/>
        </p:nvSpPr>
        <p:spPr>
          <a:xfrm xmlns:a="http://schemas.openxmlformats.org/drawingml/2006/main">
            <a:off x="685800" y="5010150"/>
            <a:ext cx="4095750" cy="4572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B9C2CC"/>
                </a:solidFill>
                <a:latin typeface="Helvetica Neue"/>
                <a:ea typeface="Helvetica Neue"/>
                <a:cs typeface="Helvetica Neue"/>
              </a:defRPr>
            </a:pPr>
            <a:r>
              <a:t>Diagnostic advice remains context; line 30955 is the observed exception.</a:t>
            </a:r>
          </a:p>
        </p:txBody>
      </p:sp>
      <p:sp>
        <p:nvSpPr>
          <p:cNvPr id="8" name="box-590-184">
            <a:extLst xmlns:a="http://schemas.openxmlformats.org/drawingml/2006/main">
              <a:ext uri="{FF2B5EF4-FFF2-40B4-BE49-F238E27FC236}">
                <a16:creationId xmlns:a16="http://schemas.microsoft.com/office/drawing/2014/main" id="{DF59DF45-BD07-4311-89E4-10B932FD5205}"/>
              </a:ext>
            </a:extLst>
          </p:cNvPr>
          <p:cNvSpPr>
            <a:spLocks xmlns:a="http://schemas.openxmlformats.org/drawingml/2006/main" noGrp="1"/>
          </p:cNvSpPr>
          <p:nvPr/>
        </p:nvSpPr>
        <p:spPr>
          <a:xfrm xmlns:a="http://schemas.openxmlformats.org/drawingml/2006/main">
            <a:off x="5619750" y="1752600"/>
            <a:ext cx="5905500" cy="6286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9" name="text-606-196">
            <a:extLst xmlns:a="http://schemas.openxmlformats.org/drawingml/2006/main">
              <a:ext uri="{FF2B5EF4-FFF2-40B4-BE49-F238E27FC236}">
                <a16:creationId xmlns:a16="http://schemas.microsoft.com/office/drawing/2014/main" id="{64A17A76-EA0A-4901-A9CD-9ABBEF271D47}"/>
              </a:ext>
            </a:extLst>
          </p:cNvPr>
          <p:cNvSpPr>
            <a:spLocks xmlns:a="http://schemas.openxmlformats.org/drawingml/2006/main" noGrp="1"/>
          </p:cNvSpPr>
          <p:nvPr/>
        </p:nvSpPr>
        <p:spPr>
          <a:xfrm xmlns:a="http://schemas.openxmlformats.org/drawingml/2006/main">
            <a:off x="5772150" y="1866900"/>
            <a:ext cx="4381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L0</a:t>
            </a:r>
          </a:p>
        </p:txBody>
      </p:sp>
      <p:sp>
        <p:nvSpPr>
          <p:cNvPr id="10" name="text-664-193">
            <a:extLst xmlns:a="http://schemas.openxmlformats.org/drawingml/2006/main">
              <a:ext uri="{FF2B5EF4-FFF2-40B4-BE49-F238E27FC236}">
                <a16:creationId xmlns:a16="http://schemas.microsoft.com/office/drawing/2014/main" id="{63EE8A81-9FED-408D-AFEC-C11EBA8516E5}"/>
              </a:ext>
            </a:extLst>
          </p:cNvPr>
          <p:cNvSpPr>
            <a:spLocks xmlns:a="http://schemas.openxmlformats.org/drawingml/2006/main" noGrp="1"/>
          </p:cNvSpPr>
          <p:nvPr/>
        </p:nvSpPr>
        <p:spPr>
          <a:xfrm xmlns:a="http://schemas.openxmlformats.org/drawingml/2006/main">
            <a:off x="6324600" y="1838325"/>
            <a:ext cx="47625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Complete + initial evidence</a:t>
            </a:r>
          </a:p>
        </p:txBody>
      </p:sp>
      <p:sp>
        <p:nvSpPr>
          <p:cNvPr id="11" name="text-664-220">
            <a:extLst xmlns:a="http://schemas.openxmlformats.org/drawingml/2006/main">
              <a:ext uri="{FF2B5EF4-FFF2-40B4-BE49-F238E27FC236}">
                <a16:creationId xmlns:a16="http://schemas.microsoft.com/office/drawing/2014/main" id="{73E058D8-106C-4F08-8017-E5C84443C47F}"/>
              </a:ext>
            </a:extLst>
          </p:cNvPr>
          <p:cNvSpPr>
            <a:spLocks xmlns:a="http://schemas.openxmlformats.org/drawingml/2006/main" noGrp="1"/>
          </p:cNvSpPr>
          <p:nvPr/>
        </p:nvSpPr>
        <p:spPr>
          <a:xfrm xmlns:a="http://schemas.openxmlformats.org/drawingml/2006/main">
            <a:off x="6324600" y="2095500"/>
            <a:ext cx="49530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L0A episode 30955 | DecisionEvidence | bounded L0B context</a:t>
            </a:r>
          </a:p>
        </p:txBody>
      </p:sp>
      <p:sp>
        <p:nvSpPr>
          <p:cNvPr id="12" name="box-590-266">
            <a:extLst xmlns:a="http://schemas.openxmlformats.org/drawingml/2006/main">
              <a:ext uri="{FF2B5EF4-FFF2-40B4-BE49-F238E27FC236}">
                <a16:creationId xmlns:a16="http://schemas.microsoft.com/office/drawing/2014/main" id="{2D0B047D-FC14-4AC8-9581-418064742B81}"/>
              </a:ext>
            </a:extLst>
          </p:cNvPr>
          <p:cNvSpPr>
            <a:spLocks xmlns:a="http://schemas.openxmlformats.org/drawingml/2006/main" noGrp="1"/>
          </p:cNvSpPr>
          <p:nvPr/>
        </p:nvSpPr>
        <p:spPr>
          <a:xfrm xmlns:a="http://schemas.openxmlformats.org/drawingml/2006/main">
            <a:off x="5619750" y="2533650"/>
            <a:ext cx="5905500" cy="6286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3" name="text-606-278">
            <a:extLst xmlns:a="http://schemas.openxmlformats.org/drawingml/2006/main">
              <a:ext uri="{FF2B5EF4-FFF2-40B4-BE49-F238E27FC236}">
                <a16:creationId xmlns:a16="http://schemas.microsoft.com/office/drawing/2014/main" id="{72E9D893-8D39-4DEA-BC4C-747DE65382D6}"/>
              </a:ext>
            </a:extLst>
          </p:cNvPr>
          <p:cNvSpPr>
            <a:spLocks xmlns:a="http://schemas.openxmlformats.org/drawingml/2006/main" noGrp="1"/>
          </p:cNvSpPr>
          <p:nvPr/>
        </p:nvSpPr>
        <p:spPr>
          <a:xfrm xmlns:a="http://schemas.openxmlformats.org/drawingml/2006/main">
            <a:off x="5772150" y="2647950"/>
            <a:ext cx="4381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L1</a:t>
            </a:r>
          </a:p>
        </p:txBody>
      </p:sp>
      <p:sp>
        <p:nvSpPr>
          <p:cNvPr id="14" name="text-664-275">
            <a:extLst xmlns:a="http://schemas.openxmlformats.org/drawingml/2006/main">
              <a:ext uri="{FF2B5EF4-FFF2-40B4-BE49-F238E27FC236}">
                <a16:creationId xmlns:a16="http://schemas.microsoft.com/office/drawing/2014/main" id="{5E5CEE23-F33A-48A5-8C91-B006EE2CE6A8}"/>
              </a:ext>
            </a:extLst>
          </p:cNvPr>
          <p:cNvSpPr>
            <a:spLocks xmlns:a="http://schemas.openxmlformats.org/drawingml/2006/main" noGrp="1"/>
          </p:cNvSpPr>
          <p:nvPr/>
        </p:nvSpPr>
        <p:spPr>
          <a:xfrm xmlns:a="http://schemas.openxmlformats.org/drawingml/2006/main">
            <a:off x="6324600" y="2619375"/>
            <a:ext cx="47625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Recovery assessment</a:t>
            </a:r>
          </a:p>
        </p:txBody>
      </p:sp>
      <p:sp>
        <p:nvSpPr>
          <p:cNvPr id="15" name="text-664-302">
            <a:extLst xmlns:a="http://schemas.openxmlformats.org/drawingml/2006/main">
              <a:ext uri="{FF2B5EF4-FFF2-40B4-BE49-F238E27FC236}">
                <a16:creationId xmlns:a16="http://schemas.microsoft.com/office/drawing/2014/main" id="{ADBE7416-9C50-4999-946B-C10D163CCBEE}"/>
              </a:ext>
            </a:extLst>
          </p:cNvPr>
          <p:cNvSpPr>
            <a:spLocks xmlns:a="http://schemas.openxmlformats.org/drawingml/2006/main" noGrp="1"/>
          </p:cNvSpPr>
          <p:nvPr/>
        </p:nvSpPr>
        <p:spPr>
          <a:xfrm xmlns:a="http://schemas.openxmlformats.org/drawingml/2006/main">
            <a:off x="6324600" y="2876550"/>
            <a:ext cx="4953000" cy="209550"/>
          </a:xfrm>
          <a:prstGeom xmlns:a="http://schemas.openxmlformats.org/drawingml/2006/main" prst="rect">
            <a:avLst/>
          </a:prstGeom>
        </p:spPr>
        <p:txBody>
          <a:bodyPr xmlns:a="http://schemas.openxmlformats.org/drawingml/2006/main" wrap="square" lIns="0" tIns="0" rIns="0" bIns="0" anchor="t">
            <a:normAutofit fontScale="82403" lnSpcReduction="20000"/>
          </a:bodyPr>
          <a:lstStyle xmlns:a="http://schemas.openxmlformats.org/drawingml/2006/main"/>
          <a:p xmlns:a="http://schemas.openxmlformats.org/drawingml/2006/main">
            <a:pPr algn="l">
              <a:buNone/>
              <a:defRPr sz="1125" b="0">
                <a:solidFill>
                  <a:srgbClr val="5D6470"/>
                </a:solidFill>
                <a:latin typeface="Courier New"/>
                <a:ea typeface="Courier New"/>
                <a:cs typeface="Courier New"/>
              </a:defRPr>
            </a:pPr>
            <a:r>
              <a:t>domain: workload (established) | outlook: cannot_recover (established)</a:t>
            </a:r>
          </a:p>
        </p:txBody>
      </p:sp>
      <p:sp>
        <p:nvSpPr>
          <p:cNvPr id="16" name="box-590-348">
            <a:extLst xmlns:a="http://schemas.openxmlformats.org/drawingml/2006/main">
              <a:ext uri="{FF2B5EF4-FFF2-40B4-BE49-F238E27FC236}">
                <a16:creationId xmlns:a16="http://schemas.microsoft.com/office/drawing/2014/main" id="{CEE2DF39-F1C5-4186-BD7B-591FFF29A4B7}"/>
              </a:ext>
            </a:extLst>
          </p:cNvPr>
          <p:cNvSpPr>
            <a:spLocks xmlns:a="http://schemas.openxmlformats.org/drawingml/2006/main" noGrp="1"/>
          </p:cNvSpPr>
          <p:nvPr/>
        </p:nvSpPr>
        <p:spPr>
          <a:xfrm xmlns:a="http://schemas.openxmlformats.org/drawingml/2006/main">
            <a:off x="5619750" y="3314700"/>
            <a:ext cx="5905500" cy="6286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7" name="text-606-360">
            <a:extLst xmlns:a="http://schemas.openxmlformats.org/drawingml/2006/main">
              <a:ext uri="{FF2B5EF4-FFF2-40B4-BE49-F238E27FC236}">
                <a16:creationId xmlns:a16="http://schemas.microsoft.com/office/drawing/2014/main" id="{612AE18E-69B6-4FB4-9FF8-2ABC69AD7FBF}"/>
              </a:ext>
            </a:extLst>
          </p:cNvPr>
          <p:cNvSpPr>
            <a:spLocks xmlns:a="http://schemas.openxmlformats.org/drawingml/2006/main" noGrp="1"/>
          </p:cNvSpPr>
          <p:nvPr/>
        </p:nvSpPr>
        <p:spPr>
          <a:xfrm xmlns:a="http://schemas.openxmlformats.org/drawingml/2006/main">
            <a:off x="5772150" y="3429000"/>
            <a:ext cx="4381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L2</a:t>
            </a:r>
          </a:p>
        </p:txBody>
      </p:sp>
      <p:sp>
        <p:nvSpPr>
          <p:cNvPr id="18" name="text-664-357">
            <a:extLst xmlns:a="http://schemas.openxmlformats.org/drawingml/2006/main">
              <a:ext uri="{FF2B5EF4-FFF2-40B4-BE49-F238E27FC236}">
                <a16:creationId xmlns:a16="http://schemas.microsoft.com/office/drawing/2014/main" id="{EC2A1AC5-E1FB-45D4-979F-F0E74E5C5B2F}"/>
              </a:ext>
            </a:extLst>
          </p:cNvPr>
          <p:cNvSpPr>
            <a:spLocks xmlns:a="http://schemas.openxmlformats.org/drawingml/2006/main" noGrp="1"/>
          </p:cNvSpPr>
          <p:nvPr/>
        </p:nvSpPr>
        <p:spPr>
          <a:xfrm xmlns:a="http://schemas.openxmlformats.org/drawingml/2006/main">
            <a:off x="6324600" y="3400425"/>
            <a:ext cx="4762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Grounding + identity</a:t>
            </a:r>
          </a:p>
        </p:txBody>
      </p:sp>
      <p:sp>
        <p:nvSpPr>
          <p:cNvPr id="19" name="text-664-384">
            <a:extLst xmlns:a="http://schemas.openxmlformats.org/drawingml/2006/main">
              <a:ext uri="{FF2B5EF4-FFF2-40B4-BE49-F238E27FC236}">
                <a16:creationId xmlns:a16="http://schemas.microsoft.com/office/drawing/2014/main" id="{C375F5CC-18BE-4139-9B2D-6C13E5588BA7}"/>
              </a:ext>
            </a:extLst>
          </p:cNvPr>
          <p:cNvSpPr>
            <a:spLocks xmlns:a="http://schemas.openxmlformats.org/drawingml/2006/main" noGrp="1"/>
          </p:cNvSpPr>
          <p:nvPr/>
        </p:nvSpPr>
        <p:spPr>
          <a:xfrm xmlns:a="http://schemas.openxmlformats.org/drawingml/2006/main">
            <a:off x="6324600" y="3657600"/>
            <a:ext cx="49530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source grounded; history identity ready; audit clean</a:t>
            </a:r>
          </a:p>
        </p:txBody>
      </p:sp>
      <p:sp>
        <p:nvSpPr>
          <p:cNvPr id="20" name="box-590-430">
            <a:extLst xmlns:a="http://schemas.openxmlformats.org/drawingml/2006/main">
              <a:ext uri="{FF2B5EF4-FFF2-40B4-BE49-F238E27FC236}">
                <a16:creationId xmlns:a16="http://schemas.microsoft.com/office/drawing/2014/main" id="{026CCCEF-4051-4CE8-90C3-60B483E1A108}"/>
              </a:ext>
            </a:extLst>
          </p:cNvPr>
          <p:cNvSpPr>
            <a:spLocks xmlns:a="http://schemas.openxmlformats.org/drawingml/2006/main" noGrp="1"/>
          </p:cNvSpPr>
          <p:nvPr/>
        </p:nvSpPr>
        <p:spPr>
          <a:xfrm xmlns:a="http://schemas.openxmlformats.org/drawingml/2006/main">
            <a:off x="5619750" y="4095750"/>
            <a:ext cx="5905500" cy="6286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606-442">
            <a:extLst xmlns:a="http://schemas.openxmlformats.org/drawingml/2006/main">
              <a:ext uri="{FF2B5EF4-FFF2-40B4-BE49-F238E27FC236}">
                <a16:creationId xmlns:a16="http://schemas.microsoft.com/office/drawing/2014/main" id="{09179EB3-E14B-476A-979D-906AF7DB0A77}"/>
              </a:ext>
            </a:extLst>
          </p:cNvPr>
          <p:cNvSpPr>
            <a:spLocks xmlns:a="http://schemas.openxmlformats.org/drawingml/2006/main" noGrp="1"/>
          </p:cNvSpPr>
          <p:nvPr/>
        </p:nvSpPr>
        <p:spPr>
          <a:xfrm xmlns:a="http://schemas.openxmlformats.org/drawingml/2006/main">
            <a:off x="5772150" y="4210050"/>
            <a:ext cx="4381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L3</a:t>
            </a:r>
          </a:p>
        </p:txBody>
      </p:sp>
      <p:sp>
        <p:nvSpPr>
          <p:cNvPr id="22" name="text-664-439">
            <a:extLst xmlns:a="http://schemas.openxmlformats.org/drawingml/2006/main">
              <a:ext uri="{FF2B5EF4-FFF2-40B4-BE49-F238E27FC236}">
                <a16:creationId xmlns:a16="http://schemas.microsoft.com/office/drawing/2014/main" id="{5C231A13-E883-4209-84BD-D4F3DC129EFD}"/>
              </a:ext>
            </a:extLst>
          </p:cNvPr>
          <p:cNvSpPr>
            <a:spLocks xmlns:a="http://schemas.openxmlformats.org/drawingml/2006/main" noGrp="1"/>
          </p:cNvSpPr>
          <p:nvPr/>
        </p:nvSpPr>
        <p:spPr>
          <a:xfrm xmlns:a="http://schemas.openxmlformats.org/drawingml/2006/main">
            <a:off x="6324600" y="4181475"/>
            <a:ext cx="47625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History enrichment</a:t>
            </a:r>
          </a:p>
        </p:txBody>
      </p:sp>
      <p:sp>
        <p:nvSpPr>
          <p:cNvPr id="23" name="text-664-466">
            <a:extLst xmlns:a="http://schemas.openxmlformats.org/drawingml/2006/main">
              <a:ext uri="{FF2B5EF4-FFF2-40B4-BE49-F238E27FC236}">
                <a16:creationId xmlns:a16="http://schemas.microsoft.com/office/drawing/2014/main" id="{A7C697B5-1FB8-47BF-A028-1A1628DCAA22}"/>
              </a:ext>
            </a:extLst>
          </p:cNvPr>
          <p:cNvSpPr>
            <a:spLocks xmlns:a="http://schemas.openxmlformats.org/drawingml/2006/main" noGrp="1"/>
          </p:cNvSpPr>
          <p:nvPr/>
        </p:nvSpPr>
        <p:spPr>
          <a:xfrm xmlns:a="http://schemas.openxmlformats.org/drawingml/2006/main">
            <a:off x="6324600" y="4438650"/>
            <a:ext cx="49530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no compatible recurrence available</a:t>
            </a:r>
          </a:p>
        </p:txBody>
      </p:sp>
      <p:sp>
        <p:nvSpPr>
          <p:cNvPr id="24" name="box-590-512">
            <a:extLst xmlns:a="http://schemas.openxmlformats.org/drawingml/2006/main">
              <a:ext uri="{FF2B5EF4-FFF2-40B4-BE49-F238E27FC236}">
                <a16:creationId xmlns:a16="http://schemas.microsoft.com/office/drawing/2014/main" id="{8F4C9F4F-55C7-4287-9B4D-F78DB121B72C}"/>
              </a:ext>
            </a:extLst>
          </p:cNvPr>
          <p:cNvSpPr>
            <a:spLocks xmlns:a="http://schemas.openxmlformats.org/drawingml/2006/main" noGrp="1"/>
          </p:cNvSpPr>
          <p:nvPr/>
        </p:nvSpPr>
        <p:spPr>
          <a:xfrm xmlns:a="http://schemas.openxmlformats.org/drawingml/2006/main">
            <a:off x="5619750" y="4876800"/>
            <a:ext cx="5905500" cy="6286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25" name="text-606-524">
            <a:extLst xmlns:a="http://schemas.openxmlformats.org/drawingml/2006/main">
              <a:ext uri="{FF2B5EF4-FFF2-40B4-BE49-F238E27FC236}">
                <a16:creationId xmlns:a16="http://schemas.microsoft.com/office/drawing/2014/main" id="{CEB6B90D-F097-4CA6-B2DC-2EBE2BD500CC}"/>
              </a:ext>
            </a:extLst>
          </p:cNvPr>
          <p:cNvSpPr>
            <a:spLocks xmlns:a="http://schemas.openxmlformats.org/drawingml/2006/main" noGrp="1"/>
          </p:cNvSpPr>
          <p:nvPr/>
        </p:nvSpPr>
        <p:spPr>
          <a:xfrm xmlns:a="http://schemas.openxmlformats.org/drawingml/2006/main">
            <a:off x="5772150" y="4991100"/>
            <a:ext cx="43815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1">
                <a:solidFill>
                  <a:srgbClr val="3D8DFF"/>
                </a:solidFill>
                <a:latin typeface="Helvetica Neue"/>
                <a:ea typeface="Helvetica Neue"/>
                <a:cs typeface="Helvetica Neue"/>
              </a:defRPr>
            </a:pPr>
            <a:r>
              <a:t>L4</a:t>
            </a:r>
          </a:p>
        </p:txBody>
      </p:sp>
      <p:sp>
        <p:nvSpPr>
          <p:cNvPr id="26" name="text-664-521">
            <a:extLst xmlns:a="http://schemas.openxmlformats.org/drawingml/2006/main">
              <a:ext uri="{FF2B5EF4-FFF2-40B4-BE49-F238E27FC236}">
                <a16:creationId xmlns:a16="http://schemas.microsoft.com/office/drawing/2014/main" id="{33BDE42B-5DE1-4C8C-9589-A1DE40B8250A}"/>
              </a:ext>
            </a:extLst>
          </p:cNvPr>
          <p:cNvSpPr>
            <a:spLocks xmlns:a="http://schemas.openxmlformats.org/drawingml/2006/main" noGrp="1"/>
          </p:cNvSpPr>
          <p:nvPr/>
        </p:nvSpPr>
        <p:spPr>
          <a:xfrm xmlns:a="http://schemas.openxmlformats.org/drawingml/2006/main">
            <a:off x="6324600" y="4962525"/>
            <a:ext cx="47625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Retry rule + budget</a:t>
            </a:r>
          </a:p>
        </p:txBody>
      </p:sp>
      <p:sp>
        <p:nvSpPr>
          <p:cNvPr id="27" name="text-664-548">
            <a:extLst xmlns:a="http://schemas.openxmlformats.org/drawingml/2006/main">
              <a:ext uri="{FF2B5EF4-FFF2-40B4-BE49-F238E27FC236}">
                <a16:creationId xmlns:a16="http://schemas.microsoft.com/office/drawing/2014/main" id="{E13346FA-6076-4DB4-BA60-8F787549D51F}"/>
              </a:ext>
            </a:extLst>
          </p:cNvPr>
          <p:cNvSpPr>
            <a:spLocks xmlns:a="http://schemas.openxmlformats.org/drawingml/2006/main" noGrp="1"/>
          </p:cNvSpPr>
          <p:nvPr/>
        </p:nvSpPr>
        <p:spPr>
          <a:xfrm xmlns:a="http://schemas.openxmlformats.org/drawingml/2006/main">
            <a:off x="6324600" y="5219700"/>
            <a:ext cx="4953000" cy="2095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0">
                <a:solidFill>
                  <a:srgbClr val="5D6470"/>
                </a:solidFill>
                <a:latin typeface="Courier New"/>
                <a:ea typeface="Courier New"/>
                <a:cs typeface="Courier New"/>
              </a:defRPr>
            </a:pPr>
            <a:r>
              <a:t>workload_unrecoverable | allowed=0 | STOP</a:t>
            </a:r>
          </a:p>
        </p:txBody>
      </p:sp>
      <p:sp>
        <p:nvSpPr>
          <p:cNvPr id="28" name="text-590-604">
            <a:extLst xmlns:a="http://schemas.openxmlformats.org/drawingml/2006/main">
              <a:ext uri="{FF2B5EF4-FFF2-40B4-BE49-F238E27FC236}">
                <a16:creationId xmlns:a16="http://schemas.microsoft.com/office/drawing/2014/main" id="{CBF0E44F-A3D0-4E77-B309-76DD011C1C2C}"/>
              </a:ext>
            </a:extLst>
          </p:cNvPr>
          <p:cNvSpPr>
            <a:spLocks xmlns:a="http://schemas.openxmlformats.org/drawingml/2006/main" noGrp="1"/>
          </p:cNvSpPr>
          <p:nvPr/>
        </p:nvSpPr>
        <p:spPr>
          <a:xfrm xmlns:a="http://schemas.openxmlformats.org/drawingml/2006/main">
            <a:off x="5619750" y="5753100"/>
            <a:ext cx="4476750" cy="2476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Prompt tuning clarified the reasoning contract</a:t>
            </a:r>
          </a:p>
        </p:txBody>
      </p:sp>
      <p:sp>
        <p:nvSpPr>
          <p:cNvPr id="29" name="text-590-636">
            <a:extLst xmlns:a="http://schemas.openxmlformats.org/drawingml/2006/main">
              <a:ext uri="{FF2B5EF4-FFF2-40B4-BE49-F238E27FC236}">
                <a16:creationId xmlns:a16="http://schemas.microsoft.com/office/drawing/2014/main" id="{141F4506-4311-4A9C-AC02-1AA6575658FA}"/>
              </a:ext>
            </a:extLst>
          </p:cNvPr>
          <p:cNvSpPr>
            <a:spLocks xmlns:a="http://schemas.openxmlformats.org/drawingml/2006/main" noGrp="1"/>
          </p:cNvSpPr>
          <p:nvPr/>
        </p:nvSpPr>
        <p:spPr>
          <a:xfrm xmlns:a="http://schemas.openxmlformats.org/drawingml/2006/main">
            <a:off x="5619750" y="6057900"/>
            <a:ext cx="5905500" cy="304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The log directly establishes workload ownership and unchanged-retry failure.</a:t>
            </a:r>
          </a:p>
        </p:txBody>
      </p:sp>
      <p:sp>
        <p:nvSpPr>
          <p:cNvPr id="30" name="text-50-668">
            <a:extLst xmlns:a="http://schemas.openxmlformats.org/drawingml/2006/main">
              <a:ext uri="{FF2B5EF4-FFF2-40B4-BE49-F238E27FC236}">
                <a16:creationId xmlns:a16="http://schemas.microsoft.com/office/drawing/2014/main" id="{6B5B85ED-03F9-48AD-B1B9-78DE69B6A456}"/>
              </a:ext>
            </a:extLst>
          </p:cNvPr>
          <p:cNvSpPr>
            <a:spLocks xmlns:a="http://schemas.openxmlformats.org/drawingml/2006/main" noGrp="1"/>
          </p:cNvSpPr>
          <p:nvPr/>
        </p:nvSpPr>
        <p:spPr>
          <a:xfrm xmlns:a="http://schemas.openxmlformats.org/drawingml/2006/main">
            <a:off x="476250" y="6362700"/>
            <a:ext cx="8001000" cy="171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00" b="0">
                <a:solidFill>
                  <a:srgbClr val="5D6470"/>
                </a:solidFill>
                <a:latin typeface="Helvetica Neue"/>
                <a:ea typeface="Helvetica Neue"/>
                <a:cs typeface="Helvetica Neue"/>
              </a:defRPr>
            </a:pPr>
            <a:r>
              <a:t>Exploratory case; terminal/manual; not a corpus accuracy claim</a:t>
            </a:r>
          </a:p>
        </p:txBody>
      </p:sp>
    </p:spTree>
    <p:extLst>
      <p:ext uri="{BB962C8B-B14F-4D97-AF65-F5344CB8AC3E}">
        <p14:creationId xmlns:p14="http://schemas.microsoft.com/office/powerpoint/2010/main" val="18603860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42-26">
            <a:extLst xmlns:a="http://schemas.openxmlformats.org/drawingml/2006/main">
              <a:ext uri="{FF2B5EF4-FFF2-40B4-BE49-F238E27FC236}">
                <a16:creationId xmlns:a16="http://schemas.microsoft.com/office/drawing/2014/main" id="{131AF124-FDC1-4090-9067-6E6FE4563243}"/>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A. TUNE / HARNESS</a:t>
            </a:r>
          </a:p>
        </p:txBody>
      </p:sp>
      <p:sp>
        <p:nvSpPr>
          <p:cNvPr id="2" name="text-42-54">
            <a:extLst xmlns:a="http://schemas.openxmlformats.org/drawingml/2006/main">
              <a:ext uri="{FF2B5EF4-FFF2-40B4-BE49-F238E27FC236}">
                <a16:creationId xmlns:a16="http://schemas.microsoft.com/office/drawing/2014/main" id="{F711FAF7-F94C-42BE-8117-E6BDFD768514}"/>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One product call runs multiple model routes in parallel</a:t>
            </a:r>
          </a:p>
        </p:txBody>
      </p:sp>
      <p:sp>
        <p:nvSpPr>
          <p:cNvPr id="3" name="line-42-133">
            <a:extLst xmlns:a="http://schemas.openxmlformats.org/drawingml/2006/main">
              <a:ext uri="{FF2B5EF4-FFF2-40B4-BE49-F238E27FC236}">
                <a16:creationId xmlns:a16="http://schemas.microsoft.com/office/drawing/2014/main" id="{C108232B-F91D-48EA-B31C-D891D4FBDBAA}"/>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4-184">
            <a:extLst xmlns:a="http://schemas.openxmlformats.org/drawingml/2006/main">
              <a:ext uri="{FF2B5EF4-FFF2-40B4-BE49-F238E27FC236}">
                <a16:creationId xmlns:a16="http://schemas.microsoft.com/office/drawing/2014/main" id="{78E10997-3A9D-4201-81FD-2C7E01BD23A4}"/>
              </a:ext>
            </a:extLst>
          </p:cNvPr>
          <p:cNvSpPr>
            <a:spLocks xmlns:a="http://schemas.openxmlformats.org/drawingml/2006/main" noGrp="1"/>
          </p:cNvSpPr>
          <p:nvPr/>
        </p:nvSpPr>
        <p:spPr>
          <a:xfrm xmlns:a="http://schemas.openxmlformats.org/drawingml/2006/main">
            <a:off x="609600" y="1752600"/>
            <a:ext cx="49530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t>Useful output can still be opaque</a:t>
            </a:r>
          </a:p>
        </p:txBody>
      </p:sp>
      <p:sp>
        <p:nvSpPr>
          <p:cNvPr id="5" name="text-64-237">
            <a:extLst xmlns:a="http://schemas.openxmlformats.org/drawingml/2006/main">
              <a:ext uri="{FF2B5EF4-FFF2-40B4-BE49-F238E27FC236}">
                <a16:creationId xmlns:a16="http://schemas.microsoft.com/office/drawing/2014/main" id="{1FFF83C9-5A42-47F5-97C4-E1296E951840}"/>
              </a:ext>
            </a:extLst>
          </p:cNvPr>
          <p:cNvSpPr>
            <a:spLocks xmlns:a="http://schemas.openxmlformats.org/drawingml/2006/main" noGrp="1"/>
          </p:cNvSpPr>
          <p:nvPr/>
        </p:nvSpPr>
        <p:spPr>
          <a:xfrm xmlns:a="http://schemas.openxmlformats.org/drawingml/2006/main">
            <a:off x="609600" y="2257425"/>
            <a:ext cx="4762500" cy="8763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00" b="0">
                <a:solidFill>
                  <a:srgbClr val="5D6470"/>
                </a:solidFill>
                <a:latin typeface="Helvetica Neue"/>
                <a:ea typeface="Helvetica Neue"/>
                <a:cs typeface="Helvetica Neue"/>
              </a:defRPr>
            </a:pPr>
            <a:r>
              <a:t>A coupled analyzer makes it hard to tell whether behavior came from context, prompt, model, validation, history, or policy.</a:t>
            </a:r>
          </a:p>
        </p:txBody>
      </p:sp>
      <p:sp>
        <p:nvSpPr>
          <p:cNvPr id="6" name="box-64-362">
            <a:extLst xmlns:a="http://schemas.openxmlformats.org/drawingml/2006/main">
              <a:ext uri="{FF2B5EF4-FFF2-40B4-BE49-F238E27FC236}">
                <a16:creationId xmlns:a16="http://schemas.microsoft.com/office/drawing/2014/main" id="{0576F869-506D-4C4E-9B53-57F7939EE63D}"/>
              </a:ext>
            </a:extLst>
          </p:cNvPr>
          <p:cNvSpPr>
            <a:spLocks xmlns:a="http://schemas.openxmlformats.org/drawingml/2006/main" noGrp="1"/>
          </p:cNvSpPr>
          <p:nvPr/>
        </p:nvSpPr>
        <p:spPr>
          <a:xfrm xmlns:a="http://schemas.openxmlformats.org/drawingml/2006/main">
            <a:off x="609600" y="3448050"/>
            <a:ext cx="4762500" cy="1571625"/>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7" name="text-92-395">
            <a:extLst xmlns:a="http://schemas.openxmlformats.org/drawingml/2006/main">
              <a:ext uri="{FF2B5EF4-FFF2-40B4-BE49-F238E27FC236}">
                <a16:creationId xmlns:a16="http://schemas.microsoft.com/office/drawing/2014/main" id="{86410502-8B30-45A6-B3FF-72D94F8C3E14}"/>
              </a:ext>
            </a:extLst>
          </p:cNvPr>
          <p:cNvSpPr>
            <a:spLocks xmlns:a="http://schemas.openxmlformats.org/drawingml/2006/main" noGrp="1"/>
          </p:cNvSpPr>
          <p:nvPr/>
        </p:nvSpPr>
        <p:spPr>
          <a:xfrm xmlns:a="http://schemas.openxmlformats.org/drawingml/2006/main">
            <a:off x="876300" y="3762375"/>
            <a:ext cx="42291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650" b="1">
                <a:solidFill>
                  <a:srgbClr val="000000"/>
                </a:solidFill>
                <a:latin typeface="Courier New"/>
                <a:ea typeface="Courier New"/>
                <a:cs typeface="Courier New"/>
              </a:defRPr>
            </a:pPr>
            <a:r>
              <a:t>log -&gt; coupled analyzer -&gt; action</a:t>
            </a:r>
          </a:p>
        </p:txBody>
      </p:sp>
      <p:sp>
        <p:nvSpPr>
          <p:cNvPr id="8" name="text-92-456">
            <a:extLst xmlns:a="http://schemas.openxmlformats.org/drawingml/2006/main">
              <a:ext uri="{FF2B5EF4-FFF2-40B4-BE49-F238E27FC236}">
                <a16:creationId xmlns:a16="http://schemas.microsoft.com/office/drawing/2014/main" id="{B35AAD16-BE96-4E8A-BFBF-707FA0B9045F}"/>
              </a:ext>
            </a:extLst>
          </p:cNvPr>
          <p:cNvSpPr>
            <a:spLocks xmlns:a="http://schemas.openxmlformats.org/drawingml/2006/main" noGrp="1"/>
          </p:cNvSpPr>
          <p:nvPr/>
        </p:nvSpPr>
        <p:spPr>
          <a:xfrm xmlns:a="http://schemas.openxmlformats.org/drawingml/2006/main">
            <a:off x="876300" y="4343400"/>
            <a:ext cx="42291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75" b="0">
                <a:solidFill>
                  <a:srgbClr val="5D6470"/>
                </a:solidFill>
                <a:latin typeface="Helvetica Neue"/>
                <a:ea typeface="Helvetica Neue"/>
                <a:cs typeface="Helvetica Neue"/>
              </a:defRPr>
            </a:pPr>
            <a:r>
              <a:t>Change one thing. Observe a different answer. Ownership remains unclear.</a:t>
            </a:r>
          </a:p>
        </p:txBody>
      </p:sp>
      <p:sp>
        <p:nvSpPr>
          <p:cNvPr id="9" name="text-674-184">
            <a:extLst xmlns:a="http://schemas.openxmlformats.org/drawingml/2006/main">
              <a:ext uri="{FF2B5EF4-FFF2-40B4-BE49-F238E27FC236}">
                <a16:creationId xmlns:a16="http://schemas.microsoft.com/office/drawing/2014/main" id="{FB6F4DEC-B198-425C-B364-B2A576B82438}"/>
              </a:ext>
            </a:extLst>
          </p:cNvPr>
          <p:cNvSpPr>
            <a:spLocks xmlns:a="http://schemas.openxmlformats.org/drawingml/2006/main" noGrp="1"/>
          </p:cNvSpPr>
          <p:nvPr/>
        </p:nvSpPr>
        <p:spPr>
          <a:xfrm xmlns:a="http://schemas.openxmlformats.org/drawingml/2006/main">
            <a:off x="6419850" y="1752600"/>
            <a:ext cx="504825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t>One config, N parallel model routes</a:t>
            </a:r>
          </a:p>
        </p:txBody>
      </p:sp>
      <p:sp>
        <p:nvSpPr>
          <p:cNvPr id="10" name="text-674-237">
            <a:extLst xmlns:a="http://schemas.openxmlformats.org/drawingml/2006/main">
              <a:ext uri="{FF2B5EF4-FFF2-40B4-BE49-F238E27FC236}">
                <a16:creationId xmlns:a16="http://schemas.microsoft.com/office/drawing/2014/main" id="{D1DB4171-737B-484F-AFC3-FADE42868E79}"/>
              </a:ext>
            </a:extLst>
          </p:cNvPr>
          <p:cNvSpPr>
            <a:spLocks xmlns:a="http://schemas.openxmlformats.org/drawingml/2006/main" noGrp="1"/>
          </p:cNvSpPr>
          <p:nvPr/>
        </p:nvSpPr>
        <p:spPr>
          <a:xfrm xmlns:a="http://schemas.openxmlformats.org/drawingml/2006/main">
            <a:off x="6419850" y="2257425"/>
            <a:ext cx="4914900" cy="8763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00" b="0">
                <a:solidFill>
                  <a:srgbClr val="5D6470"/>
                </a:solidFill>
                <a:latin typeface="Helvetica Neue"/>
                <a:ea typeface="Helvetica Neue"/>
                <a:cs typeface="Helvetica Neue"/>
              </a:defRPr>
            </a:pPr>
            <a:r>
              <a:t>restart_agent.json declares the enabled routes. collect_all runs them concurrently and preserves every independent result.</a:t>
            </a:r>
          </a:p>
        </p:txBody>
      </p:sp>
      <p:sp>
        <p:nvSpPr>
          <p:cNvPr id="11" name="box-674-362">
            <a:extLst xmlns:a="http://schemas.openxmlformats.org/drawingml/2006/main">
              <a:ext uri="{FF2B5EF4-FFF2-40B4-BE49-F238E27FC236}">
                <a16:creationId xmlns:a16="http://schemas.microsoft.com/office/drawing/2014/main" id="{F6DDDB6B-F5DE-4EDF-9068-97D3B124E19F}"/>
              </a:ext>
            </a:extLst>
          </p:cNvPr>
          <p:cNvSpPr>
            <a:spLocks xmlns:a="http://schemas.openxmlformats.org/drawingml/2006/main" noGrp="1"/>
          </p:cNvSpPr>
          <p:nvPr/>
        </p:nvSpPr>
        <p:spPr>
          <a:xfrm xmlns:a="http://schemas.openxmlformats.org/drawingml/2006/main">
            <a:off x="6419850" y="3448050"/>
            <a:ext cx="5048250" cy="1571625"/>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2" name="text-690-395">
            <a:extLst xmlns:a="http://schemas.openxmlformats.org/drawingml/2006/main">
              <a:ext uri="{FF2B5EF4-FFF2-40B4-BE49-F238E27FC236}">
                <a16:creationId xmlns:a16="http://schemas.microsoft.com/office/drawing/2014/main" id="{EA64DC04-8411-4FFE-BAFB-B92E797FF3F6}"/>
              </a:ext>
            </a:extLst>
          </p:cNvPr>
          <p:cNvSpPr>
            <a:spLocks xmlns:a="http://schemas.openxmlformats.org/drawingml/2006/main" noGrp="1"/>
          </p:cNvSpPr>
          <p:nvPr/>
        </p:nvSpPr>
        <p:spPr>
          <a:xfrm xmlns:a="http://schemas.openxmlformats.org/drawingml/2006/main">
            <a:off x="6572250" y="3762375"/>
            <a:ext cx="4743450" cy="323850"/>
          </a:xfrm>
          <a:prstGeom xmlns:a="http://schemas.openxmlformats.org/drawingml/2006/main" prst="rect">
            <a:avLst/>
          </a:prstGeom>
        </p:spPr>
        <p:txBody>
          <a:bodyPr xmlns:a="http://schemas.openxmlformats.org/drawingml/2006/main" wrap="square" lIns="0" tIns="0" rIns="0" bIns="0" anchor="t">
            <a:normAutofit fontScale="89547" lnSpcReduction="20000"/>
          </a:bodyPr>
          <a:lstStyle xmlns:a="http://schemas.openxmlformats.org/drawingml/2006/main"/>
          <a:p xmlns:a="http://schemas.openxmlformats.org/drawingml/2006/main">
            <a:pPr algn="ctr">
              <a:buNone/>
              <a:defRPr sz="1500" b="1">
                <a:solidFill>
                  <a:srgbClr val="000000"/>
                </a:solidFill>
                <a:latin typeface="Courier New"/>
                <a:ea typeface="Courier New"/>
                <a:cs typeface="Courier New"/>
              </a:defRPr>
            </a:pPr>
            <a:r>
              <a:t>shared L0 -&gt; L1 routes A | B | N -&gt; each L2-L4</a:t>
            </a:r>
          </a:p>
        </p:txBody>
      </p:sp>
      <p:sp>
        <p:nvSpPr>
          <p:cNvPr id="13" name="text-702-456">
            <a:extLst xmlns:a="http://schemas.openxmlformats.org/drawingml/2006/main">
              <a:ext uri="{FF2B5EF4-FFF2-40B4-BE49-F238E27FC236}">
                <a16:creationId xmlns:a16="http://schemas.microsoft.com/office/drawing/2014/main" id="{BBDF8E2D-D823-41F0-AED1-2F288A8C334E}"/>
              </a:ext>
            </a:extLst>
          </p:cNvPr>
          <p:cNvSpPr>
            <a:spLocks xmlns:a="http://schemas.openxmlformats.org/drawingml/2006/main" noGrp="1"/>
          </p:cNvSpPr>
          <p:nvPr/>
        </p:nvSpPr>
        <p:spPr>
          <a:xfrm xmlns:a="http://schemas.openxmlformats.org/drawingml/2006/main">
            <a:off x="6686550" y="4343400"/>
            <a:ext cx="451485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75" b="0">
                <a:solidFill>
                  <a:srgbClr val="5D6470"/>
                </a:solidFill>
                <a:latin typeface="Helvetica Neue"/>
                <a:ea typeface="Helvetica Neue"/>
                <a:cs typeface="Helvetica Neue"/>
              </a:defRPr>
            </a:pPr>
            <a:r>
              <a:t>Compare semantic quality, efficiency, and reliability per route.</a:t>
            </a:r>
          </a:p>
        </p:txBody>
      </p:sp>
      <p:sp>
        <p:nvSpPr>
          <p:cNvPr id="14" name="text-64-594">
            <a:extLst xmlns:a="http://schemas.openxmlformats.org/drawingml/2006/main">
              <a:ext uri="{FF2B5EF4-FFF2-40B4-BE49-F238E27FC236}">
                <a16:creationId xmlns:a16="http://schemas.microsoft.com/office/drawing/2014/main" id="{62B3A5F1-41F7-4516-AB39-4FF8BFA00556}"/>
              </a:ext>
            </a:extLst>
          </p:cNvPr>
          <p:cNvSpPr>
            <a:spLocks xmlns:a="http://schemas.openxmlformats.org/drawingml/2006/main" noGrp="1"/>
          </p:cNvSpPr>
          <p:nvPr/>
        </p:nvSpPr>
        <p:spPr>
          <a:xfrm xmlns:a="http://schemas.openxmlformats.org/drawingml/2006/main">
            <a:off x="609600" y="5657850"/>
            <a:ext cx="10858500" cy="342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350" b="1">
                <a:solidFill>
                  <a:srgbClr val="000000"/>
                </a:solidFill>
                <a:latin typeface="Helvetica Neue"/>
                <a:ea typeface="Helvetica Neue"/>
                <a:cs typeface="Helvetica Neue"/>
              </a:defRPr>
            </a:pPr>
            <a:r>
              <a:t>Each route may use a different model, endpoint, key reference, tool set, and request limits.</a:t>
            </a:r>
          </a:p>
        </p:txBody>
      </p:sp>
    </p:spTree>
    <p:extLst>
      <p:ext uri="{BB962C8B-B14F-4D97-AF65-F5344CB8AC3E}">
        <p14:creationId xmlns:p14="http://schemas.microsoft.com/office/powerpoint/2010/main" val="108819935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42-26">
            <a:extLst xmlns:a="http://schemas.openxmlformats.org/drawingml/2006/main">
              <a:ext uri="{FF2B5EF4-FFF2-40B4-BE49-F238E27FC236}">
                <a16:creationId xmlns:a16="http://schemas.microsoft.com/office/drawing/2014/main" id="{131AF124-FDC1-4090-9067-6E6FE4563243}"/>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A. TUNE / MULTI-MODEL ROUTING</a:t>
            </a:r>
          </a:p>
        </p:txBody>
      </p:sp>
      <p:sp>
        <p:nvSpPr>
          <p:cNvPr id="2" name="text-42-54">
            <a:extLst xmlns:a="http://schemas.openxmlformats.org/drawingml/2006/main">
              <a:ext uri="{FF2B5EF4-FFF2-40B4-BE49-F238E27FC236}">
                <a16:creationId xmlns:a16="http://schemas.microsoft.com/office/drawing/2014/main" id="{F711FAF7-F94C-42BE-8117-E6BDFD768514}"/>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Fast now, deeper when ready</a:t>
            </a:r>
          </a:p>
        </p:txBody>
      </p:sp>
      <p:sp>
        <p:nvSpPr>
          <p:cNvPr id="3" name="line-42-133">
            <a:extLst xmlns:a="http://schemas.openxmlformats.org/drawingml/2006/main">
              <a:ext uri="{FF2B5EF4-FFF2-40B4-BE49-F238E27FC236}">
                <a16:creationId xmlns:a16="http://schemas.microsoft.com/office/drawing/2014/main" id="{C108232B-F91D-48EA-B31C-D891D4FBDBAA}"/>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4-184">
            <a:extLst xmlns:a="http://schemas.openxmlformats.org/drawingml/2006/main">
              <a:ext uri="{FF2B5EF4-FFF2-40B4-BE49-F238E27FC236}">
                <a16:creationId xmlns:a16="http://schemas.microsoft.com/office/drawing/2014/main" id="{78E10997-3A9D-4201-81FD-2C7E01BD23A4}"/>
              </a:ext>
            </a:extLst>
          </p:cNvPr>
          <p:cNvSpPr>
            <a:spLocks xmlns:a="http://schemas.openxmlformats.org/drawingml/2006/main" noGrp="1"/>
          </p:cNvSpPr>
          <p:nvPr/>
        </p:nvSpPr>
        <p:spPr>
          <a:xfrm xmlns:a="http://schemas.openxmlformats.org/drawingml/2006/main">
            <a:off x="609600" y="1752600"/>
            <a:ext cx="49530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t>Fast profile: ready first</a:t>
            </a:r>
          </a:p>
        </p:txBody>
      </p:sp>
      <p:sp>
        <p:nvSpPr>
          <p:cNvPr id="5" name="text-64-237">
            <a:extLst xmlns:a="http://schemas.openxmlformats.org/drawingml/2006/main">
              <a:ext uri="{FF2B5EF4-FFF2-40B4-BE49-F238E27FC236}">
                <a16:creationId xmlns:a16="http://schemas.microsoft.com/office/drawing/2014/main" id="{1FFF83C9-5A42-47F5-97C4-E1296E951840}"/>
              </a:ext>
            </a:extLst>
          </p:cNvPr>
          <p:cNvSpPr>
            <a:spLocks xmlns:a="http://schemas.openxmlformats.org/drawingml/2006/main" noGrp="1"/>
          </p:cNvSpPr>
          <p:nvPr/>
        </p:nvSpPr>
        <p:spPr>
          <a:xfrm xmlns:a="http://schemas.openxmlformats.org/drawingml/2006/main">
            <a:off x="609600" y="2257425"/>
            <a:ext cx="47625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D6470"/>
                </a:solidFill>
                <a:latin typeface="Helvetica Neue"/>
                <a:ea typeface="Helvetica Neue"/>
                <a:cs typeface="Helvetica Neue"/>
              </a:defRPr>
            </a:pPr>
            <a:r>
              <a:t>One turn, no tools. Tuned for predictable latency and a usable semantic result.</a:t>
            </a:r>
          </a:p>
        </p:txBody>
      </p:sp>
      <p:sp>
        <p:nvSpPr>
          <p:cNvPr id="6" name="box-64-362">
            <a:extLst xmlns:a="http://schemas.openxmlformats.org/drawingml/2006/main">
              <a:ext uri="{FF2B5EF4-FFF2-40B4-BE49-F238E27FC236}">
                <a16:creationId xmlns:a16="http://schemas.microsoft.com/office/drawing/2014/main" id="{0576F869-506D-4C4E-9B53-57F7939EE63D}"/>
              </a:ext>
            </a:extLst>
          </p:cNvPr>
          <p:cNvSpPr>
            <a:spLocks xmlns:a="http://schemas.openxmlformats.org/drawingml/2006/main" noGrp="1"/>
          </p:cNvSpPr>
          <p:nvPr/>
        </p:nvSpPr>
        <p:spPr>
          <a:xfrm xmlns:a="http://schemas.openxmlformats.org/drawingml/2006/main">
            <a:off x="609600" y="3448050"/>
            <a:ext cx="4762500" cy="1571625"/>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7" name="text-92-395">
            <a:extLst xmlns:a="http://schemas.openxmlformats.org/drawingml/2006/main">
              <a:ext uri="{FF2B5EF4-FFF2-40B4-BE49-F238E27FC236}">
                <a16:creationId xmlns:a16="http://schemas.microsoft.com/office/drawing/2014/main" id="{86410502-8B30-45A6-B3FF-72D94F8C3E14}"/>
              </a:ext>
            </a:extLst>
          </p:cNvPr>
          <p:cNvSpPr>
            <a:spLocks xmlns:a="http://schemas.openxmlformats.org/drawingml/2006/main" noGrp="1"/>
          </p:cNvSpPr>
          <p:nvPr/>
        </p:nvSpPr>
        <p:spPr>
          <a:xfrm xmlns:a="http://schemas.openxmlformats.org/drawingml/2006/main">
            <a:off x="876300" y="3762375"/>
            <a:ext cx="4229100" cy="323850"/>
          </a:xfrm>
          <a:prstGeom xmlns:a="http://schemas.openxmlformats.org/drawingml/2006/main" prst="rect">
            <a:avLst/>
          </a:prstGeom>
        </p:spPr>
        <p:txBody>
          <a:bodyPr xmlns:a="http://schemas.openxmlformats.org/drawingml/2006/main" wrap="square" lIns="0" tIns="0" rIns="0" bIns="0" anchor="t">
            <a:normAutofit fontScale="80193"/>
          </a:bodyPr>
          <a:lstStyle xmlns:a="http://schemas.openxmlformats.org/drawingml/2006/main"/>
          <a:p xmlns:a="http://schemas.openxmlformats.org/drawingml/2006/main">
            <a:pPr algn="ctr">
              <a:buNone/>
              <a:defRPr sz="1650" b="1">
                <a:solidFill>
                  <a:srgbClr val="000000"/>
                </a:solidFill>
                <a:latin typeface="Courier New"/>
                <a:ea typeface="Courier New"/>
                <a:cs typeface="Courier New"/>
              </a:defRPr>
            </a:pPr>
            <a:r>
              <a:t>t=0 shared L0 -&gt; fast route -&gt; ready first</a:t>
            </a:r>
          </a:p>
        </p:txBody>
      </p:sp>
      <p:sp>
        <p:nvSpPr>
          <p:cNvPr id="8" name="text-92-456">
            <a:extLst xmlns:a="http://schemas.openxmlformats.org/drawingml/2006/main">
              <a:ext uri="{FF2B5EF4-FFF2-40B4-BE49-F238E27FC236}">
                <a16:creationId xmlns:a16="http://schemas.microsoft.com/office/drawing/2014/main" id="{B35AAD16-BE96-4E8A-BFBF-707FA0B9045F}"/>
              </a:ext>
            </a:extLst>
          </p:cNvPr>
          <p:cNvSpPr>
            <a:spLocks xmlns:a="http://schemas.openxmlformats.org/drawingml/2006/main" noGrp="1"/>
          </p:cNvSpPr>
          <p:nvPr/>
        </p:nvSpPr>
        <p:spPr>
          <a:xfrm xmlns:a="http://schemas.openxmlformats.org/drawingml/2006/main">
            <a:off x="876300" y="4343400"/>
            <a:ext cx="42291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5D6470"/>
                </a:solidFill>
                <a:latin typeface="Helvetica Neue"/>
                <a:ea typeface="Helvetica Neue"/>
                <a:cs typeface="Helvetica Neue"/>
              </a:defRPr>
            </a:pPr>
            <a:r>
              <a:t>At deadline D, use it if the preferred route is still in flight.</a:t>
            </a:r>
          </a:p>
        </p:txBody>
      </p:sp>
      <p:sp>
        <p:nvSpPr>
          <p:cNvPr id="9" name="text-674-184">
            <a:extLst xmlns:a="http://schemas.openxmlformats.org/drawingml/2006/main">
              <a:ext uri="{FF2B5EF4-FFF2-40B4-BE49-F238E27FC236}">
                <a16:creationId xmlns:a16="http://schemas.microsoft.com/office/drawing/2014/main" id="{FB6F4DEC-B198-425C-B364-B2A576B82438}"/>
              </a:ext>
            </a:extLst>
          </p:cNvPr>
          <p:cNvSpPr>
            <a:spLocks xmlns:a="http://schemas.openxmlformats.org/drawingml/2006/main" noGrp="1"/>
          </p:cNvSpPr>
          <p:nvPr/>
        </p:nvSpPr>
        <p:spPr>
          <a:xfrm xmlns:a="http://schemas.openxmlformats.org/drawingml/2006/main">
            <a:off x="6419850" y="1752600"/>
            <a:ext cx="504825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000000"/>
                </a:solidFill>
                <a:latin typeface="Helvetica Neue"/>
                <a:ea typeface="Helvetica Neue"/>
                <a:cs typeface="Helvetica Neue"/>
              </a:defRPr>
            </a:pPr>
            <a:r>
              <a:t>Heavyweight: preferred when ready</a:t>
            </a:r>
          </a:p>
        </p:txBody>
      </p:sp>
      <p:sp>
        <p:nvSpPr>
          <p:cNvPr id="10" name="text-674-237">
            <a:extLst xmlns:a="http://schemas.openxmlformats.org/drawingml/2006/main">
              <a:ext uri="{FF2B5EF4-FFF2-40B4-BE49-F238E27FC236}">
                <a16:creationId xmlns:a16="http://schemas.microsoft.com/office/drawing/2014/main" id="{D1DB4171-737B-484F-AFC3-FADE42868E79}"/>
              </a:ext>
            </a:extLst>
          </p:cNvPr>
          <p:cNvSpPr>
            <a:spLocks xmlns:a="http://schemas.openxmlformats.org/drawingml/2006/main" noGrp="1"/>
          </p:cNvSpPr>
          <p:nvPr/>
        </p:nvSpPr>
        <p:spPr>
          <a:xfrm xmlns:a="http://schemas.openxmlformats.org/drawingml/2006/main">
            <a:off x="6419850" y="2257425"/>
            <a:ext cx="4914900" cy="8763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0">
                <a:solidFill>
                  <a:srgbClr val="5D6470"/>
                </a:solidFill>
                <a:latin typeface="Helvetica Neue"/>
                <a:ea typeface="Helvetica Neue"/>
                <a:cs typeface="Helvetica Neue"/>
              </a:defRPr>
            </a:pPr>
            <a:r>
              <a:t>Deeper reasoning and optional tools. Higher semantic priority, with a less predictable latency.</a:t>
            </a:r>
          </a:p>
        </p:txBody>
      </p:sp>
      <p:sp>
        <p:nvSpPr>
          <p:cNvPr id="11" name="box-674-362">
            <a:extLst xmlns:a="http://schemas.openxmlformats.org/drawingml/2006/main">
              <a:ext uri="{FF2B5EF4-FFF2-40B4-BE49-F238E27FC236}">
                <a16:creationId xmlns:a16="http://schemas.microsoft.com/office/drawing/2014/main" id="{F6DDDB6B-F5DE-4EDF-9068-97D3B124E19F}"/>
              </a:ext>
            </a:extLst>
          </p:cNvPr>
          <p:cNvSpPr>
            <a:spLocks xmlns:a="http://schemas.openxmlformats.org/drawingml/2006/main" noGrp="1"/>
          </p:cNvSpPr>
          <p:nvPr/>
        </p:nvSpPr>
        <p:spPr>
          <a:xfrm xmlns:a="http://schemas.openxmlformats.org/drawingml/2006/main">
            <a:off x="6419850" y="3448050"/>
            <a:ext cx="5048250" cy="1571625"/>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2" name="text-690-395">
            <a:extLst xmlns:a="http://schemas.openxmlformats.org/drawingml/2006/main">
              <a:ext uri="{FF2B5EF4-FFF2-40B4-BE49-F238E27FC236}">
                <a16:creationId xmlns:a16="http://schemas.microsoft.com/office/drawing/2014/main" id="{EA64DC04-8411-4FFE-BAFB-B92E797FF3F6}"/>
              </a:ext>
            </a:extLst>
          </p:cNvPr>
          <p:cNvSpPr>
            <a:spLocks xmlns:a="http://schemas.openxmlformats.org/drawingml/2006/main" noGrp="1"/>
          </p:cNvSpPr>
          <p:nvPr/>
        </p:nvSpPr>
        <p:spPr>
          <a:xfrm xmlns:a="http://schemas.openxmlformats.org/drawingml/2006/main">
            <a:off x="6572250" y="3762375"/>
            <a:ext cx="4743450" cy="323850"/>
          </a:xfrm>
          <a:prstGeom xmlns:a="http://schemas.openxmlformats.org/drawingml/2006/main" prst="rect">
            <a:avLst/>
          </a:prstGeom>
        </p:spPr>
        <p:txBody>
          <a:bodyPr xmlns:a="http://schemas.openxmlformats.org/drawingml/2006/main" wrap="square" lIns="0" tIns="0" rIns="0" bIns="0" anchor="t">
            <a:normAutofit fontScale="96547" lnSpcReduction="20000"/>
          </a:bodyPr>
          <a:lstStyle xmlns:a="http://schemas.openxmlformats.org/drawingml/2006/main"/>
          <a:p xmlns:a="http://schemas.openxmlformats.org/drawingml/2006/main">
            <a:pPr algn="ctr">
              <a:buNone/>
              <a:defRPr sz="1500" b="1">
                <a:solidFill>
                  <a:srgbClr val="000000"/>
                </a:solidFill>
                <a:latin typeface="Courier New"/>
                <a:ea typeface="Courier New"/>
                <a:cs typeface="Courier New"/>
              </a:defRPr>
            </a:pPr>
            <a:r>
              <a:t>t=0 shared L0 -&gt; heavyweight -&gt; ready later</a:t>
            </a:r>
          </a:p>
        </p:txBody>
      </p:sp>
      <p:sp>
        <p:nvSpPr>
          <p:cNvPr id="13" name="text-702-456">
            <a:extLst xmlns:a="http://schemas.openxmlformats.org/drawingml/2006/main">
              <a:ext uri="{FF2B5EF4-FFF2-40B4-BE49-F238E27FC236}">
                <a16:creationId xmlns:a16="http://schemas.microsoft.com/office/drawing/2014/main" id="{BBDF8E2D-D823-41F0-AED1-2F288A8C334E}"/>
              </a:ext>
            </a:extLst>
          </p:cNvPr>
          <p:cNvSpPr>
            <a:spLocks xmlns:a="http://schemas.openxmlformats.org/drawingml/2006/main" noGrp="1"/>
          </p:cNvSpPr>
          <p:nvPr/>
        </p:nvSpPr>
        <p:spPr>
          <a:xfrm xmlns:a="http://schemas.openxmlformats.org/drawingml/2006/main">
            <a:off x="6686550" y="4343400"/>
            <a:ext cx="451485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0">
                <a:solidFill>
                  <a:srgbClr val="5D6470"/>
                </a:solidFill>
                <a:latin typeface="Helvetica Neue"/>
                <a:ea typeface="Helvetica Neue"/>
                <a:cs typeface="Helvetica Neue"/>
              </a:defRPr>
            </a:pPr>
            <a:r>
              <a:t>If valid before D, it replaces the fast candidate.</a:t>
            </a:r>
          </a:p>
        </p:txBody>
      </p:sp>
      <p:sp>
        <p:nvSpPr>
          <p:cNvPr id="14" name="text-64-594">
            <a:extLst xmlns:a="http://schemas.openxmlformats.org/drawingml/2006/main">
              <a:ext uri="{FF2B5EF4-FFF2-40B4-BE49-F238E27FC236}">
                <a16:creationId xmlns:a16="http://schemas.microsoft.com/office/drawing/2014/main" id="{62B3A5F1-41F7-4516-AB39-4FF8BFA00556}"/>
              </a:ext>
            </a:extLst>
          </p:cNvPr>
          <p:cNvSpPr>
            <a:spLocks xmlns:a="http://schemas.openxmlformats.org/drawingml/2006/main" noGrp="1"/>
          </p:cNvSpPr>
          <p:nvPr/>
        </p:nvSpPr>
        <p:spPr>
          <a:xfrm xmlns:a="http://schemas.openxmlformats.org/drawingml/2006/main">
            <a:off x="609600" y="5657850"/>
            <a:ext cx="10858500" cy="342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000000"/>
                </a:solidFill>
                <a:latin typeface="Helvetica Neue"/>
                <a:ea typeface="Helvetica Neue"/>
                <a:cs typeface="Helvetica Neue"/>
              </a:defRPr>
            </a:pPr>
            <a:r>
              <a:t>After D: the action is closed. A valid late heavyweight result becomes the preferred history assessment.</a:t>
            </a:r>
          </a:p>
        </p:txBody>
      </p:sp>
    </p:spTree>
    <p:extLst>
      <p:ext uri="{BB962C8B-B14F-4D97-AF65-F5344CB8AC3E}">
        <p14:creationId xmlns:p14="http://schemas.microsoft.com/office/powerpoint/2010/main" val="108819935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42-26">
            <a:extLst xmlns:a="http://schemas.openxmlformats.org/drawingml/2006/main">
              <a:ext uri="{FF2B5EF4-FFF2-40B4-BE49-F238E27FC236}">
                <a16:creationId xmlns:a16="http://schemas.microsoft.com/office/drawing/2014/main" id="{1CFEA9F0-82CF-4B22-946C-20D9612D2108}"/>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A. TUNE / HARNESS</a:t>
            </a:r>
          </a:p>
        </p:txBody>
      </p:sp>
      <p:sp>
        <p:nvSpPr>
          <p:cNvPr id="2" name="text-42-54">
            <a:extLst xmlns:a="http://schemas.openxmlformats.org/drawingml/2006/main">
              <a:ext uri="{FF2B5EF4-FFF2-40B4-BE49-F238E27FC236}">
                <a16:creationId xmlns:a16="http://schemas.microsoft.com/office/drawing/2014/main" id="{5D53AD5A-C6F3-4783-B08D-E013BFD06569}"/>
              </a:ext>
            </a:extLst>
          </p:cNvPr>
          <p:cNvSpPr>
            <a:spLocks xmlns:a="http://schemas.openxmlformats.org/drawingml/2006/main" noGrp="1"/>
          </p:cNvSpPr>
          <p:nvPr/>
        </p:nvSpPr>
        <p:spPr>
          <a:xfrm xmlns:a="http://schemas.openxmlformats.org/drawingml/2006/main">
            <a:off x="400050" y="514350"/>
            <a:ext cx="11391900" cy="685800"/>
          </a:xfrm>
          <a:prstGeom xmlns:a="http://schemas.openxmlformats.org/drawingml/2006/main" prst="rect">
            <a:avLst/>
          </a:prstGeom>
        </p:spPr>
        <p:txBody>
          <a:bodyPr xmlns:a="http://schemas.openxmlformats.org/drawingml/2006/main" wrap="square" lIns="0" tIns="0" rIns="0" bIns="0" anchor="t">
            <a:normAutofit lnSpcReduction="20000"/>
          </a:bodyPr>
          <a:lstStyle xmlns:a="http://schemas.openxmlformats.org/drawingml/2006/main"/>
          <a:p xmlns:a="http://schemas.openxmlformats.org/drawingml/2006/main">
            <a:pPr algn="l">
              <a:buNone/>
              <a:defRPr sz="2400" b="1">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The offline loop constructs and qualifies a versioned product profile</a:t>
            </a:r>
          </a:p>
        </p:txBody>
      </p:sp>
      <p:sp>
        <p:nvSpPr>
          <p:cNvPr id="3" name="line-42-133">
            <a:extLst xmlns:a="http://schemas.openxmlformats.org/drawingml/2006/main">
              <a:ext uri="{FF2B5EF4-FFF2-40B4-BE49-F238E27FC236}">
                <a16:creationId xmlns:a16="http://schemas.microsoft.com/office/drawing/2014/main" id="{C87F2C13-C3DE-45C8-84B7-DADE63572B64}"/>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arrow-250-323">
            <a:extLst xmlns:a="http://schemas.openxmlformats.org/drawingml/2006/main">
              <a:ext uri="{FF2B5EF4-FFF2-40B4-BE49-F238E27FC236}">
                <a16:creationId xmlns:a16="http://schemas.microsoft.com/office/drawing/2014/main" id="{9490A96C-BBE7-43B9-9E6D-016A3D09FEE0}"/>
              </a:ext>
            </a:extLst>
          </p:cNvPr>
          <p:cNvSpPr>
            <a:spLocks xmlns:a="http://schemas.openxmlformats.org/drawingml/2006/main" noGrp="1"/>
          </p:cNvSpPr>
          <p:nvPr/>
        </p:nvSpPr>
        <p:spPr>
          <a:xfrm xmlns:a="http://schemas.openxmlformats.org/drawingml/2006/main">
            <a:off x="2381250" y="3076575"/>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5" name="arrow-504-323">
            <a:extLst xmlns:a="http://schemas.openxmlformats.org/drawingml/2006/main">
              <a:ext uri="{FF2B5EF4-FFF2-40B4-BE49-F238E27FC236}">
                <a16:creationId xmlns:a16="http://schemas.microsoft.com/office/drawing/2014/main" id="{5F7D20A3-4832-4886-9D43-116D266217C5}"/>
              </a:ext>
            </a:extLst>
          </p:cNvPr>
          <p:cNvSpPr>
            <a:spLocks xmlns:a="http://schemas.openxmlformats.org/drawingml/2006/main" noGrp="1"/>
          </p:cNvSpPr>
          <p:nvPr/>
        </p:nvSpPr>
        <p:spPr>
          <a:xfrm xmlns:a="http://schemas.openxmlformats.org/drawingml/2006/main">
            <a:off x="4800600" y="3076575"/>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arrow-752-323">
            <a:extLst xmlns:a="http://schemas.openxmlformats.org/drawingml/2006/main">
              <a:ext uri="{FF2B5EF4-FFF2-40B4-BE49-F238E27FC236}">
                <a16:creationId xmlns:a16="http://schemas.microsoft.com/office/drawing/2014/main" id="{C1EA770F-8DA4-4157-9D2D-5029F9C4BE43}"/>
              </a:ext>
            </a:extLst>
          </p:cNvPr>
          <p:cNvSpPr>
            <a:spLocks xmlns:a="http://schemas.openxmlformats.org/drawingml/2006/main" noGrp="1"/>
          </p:cNvSpPr>
          <p:nvPr/>
        </p:nvSpPr>
        <p:spPr>
          <a:xfrm xmlns:a="http://schemas.openxmlformats.org/drawingml/2006/main">
            <a:off x="7162800" y="3076575"/>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7" name="arrow-1004-323">
            <a:extLst xmlns:a="http://schemas.openxmlformats.org/drawingml/2006/main">
              <a:ext uri="{FF2B5EF4-FFF2-40B4-BE49-F238E27FC236}">
                <a16:creationId xmlns:a16="http://schemas.microsoft.com/office/drawing/2014/main" id="{EC404579-D1BB-4A22-A0EC-9CAF5396677E}"/>
              </a:ext>
            </a:extLst>
          </p:cNvPr>
          <p:cNvSpPr>
            <a:spLocks xmlns:a="http://schemas.openxmlformats.org/drawingml/2006/main" noGrp="1"/>
          </p:cNvSpPr>
          <p:nvPr/>
        </p:nvSpPr>
        <p:spPr>
          <a:xfrm xmlns:a="http://schemas.openxmlformats.org/drawingml/2006/main">
            <a:off x="9563100" y="3076575"/>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box-58-258">
            <a:extLst xmlns:a="http://schemas.openxmlformats.org/drawingml/2006/main">
              <a:ext uri="{FF2B5EF4-FFF2-40B4-BE49-F238E27FC236}">
                <a16:creationId xmlns:a16="http://schemas.microsoft.com/office/drawing/2014/main" id="{84771B81-1BD8-4404-940F-EA1048CB4F8B}"/>
              </a:ext>
            </a:extLst>
          </p:cNvPr>
          <p:cNvSpPr>
            <a:spLocks xmlns:a="http://schemas.openxmlformats.org/drawingml/2006/main" noGrp="1"/>
          </p:cNvSpPr>
          <p:nvPr/>
        </p:nvSpPr>
        <p:spPr>
          <a:xfrm xmlns:a="http://schemas.openxmlformats.org/drawingml/2006/main">
            <a:off x="552450" y="2457450"/>
            <a:ext cx="1714500" cy="14668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9" name="text-72-278">
            <a:extLst xmlns:a="http://schemas.openxmlformats.org/drawingml/2006/main">
              <a:ext uri="{FF2B5EF4-FFF2-40B4-BE49-F238E27FC236}">
                <a16:creationId xmlns:a16="http://schemas.microsoft.com/office/drawing/2014/main" id="{39822359-6C91-4DD2-8D4B-45AA3B602DEB}"/>
              </a:ext>
            </a:extLst>
          </p:cNvPr>
          <p:cNvSpPr>
            <a:spLocks xmlns:a="http://schemas.openxmlformats.org/drawingml/2006/main" noGrp="1"/>
          </p:cNvSpPr>
          <p:nvPr/>
        </p:nvSpPr>
        <p:spPr>
          <a:xfrm xmlns:a="http://schemas.openxmlformats.org/drawingml/2006/main">
            <a:off x="685800" y="2647950"/>
            <a:ext cx="14478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Corpus + gold</a:t>
            </a:r>
          </a:p>
        </p:txBody>
      </p:sp>
      <p:sp>
        <p:nvSpPr>
          <p:cNvPr id="10" name="text-72-334">
            <a:extLst xmlns:a="http://schemas.openxmlformats.org/drawingml/2006/main">
              <a:ext uri="{FF2B5EF4-FFF2-40B4-BE49-F238E27FC236}">
                <a16:creationId xmlns:a16="http://schemas.microsoft.com/office/drawing/2014/main" id="{AD780260-0BF8-48EA-B87E-7B1443BFC52B}"/>
              </a:ext>
            </a:extLst>
          </p:cNvPr>
          <p:cNvSpPr>
            <a:spLocks xmlns:a="http://schemas.openxmlformats.org/drawingml/2006/main" noGrp="1"/>
          </p:cNvSpPr>
          <p:nvPr/>
        </p:nvSpPr>
        <p:spPr>
          <a:xfrm xmlns:a="http://schemas.openxmlformats.org/drawingml/2006/main">
            <a:off x="685800" y="3181350"/>
            <a:ext cx="1447800" cy="514350"/>
          </a:xfrm>
          <a:prstGeom xmlns:a="http://schemas.openxmlformats.org/drawingml/2006/main" prst="rect">
            <a:avLst/>
          </a:prstGeom>
        </p:spPr>
        <p:txBody>
          <a:bodyPr xmlns:a="http://schemas.openxmlformats.org/drawingml/2006/main" wrap="square" lIns="0" tIns="0" rIns="0" bIns="0" anchor="t">
            <a:normAutofit fontScale="93750"/>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Human-approved cases
Production outcomes</a:t>
            </a:r>
          </a:p>
        </p:txBody>
      </p:sp>
      <p:sp>
        <p:nvSpPr>
          <p:cNvPr id="11" name="box-294-258">
            <a:extLst xmlns:a="http://schemas.openxmlformats.org/drawingml/2006/main">
              <a:ext uri="{FF2B5EF4-FFF2-40B4-BE49-F238E27FC236}">
                <a16:creationId xmlns:a16="http://schemas.microsoft.com/office/drawing/2014/main" id="{1444AB9C-72D2-4509-9DFB-6A4EBF901398}"/>
              </a:ext>
            </a:extLst>
          </p:cNvPr>
          <p:cNvSpPr>
            <a:spLocks xmlns:a="http://schemas.openxmlformats.org/drawingml/2006/main" noGrp="1"/>
          </p:cNvSpPr>
          <p:nvPr/>
        </p:nvSpPr>
        <p:spPr>
          <a:xfrm xmlns:a="http://schemas.openxmlformats.org/drawingml/2006/main">
            <a:off x="2800350" y="2457450"/>
            <a:ext cx="1885950" cy="14668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2" name="text-308-278">
            <a:extLst xmlns:a="http://schemas.openxmlformats.org/drawingml/2006/main">
              <a:ext uri="{FF2B5EF4-FFF2-40B4-BE49-F238E27FC236}">
                <a16:creationId xmlns:a16="http://schemas.microsoft.com/office/drawing/2014/main" id="{5743D966-686C-4109-8B41-177BA6B8F3FF}"/>
              </a:ext>
            </a:extLst>
          </p:cNvPr>
          <p:cNvSpPr>
            <a:spLocks xmlns:a="http://schemas.openxmlformats.org/drawingml/2006/main" noGrp="1"/>
          </p:cNvSpPr>
          <p:nvPr/>
        </p:nvSpPr>
        <p:spPr>
          <a:xfrm xmlns:a="http://schemas.openxmlformats.org/drawingml/2006/main">
            <a:off x="2933700" y="2647950"/>
            <a:ext cx="161925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Candidate profile</a:t>
            </a:r>
          </a:p>
        </p:txBody>
      </p:sp>
      <p:sp>
        <p:nvSpPr>
          <p:cNvPr id="13" name="text-308-334">
            <a:extLst xmlns:a="http://schemas.openxmlformats.org/drawingml/2006/main">
              <a:ext uri="{FF2B5EF4-FFF2-40B4-BE49-F238E27FC236}">
                <a16:creationId xmlns:a16="http://schemas.microsoft.com/office/drawing/2014/main" id="{FE6C083F-AF25-4619-B7E2-ADC70B989B74}"/>
              </a:ext>
            </a:extLst>
          </p:cNvPr>
          <p:cNvSpPr>
            <a:spLocks xmlns:a="http://schemas.openxmlformats.org/drawingml/2006/main" noGrp="1"/>
          </p:cNvSpPr>
          <p:nvPr/>
        </p:nvSpPr>
        <p:spPr>
          <a:xfrm xmlns:a="http://schemas.openxmlformats.org/drawingml/2006/main">
            <a:off x="2933700" y="3181350"/>
            <a:ext cx="161925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Bundle + prompt
Model/tools + policy</a:t>
            </a:r>
          </a:p>
        </p:txBody>
      </p:sp>
      <p:sp>
        <p:nvSpPr>
          <p:cNvPr id="14" name="box-542-258">
            <a:extLst xmlns:a="http://schemas.openxmlformats.org/drawingml/2006/main">
              <a:ext uri="{FF2B5EF4-FFF2-40B4-BE49-F238E27FC236}">
                <a16:creationId xmlns:a16="http://schemas.microsoft.com/office/drawing/2014/main" id="{DCEE43F9-307D-40C4-B3CD-17CC6F595353}"/>
              </a:ext>
            </a:extLst>
          </p:cNvPr>
          <p:cNvSpPr>
            <a:spLocks xmlns:a="http://schemas.openxmlformats.org/drawingml/2006/main" noGrp="1"/>
          </p:cNvSpPr>
          <p:nvPr/>
        </p:nvSpPr>
        <p:spPr>
          <a:xfrm xmlns:a="http://schemas.openxmlformats.org/drawingml/2006/main">
            <a:off x="5162550" y="2457450"/>
            <a:ext cx="1885950" cy="14668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5" name="text-556-278">
            <a:extLst xmlns:a="http://schemas.openxmlformats.org/drawingml/2006/main">
              <a:ext uri="{FF2B5EF4-FFF2-40B4-BE49-F238E27FC236}">
                <a16:creationId xmlns:a16="http://schemas.microsoft.com/office/drawing/2014/main" id="{719D70E1-360B-4C68-8556-785E4926E45C}"/>
              </a:ext>
            </a:extLst>
          </p:cNvPr>
          <p:cNvSpPr>
            <a:spLocks xmlns:a="http://schemas.openxmlformats.org/drawingml/2006/main" noGrp="1"/>
          </p:cNvSpPr>
          <p:nvPr/>
        </p:nvSpPr>
        <p:spPr>
          <a:xfrm xmlns:a="http://schemas.openxmlformats.org/drawingml/2006/main">
            <a:off x="5295900" y="2647950"/>
            <a:ext cx="1619250" cy="323850"/>
          </a:xfrm>
          <a:prstGeom xmlns:a="http://schemas.openxmlformats.org/drawingml/2006/main" prst="rect">
            <a:avLst/>
          </a:prstGeom>
        </p:spPr>
        <p:txBody>
          <a:bodyPr xmlns:a="http://schemas.openxmlformats.org/drawingml/2006/main" wrap="square" lIns="0" tIns="0" rIns="0" bIns="0" anchor="t">
            <a:normAutofit fontScale="92500"/>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Product execution</a:t>
            </a:r>
          </a:p>
        </p:txBody>
      </p:sp>
      <p:sp>
        <p:nvSpPr>
          <p:cNvPr id="16" name="text-556-334">
            <a:extLst xmlns:a="http://schemas.openxmlformats.org/drawingml/2006/main">
              <a:ext uri="{FF2B5EF4-FFF2-40B4-BE49-F238E27FC236}">
                <a16:creationId xmlns:a16="http://schemas.microsoft.com/office/drawing/2014/main" id="{14EA4110-087C-447B-802D-0CE3DC014F7F}"/>
              </a:ext>
            </a:extLst>
          </p:cNvPr>
          <p:cNvSpPr>
            <a:spLocks xmlns:a="http://schemas.openxmlformats.org/drawingml/2006/main" noGrp="1"/>
          </p:cNvSpPr>
          <p:nvPr/>
        </p:nvSpPr>
        <p:spPr>
          <a:xfrm xmlns:a="http://schemas.openxmlformats.org/drawingml/2006/main">
            <a:off x="5295900" y="3181350"/>
            <a:ext cx="161925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Same L0-L4 path
Exact traces</a:t>
            </a:r>
          </a:p>
        </p:txBody>
      </p:sp>
      <p:sp>
        <p:nvSpPr>
          <p:cNvPr id="17" name="box-794-258">
            <a:extLst xmlns:a="http://schemas.openxmlformats.org/drawingml/2006/main">
              <a:ext uri="{FF2B5EF4-FFF2-40B4-BE49-F238E27FC236}">
                <a16:creationId xmlns:a16="http://schemas.microsoft.com/office/drawing/2014/main" id="{A0D8ACB1-69C2-4C63-BC5E-A3479DF2CC85}"/>
              </a:ext>
            </a:extLst>
          </p:cNvPr>
          <p:cNvSpPr>
            <a:spLocks xmlns:a="http://schemas.openxmlformats.org/drawingml/2006/main" noGrp="1"/>
          </p:cNvSpPr>
          <p:nvPr/>
        </p:nvSpPr>
        <p:spPr>
          <a:xfrm xmlns:a="http://schemas.openxmlformats.org/drawingml/2006/main">
            <a:off x="7562850" y="2457450"/>
            <a:ext cx="1885950" cy="14668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8" name="text-808-278">
            <a:extLst xmlns:a="http://schemas.openxmlformats.org/drawingml/2006/main">
              <a:ext uri="{FF2B5EF4-FFF2-40B4-BE49-F238E27FC236}">
                <a16:creationId xmlns:a16="http://schemas.microsoft.com/office/drawing/2014/main" id="{63686E5D-5E51-4F1C-B73A-12D92893526B}"/>
              </a:ext>
            </a:extLst>
          </p:cNvPr>
          <p:cNvSpPr>
            <a:spLocks xmlns:a="http://schemas.openxmlformats.org/drawingml/2006/main" noGrp="1"/>
          </p:cNvSpPr>
          <p:nvPr/>
        </p:nvSpPr>
        <p:spPr>
          <a:xfrm xmlns:a="http://schemas.openxmlformats.org/drawingml/2006/main">
            <a:off x="7696200" y="2647950"/>
            <a:ext cx="161925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Layer scoring</a:t>
            </a:r>
          </a:p>
        </p:txBody>
      </p:sp>
      <p:sp>
        <p:nvSpPr>
          <p:cNvPr id="19" name="text-808-334">
            <a:extLst xmlns:a="http://schemas.openxmlformats.org/drawingml/2006/main">
              <a:ext uri="{FF2B5EF4-FFF2-40B4-BE49-F238E27FC236}">
                <a16:creationId xmlns:a16="http://schemas.microsoft.com/office/drawing/2014/main" id="{E50BA52F-FDC1-4097-AB06-E025AB5FBEFB}"/>
              </a:ext>
            </a:extLst>
          </p:cNvPr>
          <p:cNvSpPr>
            <a:spLocks xmlns:a="http://schemas.openxmlformats.org/drawingml/2006/main" noGrp="1"/>
          </p:cNvSpPr>
          <p:nvPr/>
        </p:nvSpPr>
        <p:spPr>
          <a:xfrm xmlns:a="http://schemas.openxmlformats.org/drawingml/2006/main">
            <a:off x="7696200" y="3181350"/>
            <a:ext cx="161925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Quality + efficiency
Reliability + regressions</a:t>
            </a:r>
          </a:p>
        </p:txBody>
      </p:sp>
      <p:sp>
        <p:nvSpPr>
          <p:cNvPr id="20" name="box-1036-258">
            <a:extLst xmlns:a="http://schemas.openxmlformats.org/drawingml/2006/main">
              <a:ext uri="{FF2B5EF4-FFF2-40B4-BE49-F238E27FC236}">
                <a16:creationId xmlns:a16="http://schemas.microsoft.com/office/drawing/2014/main" id="{3D66F727-ECAC-4C25-BCD5-BCF2E1B87EEC}"/>
              </a:ext>
            </a:extLst>
          </p:cNvPr>
          <p:cNvSpPr>
            <a:spLocks xmlns:a="http://schemas.openxmlformats.org/drawingml/2006/main" noGrp="1"/>
          </p:cNvSpPr>
          <p:nvPr/>
        </p:nvSpPr>
        <p:spPr>
          <a:xfrm xmlns:a="http://schemas.openxmlformats.org/drawingml/2006/main">
            <a:off x="9867900" y="2457450"/>
            <a:ext cx="1752600" cy="14668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1" name="text-1050-278">
            <a:extLst xmlns:a="http://schemas.openxmlformats.org/drawingml/2006/main">
              <a:ext uri="{FF2B5EF4-FFF2-40B4-BE49-F238E27FC236}">
                <a16:creationId xmlns:a16="http://schemas.microsoft.com/office/drawing/2014/main" id="{6B4C8F98-2717-4B45-80E3-D21A55F7C0C2}"/>
              </a:ext>
            </a:extLst>
          </p:cNvPr>
          <p:cNvSpPr>
            <a:spLocks xmlns:a="http://schemas.openxmlformats.org/drawingml/2006/main" noGrp="1"/>
          </p:cNvSpPr>
          <p:nvPr/>
        </p:nvSpPr>
        <p:spPr>
          <a:xfrm xmlns:a="http://schemas.openxmlformats.org/drawingml/2006/main">
            <a:off x="10001250" y="2647950"/>
            <a:ext cx="1485900" cy="323850"/>
          </a:xfrm>
          <a:prstGeom xmlns:a="http://schemas.openxmlformats.org/drawingml/2006/main" prst="rect">
            <a:avLst/>
          </a:prstGeom>
        </p:spPr>
        <p:txBody>
          <a:bodyPr xmlns:a="http://schemas.openxmlformats.org/drawingml/2006/main" wrap="square" lIns="0" tIns="0" rIns="0" bIns="0" anchor="t">
            <a:normAutofit fontScale="83382" lnSpcReduction="10000"/>
          </a:bodyPr>
          <a:lstStyle xmlns:a="http://schemas.openxmlformats.org/drawingml/2006/main"/>
          <a:p xmlns:a="http://schemas.openxmlformats.org/drawingml/2006/main">
            <a:pPr algn="ctr">
              <a:buNone/>
              <a:defRPr sz="1500" b="1">
                <a:solidFill>
                  <a:srgbClr val="000000"/>
                </a:solidFill>
                <a:latin typeface="Helvetica Neue"/>
                <a:ea typeface="Helvetica Neue"/>
                <a:cs typeface="Helvetica Neue"/>
              </a:defRPr>
            </a:pPr>
            <a:r>
              <a:t>Recommendation</a:t>
            </a:r>
          </a:p>
        </p:txBody>
      </p:sp>
      <p:sp>
        <p:nvSpPr>
          <p:cNvPr id="22" name="text-1050-334">
            <a:extLst xmlns:a="http://schemas.openxmlformats.org/drawingml/2006/main">
              <a:ext uri="{FF2B5EF4-FFF2-40B4-BE49-F238E27FC236}">
                <a16:creationId xmlns:a16="http://schemas.microsoft.com/office/drawing/2014/main" id="{4408DD21-CC0A-47BD-8E3D-F6727F205963}"/>
              </a:ext>
            </a:extLst>
          </p:cNvPr>
          <p:cNvSpPr>
            <a:spLocks xmlns:a="http://schemas.openxmlformats.org/drawingml/2006/main" noGrp="1"/>
          </p:cNvSpPr>
          <p:nvPr/>
        </p:nvSpPr>
        <p:spPr>
          <a:xfrm xmlns:a="http://schemas.openxmlformats.org/drawingml/2006/main">
            <a:off x="10001250" y="3181350"/>
            <a:ext cx="1485900" cy="5143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200" b="0">
                <a:solidFill>
                  <a:srgbClr val="5D6470"/>
                </a:solidFill>
                <a:latin typeface="Helvetica Neue"/>
                <a:ea typeface="Helvetica Neue"/>
                <a:cs typeface="Helvetica Neue"/>
              </a:defRPr>
            </a:pPr>
            <a:r>
              <a:t>Holdout-qualified
Externally promoted</a:t>
            </a:r>
          </a:p>
        </p:txBody>
      </p:sp>
      <p:sp>
        <p:nvSpPr>
          <p:cNvPr id="23" name="line-1140-453">
            <a:extLst xmlns:a="http://schemas.openxmlformats.org/drawingml/2006/main">
              <a:ext uri="{FF2B5EF4-FFF2-40B4-BE49-F238E27FC236}">
                <a16:creationId xmlns:a16="http://schemas.microsoft.com/office/drawing/2014/main" id="{3160B86E-7401-4E1A-A545-9DDC72340130}"/>
              </a:ext>
            </a:extLst>
          </p:cNvPr>
          <p:cNvSpPr>
            <a:spLocks xmlns:a="http://schemas.openxmlformats.org/drawingml/2006/main" noGrp="1"/>
          </p:cNvSpPr>
          <p:nvPr/>
        </p:nvSpPr>
        <p:spPr>
          <a:xfrm xmlns:a="http://schemas.openxmlformats.org/drawingml/2006/main">
            <a:off x="2019300" y="4314825"/>
            <a:ext cx="8839200" cy="19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4" name="arrow-190-442">
            <a:extLst xmlns:a="http://schemas.openxmlformats.org/drawingml/2006/main">
              <a:ext uri="{FF2B5EF4-FFF2-40B4-BE49-F238E27FC236}">
                <a16:creationId xmlns:a16="http://schemas.microsoft.com/office/drawing/2014/main" id="{DBAFCCA4-DD3F-42E3-B3DF-DA6141E7A040}"/>
              </a:ext>
            </a:extLst>
          </p:cNvPr>
          <p:cNvSpPr>
            <a:spLocks xmlns:a="http://schemas.openxmlformats.org/drawingml/2006/main" noGrp="1"/>
          </p:cNvSpPr>
          <p:nvPr/>
        </p:nvSpPr>
        <p:spPr>
          <a:xfrm xmlns:a="http://schemas.openxmlformats.org/drawingml/2006/main">
            <a:off x="1809750" y="4210050"/>
            <a:ext cx="323850" cy="20955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5" name="text-438-470">
            <a:extLst xmlns:a="http://schemas.openxmlformats.org/drawingml/2006/main">
              <a:ext uri="{FF2B5EF4-FFF2-40B4-BE49-F238E27FC236}">
                <a16:creationId xmlns:a16="http://schemas.microsoft.com/office/drawing/2014/main" id="{FB5D9D69-BE92-4D00-BE19-49F77245F3A4}"/>
              </a:ext>
            </a:extLst>
          </p:cNvPr>
          <p:cNvSpPr>
            <a:spLocks xmlns:a="http://schemas.openxmlformats.org/drawingml/2006/main" noGrp="1"/>
          </p:cNvSpPr>
          <p:nvPr/>
        </p:nvSpPr>
        <p:spPr>
          <a:xfrm xmlns:a="http://schemas.openxmlformats.org/drawingml/2006/main">
            <a:off x="4171950" y="4476750"/>
            <a:ext cx="47625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350" b="1">
                <a:solidFill>
                  <a:srgbClr val="3D8DFF"/>
                </a:solidFill>
                <a:latin typeface="Helvetica Neue"/>
                <a:ea typeface="Helvetica Neue"/>
                <a:cs typeface="Helvetica Neue"/>
              </a:defRPr>
            </a:pPr>
            <a:r>
              <a:t>reject / retain / generate next candidates</a:t>
            </a:r>
          </a:p>
        </p:txBody>
      </p:sp>
      <p:sp>
        <p:nvSpPr>
          <p:cNvPr id="26" name="box-156-548">
            <a:extLst xmlns:a="http://schemas.openxmlformats.org/drawingml/2006/main">
              <a:ext uri="{FF2B5EF4-FFF2-40B4-BE49-F238E27FC236}">
                <a16:creationId xmlns:a16="http://schemas.microsoft.com/office/drawing/2014/main" id="{DAA45E0C-EA49-4DFC-BFD0-365B68185B8B}"/>
              </a:ext>
            </a:extLst>
          </p:cNvPr>
          <p:cNvSpPr>
            <a:spLocks xmlns:a="http://schemas.openxmlformats.org/drawingml/2006/main" noGrp="1"/>
          </p:cNvSpPr>
          <p:nvPr/>
        </p:nvSpPr>
        <p:spPr>
          <a:xfrm xmlns:a="http://schemas.openxmlformats.org/drawingml/2006/main">
            <a:off x="1485900" y="5219700"/>
            <a:ext cx="9220200" cy="6667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27" name="text-178-566">
            <a:extLst xmlns:a="http://schemas.openxmlformats.org/drawingml/2006/main">
              <a:ext uri="{FF2B5EF4-FFF2-40B4-BE49-F238E27FC236}">
                <a16:creationId xmlns:a16="http://schemas.microsoft.com/office/drawing/2014/main" id="{EADA753C-8E82-4533-9942-12DEB68D1B27}"/>
              </a:ext>
            </a:extLst>
          </p:cNvPr>
          <p:cNvSpPr>
            <a:spLocks xmlns:a="http://schemas.openxmlformats.org/drawingml/2006/main" noGrp="1"/>
          </p:cNvSpPr>
          <p:nvPr/>
        </p:nvSpPr>
        <p:spPr>
          <a:xfrm xmlns:a="http://schemas.openxmlformats.org/drawingml/2006/main">
            <a:off x="1695450" y="5391150"/>
            <a:ext cx="5238750" cy="266700"/>
          </a:xfrm>
          <a:prstGeom xmlns:a="http://schemas.openxmlformats.org/drawingml/2006/main" prst="rect">
            <a:avLst/>
          </a:prstGeom>
        </p:spPr>
        <p:txBody>
          <a:bodyPr xmlns:a="http://schemas.openxmlformats.org/drawingml/2006/main" wrap="square" lIns="0" tIns="0" rIns="0" bIns="0" anchor="t">
            <a:normAutofit fontScale="92500"/>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Self-tuning = automated offline search and recommendation</a:t>
            </a:r>
          </a:p>
        </p:txBody>
      </p:sp>
      <p:sp>
        <p:nvSpPr>
          <p:cNvPr id="28" name="text-744-568">
            <a:extLst xmlns:a="http://schemas.openxmlformats.org/drawingml/2006/main">
              <a:ext uri="{FF2B5EF4-FFF2-40B4-BE49-F238E27FC236}">
                <a16:creationId xmlns:a16="http://schemas.microsoft.com/office/drawing/2014/main" id="{0149B60F-EAEF-4D4A-BCA0-3345B5B3A074}"/>
              </a:ext>
            </a:extLst>
          </p:cNvPr>
          <p:cNvSpPr>
            <a:spLocks xmlns:a="http://schemas.openxmlformats.org/drawingml/2006/main" noGrp="1"/>
          </p:cNvSpPr>
          <p:nvPr/>
        </p:nvSpPr>
        <p:spPr>
          <a:xfrm xmlns:a="http://schemas.openxmlformats.org/drawingml/2006/main">
            <a:off x="7086600" y="5410200"/>
            <a:ext cx="3352800" cy="228600"/>
          </a:xfrm>
          <a:prstGeom xmlns:a="http://schemas.openxmlformats.org/drawingml/2006/main" prst="rect">
            <a:avLst/>
          </a:prstGeom>
        </p:spPr>
        <p:txBody>
          <a:bodyPr xmlns:a="http://schemas.openxmlformats.org/drawingml/2006/main" wrap="square" lIns="0" tIns="0" rIns="0" bIns="0" anchor="t">
            <a:normAutofit fontScale="84872" lnSpcReduction="10000"/>
          </a:bodyPr>
          <a:lstStyle xmlns:a="http://schemas.openxmlformats.org/drawingml/2006/main"/>
          <a:p xmlns:a="http://schemas.openxmlformats.org/drawingml/2006/main">
            <a:pPr algn="r">
              <a:buNone/>
              <a:defRPr sz="1200" b="0">
                <a:solidFill>
                  <a:srgbClr val="5D6470"/>
                </a:solidFill>
                <a:latin typeface="Helvetica Neue"/>
                <a:ea typeface="Helvetica Neue"/>
                <a:cs typeface="Helvetica Neue"/>
              </a:defRPr>
            </a:pPr>
            <a:r>
              <a:t>Human gold and production promotion remain controlled gates.</a:t>
            </a:r>
          </a:p>
        </p:txBody>
      </p:sp>
    </p:spTree>
    <p:extLst>
      <p:ext uri="{BB962C8B-B14F-4D97-AF65-F5344CB8AC3E}">
        <p14:creationId xmlns:p14="http://schemas.microsoft.com/office/powerpoint/2010/main" val="5151454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text-42-26">
            <a:extLst xmlns:a="http://schemas.openxmlformats.org/drawingml/2006/main">
              <a:ext uri="{FF2B5EF4-FFF2-40B4-BE49-F238E27FC236}">
                <a16:creationId xmlns:a16="http://schemas.microsoft.com/office/drawing/2014/main" id="{CE3701AC-26E3-4C7F-B021-07DE8527F9EE}"/>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 TUNE / HARNESS</a:t>
            </a:r>
          </a:p>
        </p:txBody>
      </p:sp>
      <p:sp>
        <p:nvSpPr>
          <p:cNvPr id="2" name="text-42-54">
            <a:extLst xmlns:a="http://schemas.openxmlformats.org/drawingml/2006/main">
              <a:ext uri="{FF2B5EF4-FFF2-40B4-BE49-F238E27FC236}">
                <a16:creationId xmlns:a16="http://schemas.microsoft.com/office/drawing/2014/main" id="{FEA35B07-C19F-465F-9642-BD6593BF692F}"/>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One checkpoint log separates stage KPIs</a:t>
            </a:r>
          </a:p>
        </p:txBody>
      </p:sp>
      <p:sp>
        <p:nvSpPr>
          <p:cNvPr id="3" name="line-42-133">
            <a:extLst xmlns:a="http://schemas.openxmlformats.org/drawingml/2006/main">
              <a:ext uri="{FF2B5EF4-FFF2-40B4-BE49-F238E27FC236}">
                <a16:creationId xmlns:a16="http://schemas.microsoft.com/office/drawing/2014/main" id="{62526D25-EA1E-4E3D-9090-8146C989EB2D}"/>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42-176">
            <a:extLst xmlns:a="http://schemas.openxmlformats.org/drawingml/2006/main">
              <a:ext uri="{FF2B5EF4-FFF2-40B4-BE49-F238E27FC236}">
                <a16:creationId xmlns:a16="http://schemas.microsoft.com/office/drawing/2014/main" id="{E972DA25-F02F-418E-A3CA-7CC35CB7439A}"/>
              </a:ext>
            </a:extLst>
          </p:cNvPr>
          <p:cNvSpPr>
            <a:spLocks xmlns:a="http://schemas.openxmlformats.org/drawingml/2006/main" noGrp="1"/>
          </p:cNvSpPr>
          <p:nvPr/>
        </p:nvSpPr>
        <p:spPr>
          <a:xfrm xmlns:a="http://schemas.openxmlformats.org/drawingml/2006/main">
            <a:off x="400050" y="1676400"/>
            <a:ext cx="2141220" cy="342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t>CASE</a:t>
            </a:r>
          </a:p>
        </p:txBody>
      </p:sp>
      <p:sp>
        <p:nvSpPr>
          <p:cNvPr id="5" name="text-42-218">
            <a:extLst xmlns:a="http://schemas.openxmlformats.org/drawingml/2006/main">
              <a:ext uri="{FF2B5EF4-FFF2-40B4-BE49-F238E27FC236}">
                <a16:creationId xmlns:a16="http://schemas.microsoft.com/office/drawing/2014/main" id="{3784F27E-89B4-4F1B-820A-0F4C00EE451E}"/>
              </a:ext>
            </a:extLst>
          </p:cNvPr>
          <p:cNvSpPr>
            <a:spLocks xmlns:a="http://schemas.openxmlformats.org/drawingml/2006/main" noGrp="1"/>
          </p:cNvSpPr>
          <p:nvPr/>
        </p:nvSpPr>
        <p:spPr>
          <a:xfrm xmlns:a="http://schemas.openxmlformats.org/drawingml/2006/main">
            <a:off x="400050" y="2076450"/>
            <a:ext cx="21412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Human-approved reference</a:t>
            </a:r>
          </a:p>
        </p:txBody>
      </p:sp>
      <p:sp>
        <p:nvSpPr>
          <p:cNvPr id="6" name="box-42-294">
            <a:extLst xmlns:a="http://schemas.openxmlformats.org/drawingml/2006/main">
              <a:ext uri="{FF2B5EF4-FFF2-40B4-BE49-F238E27FC236}">
                <a16:creationId xmlns:a16="http://schemas.microsoft.com/office/drawing/2014/main" id="{18EBC0DC-53D2-4651-8AD0-919B18B39E41}"/>
              </a:ext>
            </a:extLst>
          </p:cNvPr>
          <p:cNvSpPr>
            <a:spLocks xmlns:a="http://schemas.openxmlformats.org/drawingml/2006/main" noGrp="1"/>
          </p:cNvSpPr>
          <p:nvPr/>
        </p:nvSpPr>
        <p:spPr>
          <a:xfrm xmlns:a="http://schemas.openxmlformats.org/drawingml/2006/main">
            <a:off x="400050" y="2800350"/>
            <a:ext cx="2141220" cy="1066800"/>
          </a:xfrm>
          <a:prstGeom xmlns:a="http://schemas.openxmlformats.org/drawingml/2006/main" prst="rect">
            <a:avLst/>
          </a:prstGeom>
          <a:solidFill xmlns:a="http://schemas.openxmlformats.org/drawingml/2006/main">
            <a:srgbClr val="EEF7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7" name="text-56-308">
            <a:extLst xmlns:a="http://schemas.openxmlformats.org/drawingml/2006/main">
              <a:ext uri="{FF2B5EF4-FFF2-40B4-BE49-F238E27FC236}">
                <a16:creationId xmlns:a16="http://schemas.microsoft.com/office/drawing/2014/main" id="{0D446FD0-4396-4640-B7B4-FEFF1B35115D}"/>
              </a:ext>
            </a:extLst>
          </p:cNvPr>
          <p:cNvSpPr>
            <a:spLocks xmlns:a="http://schemas.openxmlformats.org/drawingml/2006/main" noGrp="1"/>
          </p:cNvSpPr>
          <p:nvPr/>
        </p:nvSpPr>
        <p:spPr>
          <a:xfrm xmlns:a="http://schemas.openxmlformats.org/drawingml/2006/main">
            <a:off x="533400" y="29337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LOG LINES</a:t>
            </a:r>
          </a:p>
        </p:txBody>
      </p:sp>
      <p:sp>
        <p:nvSpPr>
          <p:cNvPr id="8" name="text-56-336">
            <a:extLst xmlns:a="http://schemas.openxmlformats.org/drawingml/2006/main">
              <a:ext uri="{FF2B5EF4-FFF2-40B4-BE49-F238E27FC236}">
                <a16:creationId xmlns:a16="http://schemas.microsoft.com/office/drawing/2014/main" id="{1C29D738-602E-4204-81C0-15F8BA1A60F3}"/>
              </a:ext>
            </a:extLst>
          </p:cNvPr>
          <p:cNvSpPr>
            <a:spLocks xmlns:a="http://schemas.openxmlformats.org/drawingml/2006/main" noGrp="1"/>
          </p:cNvSpPr>
          <p:nvPr/>
        </p:nvSpPr>
        <p:spPr>
          <a:xfrm xmlns:a="http://schemas.openxmlformats.org/drawingml/2006/main">
            <a:off x="533400" y="3200400"/>
            <a:ext cx="18745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11800  progress @418
12083  decode error
12135  cleanup</a:t>
            </a:r>
          </a:p>
        </p:txBody>
      </p:sp>
      <p:sp>
        <p:nvSpPr>
          <p:cNvPr id="9" name="box-42-422">
            <a:extLst xmlns:a="http://schemas.openxmlformats.org/drawingml/2006/main">
              <a:ext uri="{FF2B5EF4-FFF2-40B4-BE49-F238E27FC236}">
                <a16:creationId xmlns:a16="http://schemas.microsoft.com/office/drawing/2014/main" id="{1E4A42C0-0C11-4AB2-BECE-6C42656F52CC}"/>
              </a:ext>
            </a:extLst>
          </p:cNvPr>
          <p:cNvSpPr>
            <a:spLocks xmlns:a="http://schemas.openxmlformats.org/drawingml/2006/main" noGrp="1"/>
          </p:cNvSpPr>
          <p:nvPr/>
        </p:nvSpPr>
        <p:spPr>
          <a:xfrm xmlns:a="http://schemas.openxmlformats.org/drawingml/2006/main">
            <a:off x="400050" y="4019550"/>
            <a:ext cx="2141220" cy="1581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0" name="text-56-436">
            <a:extLst xmlns:a="http://schemas.openxmlformats.org/drawingml/2006/main">
              <a:ext uri="{FF2B5EF4-FFF2-40B4-BE49-F238E27FC236}">
                <a16:creationId xmlns:a16="http://schemas.microsoft.com/office/drawing/2014/main" id="{7E018FD6-A529-4279-99DE-76379175D1F9}"/>
              </a:ext>
            </a:extLst>
          </p:cNvPr>
          <p:cNvSpPr>
            <a:spLocks xmlns:a="http://schemas.openxmlformats.org/drawingml/2006/main" noGrp="1"/>
          </p:cNvSpPr>
          <p:nvPr/>
        </p:nvSpPr>
        <p:spPr>
          <a:xfrm xmlns:a="http://schemas.openxmlformats.org/drawingml/2006/main">
            <a:off x="533400" y="41529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GOLD</a:t>
            </a:r>
          </a:p>
        </p:txBody>
      </p:sp>
      <p:sp>
        <p:nvSpPr>
          <p:cNvPr id="11" name="text-56-464">
            <a:extLst xmlns:a="http://schemas.openxmlformats.org/drawingml/2006/main">
              <a:ext uri="{FF2B5EF4-FFF2-40B4-BE49-F238E27FC236}">
                <a16:creationId xmlns:a16="http://schemas.microsoft.com/office/drawing/2014/main" id="{E9373472-2046-4E96-9547-E8F98770A71C}"/>
              </a:ext>
            </a:extLst>
          </p:cNvPr>
          <p:cNvSpPr>
            <a:spLocks xmlns:a="http://schemas.openxmlformats.org/drawingml/2006/main" noGrp="1"/>
          </p:cNvSpPr>
          <p:nvPr/>
        </p:nvSpPr>
        <p:spPr>
          <a:xfrm xmlns:a="http://schemas.openxmlformats.org/drawingml/2006/main">
            <a:off x="533400" y="4419600"/>
            <a:ext cx="1874520" cy="1066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12083
Operation: checkpoint_load
12135: teardown cascade</a:t>
            </a:r>
          </a:p>
        </p:txBody>
      </p:sp>
      <p:sp>
        <p:nvSpPr>
          <p:cNvPr id="12" name="text-284.8-176">
            <a:extLst xmlns:a="http://schemas.openxmlformats.org/drawingml/2006/main">
              <a:ext uri="{FF2B5EF4-FFF2-40B4-BE49-F238E27FC236}">
                <a16:creationId xmlns:a16="http://schemas.microsoft.com/office/drawing/2014/main" id="{67C46434-A7F2-4561-92D4-06A5D5DCB2E0}"/>
              </a:ext>
            </a:extLst>
          </p:cNvPr>
          <p:cNvSpPr>
            <a:spLocks xmlns:a="http://schemas.openxmlformats.org/drawingml/2006/main" noGrp="1"/>
          </p:cNvSpPr>
          <p:nvPr/>
        </p:nvSpPr>
        <p:spPr>
          <a:xfrm xmlns:a="http://schemas.openxmlformats.org/drawingml/2006/main">
            <a:off x="2712720" y="1676400"/>
            <a:ext cx="2141220" cy="342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t>L0A</a:t>
            </a:r>
          </a:p>
        </p:txBody>
      </p:sp>
      <p:sp>
        <p:nvSpPr>
          <p:cNvPr id="13" name="text-284.8-218">
            <a:extLst xmlns:a="http://schemas.openxmlformats.org/drawingml/2006/main">
              <a:ext uri="{FF2B5EF4-FFF2-40B4-BE49-F238E27FC236}">
                <a16:creationId xmlns:a16="http://schemas.microsoft.com/office/drawing/2014/main" id="{A1F968C9-9548-4BEE-B297-B19108CB5FFB}"/>
              </a:ext>
            </a:extLst>
          </p:cNvPr>
          <p:cNvSpPr>
            <a:spLocks xmlns:a="http://schemas.openxmlformats.org/drawingml/2006/main" noGrp="1"/>
          </p:cNvSpPr>
          <p:nvPr/>
        </p:nvSpPr>
        <p:spPr>
          <a:xfrm xmlns:a="http://schemas.openxmlformats.org/drawingml/2006/main">
            <a:off x="2712720" y="2076450"/>
            <a:ext cx="21412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Complete typed evidence</a:t>
            </a:r>
          </a:p>
        </p:txBody>
      </p:sp>
      <p:sp>
        <p:nvSpPr>
          <p:cNvPr id="14" name="box-284.8-294">
            <a:extLst xmlns:a="http://schemas.openxmlformats.org/drawingml/2006/main">
              <a:ext uri="{FF2B5EF4-FFF2-40B4-BE49-F238E27FC236}">
                <a16:creationId xmlns:a16="http://schemas.microsoft.com/office/drawing/2014/main" id="{5AF76D73-93DF-403B-BD3E-89C9E0501E42}"/>
              </a:ext>
            </a:extLst>
          </p:cNvPr>
          <p:cNvSpPr>
            <a:spLocks xmlns:a="http://schemas.openxmlformats.org/drawingml/2006/main" noGrp="1"/>
          </p:cNvSpPr>
          <p:nvPr/>
        </p:nvSpPr>
        <p:spPr>
          <a:xfrm xmlns:a="http://schemas.openxmlformats.org/drawingml/2006/main">
            <a:off x="2712720" y="2800350"/>
            <a:ext cx="2141220" cy="1066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5" name="text-298.8-308">
            <a:extLst xmlns:a="http://schemas.openxmlformats.org/drawingml/2006/main">
              <a:ext uri="{FF2B5EF4-FFF2-40B4-BE49-F238E27FC236}">
                <a16:creationId xmlns:a16="http://schemas.microsoft.com/office/drawing/2014/main" id="{C0A6E7C4-08BD-45C1-8F49-E857E6C14390}"/>
              </a:ext>
            </a:extLst>
          </p:cNvPr>
          <p:cNvSpPr>
            <a:spLocks xmlns:a="http://schemas.openxmlformats.org/drawingml/2006/main" noGrp="1"/>
          </p:cNvSpPr>
          <p:nvPr/>
        </p:nvSpPr>
        <p:spPr>
          <a:xfrm xmlns:a="http://schemas.openxmlformats.org/drawingml/2006/main">
            <a:off x="2846070" y="29337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OBSERVED</a:t>
            </a:r>
          </a:p>
        </p:txBody>
      </p:sp>
      <p:sp>
        <p:nvSpPr>
          <p:cNvPr id="16" name="text-298.8-336">
            <a:extLst xmlns:a="http://schemas.openxmlformats.org/drawingml/2006/main">
              <a:ext uri="{FF2B5EF4-FFF2-40B4-BE49-F238E27FC236}">
                <a16:creationId xmlns:a16="http://schemas.microsoft.com/office/drawing/2014/main" id="{B587E542-8662-4235-A46E-84250AE0580C}"/>
              </a:ext>
            </a:extLst>
          </p:cNvPr>
          <p:cNvSpPr>
            <a:spLocks xmlns:a="http://schemas.openxmlformats.org/drawingml/2006/main" noGrp="1"/>
          </p:cNvSpPr>
          <p:nvPr/>
        </p:nvSpPr>
        <p:spPr>
          <a:xfrm xmlns:a="http://schemas.openxmlformats.org/drawingml/2006/main">
            <a:off x="2846070" y="3200400"/>
            <a:ext cx="18745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12083 retained
Primary = 12083
Episode links 12135</a:t>
            </a:r>
          </a:p>
        </p:txBody>
      </p:sp>
      <p:sp>
        <p:nvSpPr>
          <p:cNvPr id="17" name="box-284.8-422">
            <a:extLst xmlns:a="http://schemas.openxmlformats.org/drawingml/2006/main">
              <a:ext uri="{FF2B5EF4-FFF2-40B4-BE49-F238E27FC236}">
                <a16:creationId xmlns:a16="http://schemas.microsoft.com/office/drawing/2014/main" id="{A551CE9B-97E3-47EB-BB8E-E39F83324561}"/>
              </a:ext>
            </a:extLst>
          </p:cNvPr>
          <p:cNvSpPr>
            <a:spLocks xmlns:a="http://schemas.openxmlformats.org/drawingml/2006/main" noGrp="1"/>
          </p:cNvSpPr>
          <p:nvPr/>
        </p:nvSpPr>
        <p:spPr>
          <a:xfrm xmlns:a="http://schemas.openxmlformats.org/drawingml/2006/main">
            <a:off x="2712720" y="4019550"/>
            <a:ext cx="2141220" cy="1581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18" name="text-298.8-436">
            <a:extLst xmlns:a="http://schemas.openxmlformats.org/drawingml/2006/main">
              <a:ext uri="{FF2B5EF4-FFF2-40B4-BE49-F238E27FC236}">
                <a16:creationId xmlns:a16="http://schemas.microsoft.com/office/drawing/2014/main" id="{703F7674-2318-45A3-BB6C-23C28E449282}"/>
              </a:ext>
            </a:extLst>
          </p:cNvPr>
          <p:cNvSpPr>
            <a:spLocks xmlns:a="http://schemas.openxmlformats.org/drawingml/2006/main" noGrp="1"/>
          </p:cNvSpPr>
          <p:nvPr/>
        </p:nvSpPr>
        <p:spPr>
          <a:xfrm xmlns:a="http://schemas.openxmlformats.org/drawingml/2006/main">
            <a:off x="2846070" y="41529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QUALITY</a:t>
            </a:r>
          </a:p>
        </p:txBody>
      </p:sp>
      <p:sp>
        <p:nvSpPr>
          <p:cNvPr id="19" name="text-298.8-464">
            <a:extLst xmlns:a="http://schemas.openxmlformats.org/drawingml/2006/main">
              <a:ext uri="{FF2B5EF4-FFF2-40B4-BE49-F238E27FC236}">
                <a16:creationId xmlns:a16="http://schemas.microsoft.com/office/drawing/2014/main" id="{5C9EE5CB-29F2-4E1B-8013-45F0C9AEB722}"/>
              </a:ext>
            </a:extLst>
          </p:cNvPr>
          <p:cNvSpPr>
            <a:spLocks xmlns:a="http://schemas.openxmlformats.org/drawingml/2006/main" noGrp="1"/>
          </p:cNvSpPr>
          <p:nvPr/>
        </p:nvSpPr>
        <p:spPr>
          <a:xfrm xmlns:a="http://schemas.openxmlformats.org/drawingml/2006/main">
            <a:off x="2846070" y="4419600"/>
            <a:ext cx="1874520" cy="1066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Candidate coverage: pass
Primary selection: pass
Failure roles: 2 / 2</a:t>
            </a:r>
          </a:p>
        </p:txBody>
      </p:sp>
      <p:sp>
        <p:nvSpPr>
          <p:cNvPr id="20" name="text-527.6-176">
            <a:extLst xmlns:a="http://schemas.openxmlformats.org/drawingml/2006/main">
              <a:ext uri="{FF2B5EF4-FFF2-40B4-BE49-F238E27FC236}">
                <a16:creationId xmlns:a16="http://schemas.microsoft.com/office/drawing/2014/main" id="{68C5C165-68D4-42EC-9BF8-3B675138E994}"/>
              </a:ext>
            </a:extLst>
          </p:cNvPr>
          <p:cNvSpPr>
            <a:spLocks xmlns:a="http://schemas.openxmlformats.org/drawingml/2006/main" noGrp="1"/>
          </p:cNvSpPr>
          <p:nvPr/>
        </p:nvSpPr>
        <p:spPr>
          <a:xfrm xmlns:a="http://schemas.openxmlformats.org/drawingml/2006/main">
            <a:off x="5025390" y="1676400"/>
            <a:ext cx="2141220" cy="342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t>L0B</a:t>
            </a:r>
          </a:p>
        </p:txBody>
      </p:sp>
      <p:sp>
        <p:nvSpPr>
          <p:cNvPr id="21" name="text-527.6-218">
            <a:extLst xmlns:a="http://schemas.openxmlformats.org/drawingml/2006/main">
              <a:ext uri="{FF2B5EF4-FFF2-40B4-BE49-F238E27FC236}">
                <a16:creationId xmlns:a16="http://schemas.microsoft.com/office/drawing/2014/main" id="{F423D320-42C1-44D2-816D-4338BEDE2B52}"/>
              </a:ext>
            </a:extLst>
          </p:cNvPr>
          <p:cNvSpPr>
            <a:spLocks xmlns:a="http://schemas.openxmlformats.org/drawingml/2006/main" noGrp="1"/>
          </p:cNvSpPr>
          <p:nvPr/>
        </p:nvSpPr>
        <p:spPr>
          <a:xfrm xmlns:a="http://schemas.openxmlformats.org/drawingml/2006/main">
            <a:off x="5025390" y="2076450"/>
            <a:ext cx="21412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Attention-efficient model view</a:t>
            </a:r>
          </a:p>
        </p:txBody>
      </p:sp>
      <p:sp>
        <p:nvSpPr>
          <p:cNvPr id="22" name="box-527.6-294">
            <a:extLst xmlns:a="http://schemas.openxmlformats.org/drawingml/2006/main">
              <a:ext uri="{FF2B5EF4-FFF2-40B4-BE49-F238E27FC236}">
                <a16:creationId xmlns:a16="http://schemas.microsoft.com/office/drawing/2014/main" id="{6CB4D13D-8700-428A-A280-3634A17BD9BB}"/>
              </a:ext>
            </a:extLst>
          </p:cNvPr>
          <p:cNvSpPr>
            <a:spLocks xmlns:a="http://schemas.openxmlformats.org/drawingml/2006/main" noGrp="1"/>
          </p:cNvSpPr>
          <p:nvPr/>
        </p:nvSpPr>
        <p:spPr>
          <a:xfrm xmlns:a="http://schemas.openxmlformats.org/drawingml/2006/main">
            <a:off x="5025390" y="2800350"/>
            <a:ext cx="2141220" cy="1066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3" name="text-541.6-308">
            <a:extLst xmlns:a="http://schemas.openxmlformats.org/drawingml/2006/main">
              <a:ext uri="{FF2B5EF4-FFF2-40B4-BE49-F238E27FC236}">
                <a16:creationId xmlns:a16="http://schemas.microsoft.com/office/drawing/2014/main" id="{DB47FD74-1690-4E5F-9CE5-8D295D2BD981}"/>
              </a:ext>
            </a:extLst>
          </p:cNvPr>
          <p:cNvSpPr>
            <a:spLocks xmlns:a="http://schemas.openxmlformats.org/drawingml/2006/main" noGrp="1"/>
          </p:cNvSpPr>
          <p:nvPr/>
        </p:nvSpPr>
        <p:spPr>
          <a:xfrm xmlns:a="http://schemas.openxmlformats.org/drawingml/2006/main">
            <a:off x="5158740" y="29337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PROJECTED</a:t>
            </a:r>
          </a:p>
        </p:txBody>
      </p:sp>
      <p:sp>
        <p:nvSpPr>
          <p:cNvPr id="24" name="text-541.6-336">
            <a:extLst xmlns:a="http://schemas.openxmlformats.org/drawingml/2006/main">
              <a:ext uri="{FF2B5EF4-FFF2-40B4-BE49-F238E27FC236}">
                <a16:creationId xmlns:a16="http://schemas.microsoft.com/office/drawing/2014/main" id="{562A3109-3D62-486C-B7F6-0E207D2443BC}"/>
              </a:ext>
            </a:extLst>
          </p:cNvPr>
          <p:cNvSpPr>
            <a:spLocks xmlns:a="http://schemas.openxmlformats.org/drawingml/2006/main" noGrp="1"/>
          </p:cNvSpPr>
          <p:nvPr/>
        </p:nvSpPr>
        <p:spPr>
          <a:xfrm xmlns:a="http://schemas.openxmlformats.org/drawingml/2006/main">
            <a:off x="5158740" y="3200400"/>
            <a:ext cx="18745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4 / 4 required facts
19 -&gt; 1 rank copies
9 -&gt; 5 windows</a:t>
            </a:r>
          </a:p>
        </p:txBody>
      </p:sp>
      <p:sp>
        <p:nvSpPr>
          <p:cNvPr id="25" name="box-527.6-422">
            <a:extLst xmlns:a="http://schemas.openxmlformats.org/drawingml/2006/main">
              <a:ext uri="{FF2B5EF4-FFF2-40B4-BE49-F238E27FC236}">
                <a16:creationId xmlns:a16="http://schemas.microsoft.com/office/drawing/2014/main" id="{216CA4DA-AB23-4B92-8CA9-A64F83D1D34A}"/>
              </a:ext>
            </a:extLst>
          </p:cNvPr>
          <p:cNvSpPr>
            <a:spLocks xmlns:a="http://schemas.openxmlformats.org/drawingml/2006/main" noGrp="1"/>
          </p:cNvSpPr>
          <p:nvPr/>
        </p:nvSpPr>
        <p:spPr>
          <a:xfrm xmlns:a="http://schemas.openxmlformats.org/drawingml/2006/main">
            <a:off x="5025390" y="4019550"/>
            <a:ext cx="2141220" cy="1581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6" name="text-541.6-436">
            <a:extLst xmlns:a="http://schemas.openxmlformats.org/drawingml/2006/main">
              <a:ext uri="{FF2B5EF4-FFF2-40B4-BE49-F238E27FC236}">
                <a16:creationId xmlns:a16="http://schemas.microsoft.com/office/drawing/2014/main" id="{646EB5F9-E578-4935-8C85-6A6FB2813CC6}"/>
              </a:ext>
            </a:extLst>
          </p:cNvPr>
          <p:cNvSpPr>
            <a:spLocks xmlns:a="http://schemas.openxmlformats.org/drawingml/2006/main" noGrp="1"/>
          </p:cNvSpPr>
          <p:nvPr/>
        </p:nvSpPr>
        <p:spPr>
          <a:xfrm xmlns:a="http://schemas.openxmlformats.org/drawingml/2006/main">
            <a:off x="5158740" y="41529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QUALITY + OPS</a:t>
            </a:r>
          </a:p>
        </p:txBody>
      </p:sp>
      <p:sp>
        <p:nvSpPr>
          <p:cNvPr id="27" name="text-541.6-464">
            <a:extLst xmlns:a="http://schemas.openxmlformats.org/drawingml/2006/main">
              <a:ext uri="{FF2B5EF4-FFF2-40B4-BE49-F238E27FC236}">
                <a16:creationId xmlns:a16="http://schemas.microsoft.com/office/drawing/2014/main" id="{6451D63E-91DE-41AF-9243-A2AD46CDEA1E}"/>
              </a:ext>
            </a:extLst>
          </p:cNvPr>
          <p:cNvSpPr>
            <a:spLocks xmlns:a="http://schemas.openxmlformats.org/drawingml/2006/main" noGrp="1"/>
          </p:cNvSpPr>
          <p:nvPr/>
        </p:nvSpPr>
        <p:spPr>
          <a:xfrm xmlns:a="http://schemas.openxmlformats.org/drawingml/2006/main">
            <a:off x="5158740" y="4419600"/>
            <a:ext cx="1874520" cy="10668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Retention: pass
Budget use: 78%
Projection: 0.04 s</a:t>
            </a:r>
          </a:p>
        </p:txBody>
      </p:sp>
      <p:sp>
        <p:nvSpPr>
          <p:cNvPr id="28" name="text-770.4000000000001-176">
            <a:extLst xmlns:a="http://schemas.openxmlformats.org/drawingml/2006/main">
              <a:ext uri="{FF2B5EF4-FFF2-40B4-BE49-F238E27FC236}">
                <a16:creationId xmlns:a16="http://schemas.microsoft.com/office/drawing/2014/main" id="{EA5E55C0-53D8-4BC3-A841-D34650E0C88A}"/>
              </a:ext>
            </a:extLst>
          </p:cNvPr>
          <p:cNvSpPr>
            <a:spLocks xmlns:a="http://schemas.openxmlformats.org/drawingml/2006/main" noGrp="1"/>
          </p:cNvSpPr>
          <p:nvPr/>
        </p:nvSpPr>
        <p:spPr>
          <a:xfrm xmlns:a="http://schemas.openxmlformats.org/drawingml/2006/main">
            <a:off x="7338060" y="1676400"/>
            <a:ext cx="2141220" cy="342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t>L1</a:t>
            </a:r>
          </a:p>
        </p:txBody>
      </p:sp>
      <p:sp>
        <p:nvSpPr>
          <p:cNvPr id="29" name="text-770.4000000000001-218">
            <a:extLst xmlns:a="http://schemas.openxmlformats.org/drawingml/2006/main">
              <a:ext uri="{FF2B5EF4-FFF2-40B4-BE49-F238E27FC236}">
                <a16:creationId xmlns:a16="http://schemas.microsoft.com/office/drawing/2014/main" id="{FCFC48C0-72FA-44BB-BD98-686435ABD236}"/>
              </a:ext>
            </a:extLst>
          </p:cNvPr>
          <p:cNvSpPr>
            <a:spLocks xmlns:a="http://schemas.openxmlformats.org/drawingml/2006/main" noGrp="1"/>
          </p:cNvSpPr>
          <p:nvPr/>
        </p:nvSpPr>
        <p:spPr>
          <a:xfrm xmlns:a="http://schemas.openxmlformats.org/drawingml/2006/main">
            <a:off x="7338060" y="2076450"/>
            <a:ext cx="21412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Semantic recovery assessment</a:t>
            </a:r>
          </a:p>
        </p:txBody>
      </p:sp>
      <p:sp>
        <p:nvSpPr>
          <p:cNvPr id="30" name="box-770.4000000000001-294">
            <a:extLst xmlns:a="http://schemas.openxmlformats.org/drawingml/2006/main">
              <a:ext uri="{FF2B5EF4-FFF2-40B4-BE49-F238E27FC236}">
                <a16:creationId xmlns:a16="http://schemas.microsoft.com/office/drawing/2014/main" id="{E0A3FCA1-A7FB-4EC3-AE66-CC1E224AE3E9}"/>
              </a:ext>
            </a:extLst>
          </p:cNvPr>
          <p:cNvSpPr>
            <a:spLocks xmlns:a="http://schemas.openxmlformats.org/drawingml/2006/main" noGrp="1"/>
          </p:cNvSpPr>
          <p:nvPr/>
        </p:nvSpPr>
        <p:spPr>
          <a:xfrm xmlns:a="http://schemas.openxmlformats.org/drawingml/2006/main">
            <a:off x="7338060" y="2800350"/>
            <a:ext cx="2141220" cy="1066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31" name="text-784.4000000000001-308">
            <a:extLst xmlns:a="http://schemas.openxmlformats.org/drawingml/2006/main">
              <a:ext uri="{FF2B5EF4-FFF2-40B4-BE49-F238E27FC236}">
                <a16:creationId xmlns:a16="http://schemas.microsoft.com/office/drawing/2014/main" id="{1C31BE05-BCE4-4AD3-91E1-6128C9FA0DD0}"/>
              </a:ext>
            </a:extLst>
          </p:cNvPr>
          <p:cNvSpPr>
            <a:spLocks xmlns:a="http://schemas.openxmlformats.org/drawingml/2006/main" noGrp="1"/>
          </p:cNvSpPr>
          <p:nvPr/>
        </p:nvSpPr>
        <p:spPr>
          <a:xfrm xmlns:a="http://schemas.openxmlformats.org/drawingml/2006/main">
            <a:off x="7471410" y="29337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MODEL OUTPUT</a:t>
            </a:r>
          </a:p>
        </p:txBody>
      </p:sp>
      <p:sp>
        <p:nvSpPr>
          <p:cNvPr id="32" name="text-784.4000000000001-336">
            <a:extLst xmlns:a="http://schemas.openxmlformats.org/drawingml/2006/main">
              <a:ext uri="{FF2B5EF4-FFF2-40B4-BE49-F238E27FC236}">
                <a16:creationId xmlns:a16="http://schemas.microsoft.com/office/drawing/2014/main" id="{C543AC12-EE3E-4188-B1E6-A57B7FABBFD3}"/>
              </a:ext>
            </a:extLst>
          </p:cNvPr>
          <p:cNvSpPr>
            <a:spLocks xmlns:a="http://schemas.openxmlformats.org/drawingml/2006/main" noGrp="1"/>
          </p:cNvSpPr>
          <p:nvPr/>
        </p:nvSpPr>
        <p:spPr>
          <a:xfrm xmlns:a="http://schemas.openxmlformats.org/drawingml/2006/main">
            <a:off x="7471410" y="3200400"/>
            <a:ext cx="1874520" cy="552450"/>
          </a:xfrm>
          <a:prstGeom xmlns:a="http://schemas.openxmlformats.org/drawingml/2006/main" prst="rect">
            <a:avLst/>
          </a:prstGeom>
        </p:spPr>
        <p:txBody>
          <a:bodyPr xmlns:a="http://schemas.openxmlformats.org/drawingml/2006/main" wrap="square" lIns="0" tIns="0" rIns="0" bIns="0" anchor="t">
            <a:normAutofit fontScale="82284"/>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checkpoint metadata decode
domain: unknown (unknown)
outlook: may_recover (supported)</a:t>
            </a:r>
          </a:p>
        </p:txBody>
      </p:sp>
      <p:sp>
        <p:nvSpPr>
          <p:cNvPr id="33" name="box-770.4000000000001-422">
            <a:extLst xmlns:a="http://schemas.openxmlformats.org/drawingml/2006/main">
              <a:ext uri="{FF2B5EF4-FFF2-40B4-BE49-F238E27FC236}">
                <a16:creationId xmlns:a16="http://schemas.microsoft.com/office/drawing/2014/main" id="{B93C8DAA-343A-482C-B200-3E2443C9EE61}"/>
              </a:ext>
            </a:extLst>
          </p:cNvPr>
          <p:cNvSpPr>
            <a:spLocks xmlns:a="http://schemas.openxmlformats.org/drawingml/2006/main" noGrp="1"/>
          </p:cNvSpPr>
          <p:nvPr/>
        </p:nvSpPr>
        <p:spPr>
          <a:xfrm xmlns:a="http://schemas.openxmlformats.org/drawingml/2006/main">
            <a:off x="7338060" y="4019550"/>
            <a:ext cx="2141220" cy="1581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34" name="text-784.4000000000001-436">
            <a:extLst xmlns:a="http://schemas.openxmlformats.org/drawingml/2006/main">
              <a:ext uri="{FF2B5EF4-FFF2-40B4-BE49-F238E27FC236}">
                <a16:creationId xmlns:a16="http://schemas.microsoft.com/office/drawing/2014/main" id="{D9A652F7-0A88-440C-A80A-25BEB0E77B2B}"/>
              </a:ext>
            </a:extLst>
          </p:cNvPr>
          <p:cNvSpPr>
            <a:spLocks xmlns:a="http://schemas.openxmlformats.org/drawingml/2006/main" noGrp="1"/>
          </p:cNvSpPr>
          <p:nvPr/>
        </p:nvSpPr>
        <p:spPr>
          <a:xfrm xmlns:a="http://schemas.openxmlformats.org/drawingml/2006/main">
            <a:off x="7471410" y="41529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QUALITY</a:t>
            </a:r>
          </a:p>
        </p:txBody>
      </p:sp>
      <p:sp>
        <p:nvSpPr>
          <p:cNvPr id="35" name="text-784.4000000000001-464">
            <a:extLst xmlns:a="http://schemas.openxmlformats.org/drawingml/2006/main">
              <a:ext uri="{FF2B5EF4-FFF2-40B4-BE49-F238E27FC236}">
                <a16:creationId xmlns:a16="http://schemas.microsoft.com/office/drawing/2014/main" id="{620E27C0-76E8-4785-BB7E-9DB41965D732}"/>
              </a:ext>
            </a:extLst>
          </p:cNvPr>
          <p:cNvSpPr>
            <a:spLocks xmlns:a="http://schemas.openxmlformats.org/drawingml/2006/main" noGrp="1"/>
          </p:cNvSpPr>
          <p:nvPr/>
        </p:nvSpPr>
        <p:spPr>
          <a:xfrm xmlns:a="http://schemas.openxmlformats.org/drawingml/2006/main">
            <a:off x="7471410" y="4419600"/>
            <a:ext cx="1874520" cy="1066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pass
Mechanism: 3 / 3
Recovery fields: 4 / 4</a:t>
            </a:r>
          </a:p>
        </p:txBody>
      </p:sp>
      <p:sp>
        <p:nvSpPr>
          <p:cNvPr id="36" name="text-1013.2-176">
            <a:extLst xmlns:a="http://schemas.openxmlformats.org/drawingml/2006/main">
              <a:ext uri="{FF2B5EF4-FFF2-40B4-BE49-F238E27FC236}">
                <a16:creationId xmlns:a16="http://schemas.microsoft.com/office/drawing/2014/main" id="{3E0A62E5-BB18-4FBC-9824-78BF27E1EEA4}"/>
              </a:ext>
            </a:extLst>
          </p:cNvPr>
          <p:cNvSpPr>
            <a:spLocks xmlns:a="http://schemas.openxmlformats.org/drawingml/2006/main" noGrp="1"/>
          </p:cNvSpPr>
          <p:nvPr/>
        </p:nvSpPr>
        <p:spPr>
          <a:xfrm xmlns:a="http://schemas.openxmlformats.org/drawingml/2006/main">
            <a:off x="9650730" y="1676400"/>
            <a:ext cx="2141220" cy="342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2100" b="1">
                <a:solidFill>
                  <a:srgbClr val="3D8DFF"/>
                </a:solidFill>
                <a:latin typeface="Helvetica Neue"/>
                <a:ea typeface="Helvetica Neue"/>
                <a:cs typeface="Helvetica Neue"/>
              </a:defRPr>
            </a:pPr>
            <a:r>
              <a:t>COMPARE</a:t>
            </a:r>
          </a:p>
        </p:txBody>
      </p:sp>
      <p:sp>
        <p:nvSpPr>
          <p:cNvPr id="37" name="text-1013.2-218">
            <a:extLst xmlns:a="http://schemas.openxmlformats.org/drawingml/2006/main">
              <a:ext uri="{FF2B5EF4-FFF2-40B4-BE49-F238E27FC236}">
                <a16:creationId xmlns:a16="http://schemas.microsoft.com/office/drawing/2014/main" id="{D8373484-5521-4EC7-87DD-FAD718C61BC7}"/>
              </a:ext>
            </a:extLst>
          </p:cNvPr>
          <p:cNvSpPr>
            <a:spLocks xmlns:a="http://schemas.openxmlformats.org/drawingml/2006/main" noGrp="1"/>
          </p:cNvSpPr>
          <p:nvPr/>
        </p:nvSpPr>
        <p:spPr>
          <a:xfrm xmlns:a="http://schemas.openxmlformats.org/drawingml/2006/main">
            <a:off x="9650730" y="2076450"/>
            <a:ext cx="21412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350" b="1">
                <a:solidFill>
                  <a:srgbClr val="000000"/>
                </a:solidFill>
                <a:latin typeface="Helvetica Neue"/>
                <a:ea typeface="Helvetica Neue"/>
                <a:cs typeface="Helvetica Neue"/>
              </a:defRPr>
            </a:pPr>
            <a:r>
              <a:t>Accuracy is not efficiency</a:t>
            </a:r>
          </a:p>
        </p:txBody>
      </p:sp>
      <p:sp>
        <p:nvSpPr>
          <p:cNvPr id="38" name="box-1013.2-294">
            <a:extLst xmlns:a="http://schemas.openxmlformats.org/drawingml/2006/main">
              <a:ext uri="{FF2B5EF4-FFF2-40B4-BE49-F238E27FC236}">
                <a16:creationId xmlns:a16="http://schemas.microsoft.com/office/drawing/2014/main" id="{92CC20E0-3BD5-4C29-8ADF-1478A405173F}"/>
              </a:ext>
            </a:extLst>
          </p:cNvPr>
          <p:cNvSpPr>
            <a:spLocks xmlns:a="http://schemas.openxmlformats.org/drawingml/2006/main" noGrp="1"/>
          </p:cNvSpPr>
          <p:nvPr/>
        </p:nvSpPr>
        <p:spPr>
          <a:xfrm xmlns:a="http://schemas.openxmlformats.org/drawingml/2006/main">
            <a:off x="9650730" y="2800350"/>
            <a:ext cx="2141220" cy="1066800"/>
          </a:xfrm>
          <a:prstGeom xmlns:a="http://schemas.openxmlformats.org/drawingml/2006/main" prst="rect">
            <a:avLst/>
          </a:prstGeom>
          <a:solidFill xmlns:a="http://schemas.openxmlformats.org/drawingml/2006/main">
            <a:srgbClr val="EEF7FF"/>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39" name="text-1027.2-308">
            <a:extLst xmlns:a="http://schemas.openxmlformats.org/drawingml/2006/main">
              <a:ext uri="{FF2B5EF4-FFF2-40B4-BE49-F238E27FC236}">
                <a16:creationId xmlns:a16="http://schemas.microsoft.com/office/drawing/2014/main" id="{3D0D1201-7532-415E-8FEF-924379726E64}"/>
              </a:ext>
            </a:extLst>
          </p:cNvPr>
          <p:cNvSpPr>
            <a:spLocks xmlns:a="http://schemas.openxmlformats.org/drawingml/2006/main" noGrp="1"/>
          </p:cNvSpPr>
          <p:nvPr/>
        </p:nvSpPr>
        <p:spPr>
          <a:xfrm xmlns:a="http://schemas.openxmlformats.org/drawingml/2006/main">
            <a:off x="9784080" y="29337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RUN A</a:t>
            </a:r>
          </a:p>
        </p:txBody>
      </p:sp>
      <p:sp>
        <p:nvSpPr>
          <p:cNvPr id="40" name="text-1027.2-336">
            <a:extLst xmlns:a="http://schemas.openxmlformats.org/drawingml/2006/main">
              <a:ext uri="{FF2B5EF4-FFF2-40B4-BE49-F238E27FC236}">
                <a16:creationId xmlns:a16="http://schemas.microsoft.com/office/drawing/2014/main" id="{C3EEE498-63D6-4C21-8526-A953003F765B}"/>
              </a:ext>
            </a:extLst>
          </p:cNvPr>
          <p:cNvSpPr>
            <a:spLocks xmlns:a="http://schemas.openxmlformats.org/drawingml/2006/main" noGrp="1"/>
          </p:cNvSpPr>
          <p:nvPr/>
        </p:nvSpPr>
        <p:spPr>
          <a:xfrm xmlns:a="http://schemas.openxmlformats.org/drawingml/2006/main">
            <a:off x="9784080" y="3200400"/>
            <a:ext cx="1874520" cy="552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1 turn / 0 tools
8 seconds
Correct assessment</a:t>
            </a:r>
          </a:p>
        </p:txBody>
      </p:sp>
      <p:sp>
        <p:nvSpPr>
          <p:cNvPr id="41" name="box-1013.2-422">
            <a:extLst xmlns:a="http://schemas.openxmlformats.org/drawingml/2006/main">
              <a:ext uri="{FF2B5EF4-FFF2-40B4-BE49-F238E27FC236}">
                <a16:creationId xmlns:a16="http://schemas.microsoft.com/office/drawing/2014/main" id="{16F31F7F-FE59-4580-A0EA-B088AB86A396}"/>
              </a:ext>
            </a:extLst>
          </p:cNvPr>
          <p:cNvSpPr>
            <a:spLocks xmlns:a="http://schemas.openxmlformats.org/drawingml/2006/main" noGrp="1"/>
          </p:cNvSpPr>
          <p:nvPr/>
        </p:nvSpPr>
        <p:spPr>
          <a:xfrm xmlns:a="http://schemas.openxmlformats.org/drawingml/2006/main">
            <a:off x="9650730" y="4019550"/>
            <a:ext cx="2141220" cy="1581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2" name="text-1027.2-436">
            <a:extLst xmlns:a="http://schemas.openxmlformats.org/drawingml/2006/main">
              <a:ext uri="{FF2B5EF4-FFF2-40B4-BE49-F238E27FC236}">
                <a16:creationId xmlns:a16="http://schemas.microsoft.com/office/drawing/2014/main" id="{E5A3EA40-A313-48EA-9C71-91F655929AD2}"/>
              </a:ext>
            </a:extLst>
          </p:cNvPr>
          <p:cNvSpPr>
            <a:spLocks xmlns:a="http://schemas.openxmlformats.org/drawingml/2006/main" noGrp="1"/>
          </p:cNvSpPr>
          <p:nvPr/>
        </p:nvSpPr>
        <p:spPr>
          <a:xfrm xmlns:a="http://schemas.openxmlformats.org/drawingml/2006/main">
            <a:off x="9784080" y="4152900"/>
            <a:ext cx="1874520" cy="190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75" b="1">
                <a:solidFill>
                  <a:srgbClr val="5D6470"/>
                </a:solidFill>
                <a:latin typeface="Helvetica Neue"/>
                <a:ea typeface="Helvetica Neue"/>
                <a:cs typeface="Helvetica Neue"/>
              </a:defRPr>
            </a:pPr>
            <a:r>
              <a:t>RUN B</a:t>
            </a:r>
          </a:p>
        </p:txBody>
      </p:sp>
      <p:sp>
        <p:nvSpPr>
          <p:cNvPr id="43" name="text-1027.2-464">
            <a:extLst xmlns:a="http://schemas.openxmlformats.org/drawingml/2006/main">
              <a:ext uri="{FF2B5EF4-FFF2-40B4-BE49-F238E27FC236}">
                <a16:creationId xmlns:a16="http://schemas.microsoft.com/office/drawing/2014/main" id="{53145EB3-7656-4B09-8E4A-34EC212B629B}"/>
              </a:ext>
            </a:extLst>
          </p:cNvPr>
          <p:cNvSpPr>
            <a:spLocks xmlns:a="http://schemas.openxmlformats.org/drawingml/2006/main" noGrp="1"/>
          </p:cNvSpPr>
          <p:nvPr/>
        </p:nvSpPr>
        <p:spPr>
          <a:xfrm xmlns:a="http://schemas.openxmlformats.org/drawingml/2006/main">
            <a:off x="9784080" y="4419600"/>
            <a:ext cx="1874520" cy="10668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4 turns / tool-assisted
35 seconds
Same accuracy</a:t>
            </a:r>
          </a:p>
        </p:txBody>
      </p:sp>
      <p:sp>
        <p:nvSpPr>
          <p:cNvPr id="44" name="text-42-620">
            <a:extLst xmlns:a="http://schemas.openxmlformats.org/drawingml/2006/main">
              <a:ext uri="{FF2B5EF4-FFF2-40B4-BE49-F238E27FC236}">
                <a16:creationId xmlns:a16="http://schemas.microsoft.com/office/drawing/2014/main" id="{F22D12BA-A729-4586-88F3-837ECC7540DF}"/>
              </a:ext>
            </a:extLst>
          </p:cNvPr>
          <p:cNvSpPr>
            <a:spLocks xmlns:a="http://schemas.openxmlformats.org/drawingml/2006/main" noGrp="1"/>
          </p:cNvSpPr>
          <p:nvPr/>
        </p:nvSpPr>
        <p:spPr>
          <a:xfrm xmlns:a="http://schemas.openxmlformats.org/drawingml/2006/main">
            <a:off x="400050" y="5905500"/>
            <a:ext cx="657225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Illustrative KPI calculation; operational values are examples</a:t>
            </a:r>
          </a:p>
        </p:txBody>
      </p:sp>
      <p:sp>
        <p:nvSpPr>
          <p:cNvPr id="45" name="text-846-620">
            <a:extLst xmlns:a="http://schemas.openxmlformats.org/drawingml/2006/main">
              <a:ext uri="{FF2B5EF4-FFF2-40B4-BE49-F238E27FC236}">
                <a16:creationId xmlns:a16="http://schemas.microsoft.com/office/drawing/2014/main" id="{B3054B22-4F8D-4BB8-B785-75EDDA12E528}"/>
              </a:ext>
            </a:extLst>
          </p:cNvPr>
          <p:cNvSpPr>
            <a:spLocks xmlns:a="http://schemas.openxmlformats.org/drawingml/2006/main" noGrp="1"/>
          </p:cNvSpPr>
          <p:nvPr/>
        </p:nvSpPr>
        <p:spPr>
          <a:xfrm xmlns:a="http://schemas.openxmlformats.org/drawingml/2006/main">
            <a:off x="8058150" y="5905500"/>
            <a:ext cx="36957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350" b="0">
                <a:solidFill>
                  <a:srgbClr val="5D6470"/>
                </a:solidFill>
                <a:latin typeface="Helvetica Neue"/>
                <a:ea typeface="Helvetica Neue"/>
                <a:cs typeface="Helvetica Neue"/>
              </a:defRPr>
            </a:pPr>
            <a:r>
              <a:t>Gold scores quality; traces score operations.</a:t>
            </a:r>
          </a:p>
        </p:txBody>
      </p:sp>
    </p:spTree>
    <p:extLst>
      <p:ext uri="{BB962C8B-B14F-4D97-AF65-F5344CB8AC3E}">
        <p14:creationId xmlns:p14="http://schemas.microsoft.com/office/powerpoint/2010/main" val="89696932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text-42-26">
            <a:extLst xmlns:a="http://schemas.openxmlformats.org/drawingml/2006/main">
              <a:ext uri="{FF2B5EF4-FFF2-40B4-BE49-F238E27FC236}">
                <a16:creationId xmlns:a16="http://schemas.microsoft.com/office/drawing/2014/main" id="{FC5F7B47-6803-43F0-AA25-2992D0A11C57}"/>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A. TUNE / HARNESS</a:t>
            </a:r>
          </a:p>
        </p:txBody>
      </p:sp>
      <p:sp>
        <p:nvSpPr>
          <p:cNvPr id="2" name="text-42-54">
            <a:extLst xmlns:a="http://schemas.openxmlformats.org/drawingml/2006/main">
              <a:ext uri="{FF2B5EF4-FFF2-40B4-BE49-F238E27FC236}">
                <a16:creationId xmlns:a16="http://schemas.microsoft.com/office/drawing/2014/main" id="{3F2A42A6-E7D8-468D-8BD6-BF055BF7380A}"/>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Three gates keep the tuning loop honest</a:t>
            </a:r>
          </a:p>
        </p:txBody>
      </p:sp>
      <p:sp>
        <p:nvSpPr>
          <p:cNvPr id="3" name="line-42-133">
            <a:extLst xmlns:a="http://schemas.openxmlformats.org/drawingml/2006/main">
              <a:ext uri="{FF2B5EF4-FFF2-40B4-BE49-F238E27FC236}">
                <a16:creationId xmlns:a16="http://schemas.microsoft.com/office/drawing/2014/main" id="{1E415B27-CF96-4A6B-91AF-89D885220B48}"/>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206">
            <a:extLst xmlns:a="http://schemas.openxmlformats.org/drawingml/2006/main">
              <a:ext uri="{FF2B5EF4-FFF2-40B4-BE49-F238E27FC236}">
                <a16:creationId xmlns:a16="http://schemas.microsoft.com/office/drawing/2014/main" id="{BE722E03-AD2D-4C11-A8FB-66CB69CC116A}"/>
              </a:ext>
            </a:extLst>
          </p:cNvPr>
          <p:cNvSpPr>
            <a:spLocks xmlns:a="http://schemas.openxmlformats.org/drawingml/2006/main" noGrp="1"/>
          </p:cNvSpPr>
          <p:nvPr/>
        </p:nvSpPr>
        <p:spPr>
          <a:xfrm xmlns:a="http://schemas.openxmlformats.org/drawingml/2006/main">
            <a:off x="590550" y="1962150"/>
            <a:ext cx="3162300" cy="31813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5" name="text-82-230">
            <a:extLst xmlns:a="http://schemas.openxmlformats.org/drawingml/2006/main">
              <a:ext uri="{FF2B5EF4-FFF2-40B4-BE49-F238E27FC236}">
                <a16:creationId xmlns:a16="http://schemas.microsoft.com/office/drawing/2014/main" id="{3DF2F391-D055-45B2-9715-9D3F9F48D5B8}"/>
              </a:ext>
            </a:extLst>
          </p:cNvPr>
          <p:cNvSpPr>
            <a:spLocks xmlns:a="http://schemas.openxmlformats.org/drawingml/2006/main" noGrp="1"/>
          </p:cNvSpPr>
          <p:nvPr/>
        </p:nvSpPr>
        <p:spPr>
          <a:xfrm xmlns:a="http://schemas.openxmlformats.org/drawingml/2006/main">
            <a:off x="781050" y="2190750"/>
            <a:ext cx="27813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1  PR gate</a:t>
            </a:r>
          </a:p>
        </p:txBody>
      </p:sp>
      <p:sp>
        <p:nvSpPr>
          <p:cNvPr id="6" name="text-82-274">
            <a:extLst xmlns:a="http://schemas.openxmlformats.org/drawingml/2006/main">
              <a:ext uri="{FF2B5EF4-FFF2-40B4-BE49-F238E27FC236}">
                <a16:creationId xmlns:a16="http://schemas.microsoft.com/office/drawing/2014/main" id="{9EA57706-6E1B-40FB-8289-CC20094155D5}"/>
              </a:ext>
            </a:extLst>
          </p:cNvPr>
          <p:cNvSpPr>
            <a:spLocks xmlns:a="http://schemas.openxmlformats.org/drawingml/2006/main" noGrp="1"/>
          </p:cNvSpPr>
          <p:nvPr/>
        </p:nvSpPr>
        <p:spPr>
          <a:xfrm xmlns:a="http://schemas.openxmlformats.org/drawingml/2006/main">
            <a:off x="781050" y="2609850"/>
            <a:ext cx="27813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Structural genericity</a:t>
            </a:r>
          </a:p>
        </p:txBody>
      </p:sp>
      <p:sp>
        <p:nvSpPr>
          <p:cNvPr id="7" name="dot-82-338">
            <a:extLst xmlns:a="http://schemas.openxmlformats.org/drawingml/2006/main">
              <a:ext uri="{FF2B5EF4-FFF2-40B4-BE49-F238E27FC236}">
                <a16:creationId xmlns:a16="http://schemas.microsoft.com/office/drawing/2014/main" id="{19A1ED59-3FDC-4713-9996-9DE653E829AB}"/>
              </a:ext>
            </a:extLst>
          </p:cNvPr>
          <p:cNvSpPr>
            <a:spLocks xmlns:a="http://schemas.openxmlformats.org/drawingml/2006/main" noGrp="1"/>
          </p:cNvSpPr>
          <p:nvPr/>
        </p:nvSpPr>
        <p:spPr>
          <a:xfrm xmlns:a="http://schemas.openxmlformats.org/drawingml/2006/main">
            <a:off x="781050" y="3219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102-330">
            <a:extLst xmlns:a="http://schemas.openxmlformats.org/drawingml/2006/main">
              <a:ext uri="{FF2B5EF4-FFF2-40B4-BE49-F238E27FC236}">
                <a16:creationId xmlns:a16="http://schemas.microsoft.com/office/drawing/2014/main" id="{BF5EEF7A-7A18-4B79-9076-F73416E6BDA4}"/>
              </a:ext>
            </a:extLst>
          </p:cNvPr>
          <p:cNvSpPr>
            <a:spLocks xmlns:a="http://schemas.openxmlformats.org/drawingml/2006/main" noGrp="1"/>
          </p:cNvSpPr>
          <p:nvPr/>
        </p:nvSpPr>
        <p:spPr>
          <a:xfrm xmlns:a="http://schemas.openxmlformats.org/drawingml/2006/main">
            <a:off x="971550" y="3143250"/>
            <a:ext cx="25908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No case paths, ranks, timestamps</a:t>
            </a:r>
          </a:p>
        </p:txBody>
      </p:sp>
      <p:sp>
        <p:nvSpPr>
          <p:cNvPr id="9" name="dot-82-398">
            <a:extLst xmlns:a="http://schemas.openxmlformats.org/drawingml/2006/main">
              <a:ext uri="{FF2B5EF4-FFF2-40B4-BE49-F238E27FC236}">
                <a16:creationId xmlns:a16="http://schemas.microsoft.com/office/drawing/2014/main" id="{73EB6400-99F9-49DB-9B52-846B62A818EE}"/>
              </a:ext>
            </a:extLst>
          </p:cNvPr>
          <p:cNvSpPr>
            <a:spLocks xmlns:a="http://schemas.openxmlformats.org/drawingml/2006/main" noGrp="1"/>
          </p:cNvSpPr>
          <p:nvPr/>
        </p:nvSpPr>
        <p:spPr>
          <a:xfrm xmlns:a="http://schemas.openxmlformats.org/drawingml/2006/main">
            <a:off x="781050" y="3790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102-390">
            <a:extLst xmlns:a="http://schemas.openxmlformats.org/drawingml/2006/main">
              <a:ext uri="{FF2B5EF4-FFF2-40B4-BE49-F238E27FC236}">
                <a16:creationId xmlns:a16="http://schemas.microsoft.com/office/drawing/2014/main" id="{C6C1BD21-8560-4426-9902-76C4E0C49143}"/>
              </a:ext>
            </a:extLst>
          </p:cNvPr>
          <p:cNvSpPr>
            <a:spLocks xmlns:a="http://schemas.openxmlformats.org/drawingml/2006/main" noGrp="1"/>
          </p:cNvSpPr>
          <p:nvPr/>
        </p:nvSpPr>
        <p:spPr>
          <a:xfrm xmlns:a="http://schemas.openxmlformats.org/drawingml/2006/main">
            <a:off x="971550" y="3714750"/>
            <a:ext cx="25908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No literal error -&gt; action</a:t>
            </a:r>
          </a:p>
        </p:txBody>
      </p:sp>
      <p:sp>
        <p:nvSpPr>
          <p:cNvPr id="11" name="dot-82-458">
            <a:extLst xmlns:a="http://schemas.openxmlformats.org/drawingml/2006/main">
              <a:ext uri="{FF2B5EF4-FFF2-40B4-BE49-F238E27FC236}">
                <a16:creationId xmlns:a16="http://schemas.microsoft.com/office/drawing/2014/main" id="{8BC27C23-67DB-4C46-92CC-6A625B4C062F}"/>
              </a:ext>
            </a:extLst>
          </p:cNvPr>
          <p:cNvSpPr>
            <a:spLocks xmlns:a="http://schemas.openxmlformats.org/drawingml/2006/main" noGrp="1"/>
          </p:cNvSpPr>
          <p:nvPr/>
        </p:nvSpPr>
        <p:spPr>
          <a:xfrm xmlns:a="http://schemas.openxmlformats.org/drawingml/2006/main">
            <a:off x="78105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text-102-450">
            <a:extLst xmlns:a="http://schemas.openxmlformats.org/drawingml/2006/main">
              <a:ext uri="{FF2B5EF4-FFF2-40B4-BE49-F238E27FC236}">
                <a16:creationId xmlns:a16="http://schemas.microsoft.com/office/drawing/2014/main" id="{E0476071-B1B1-460D-B850-CB88CBAB3558}"/>
              </a:ext>
            </a:extLst>
          </p:cNvPr>
          <p:cNvSpPr>
            <a:spLocks xmlns:a="http://schemas.openxmlformats.org/drawingml/2006/main" noGrp="1"/>
          </p:cNvSpPr>
          <p:nvPr/>
        </p:nvSpPr>
        <p:spPr>
          <a:xfrm xmlns:a="http://schemas.openxmlformats.org/drawingml/2006/main">
            <a:off x="971550" y="4286250"/>
            <a:ext cx="25908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Positive + negative test plan</a:t>
            </a:r>
          </a:p>
        </p:txBody>
      </p:sp>
      <p:sp>
        <p:nvSpPr>
          <p:cNvPr id="13" name="box-434-206">
            <a:extLst xmlns:a="http://schemas.openxmlformats.org/drawingml/2006/main">
              <a:ext uri="{FF2B5EF4-FFF2-40B4-BE49-F238E27FC236}">
                <a16:creationId xmlns:a16="http://schemas.microsoft.com/office/drawing/2014/main" id="{8FD453A8-3AE1-4E27-BB97-9DEEF193F537}"/>
              </a:ext>
            </a:extLst>
          </p:cNvPr>
          <p:cNvSpPr>
            <a:spLocks xmlns:a="http://schemas.openxmlformats.org/drawingml/2006/main" noGrp="1"/>
          </p:cNvSpPr>
          <p:nvPr/>
        </p:nvSpPr>
        <p:spPr>
          <a:xfrm xmlns:a="http://schemas.openxmlformats.org/drawingml/2006/main">
            <a:off x="4133850" y="1962150"/>
            <a:ext cx="3162300" cy="31813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4" name="text-454-230">
            <a:extLst xmlns:a="http://schemas.openxmlformats.org/drawingml/2006/main">
              <a:ext uri="{FF2B5EF4-FFF2-40B4-BE49-F238E27FC236}">
                <a16:creationId xmlns:a16="http://schemas.microsoft.com/office/drawing/2014/main" id="{27B9F5D5-6416-4842-9778-E57F03FDF974}"/>
              </a:ext>
            </a:extLst>
          </p:cNvPr>
          <p:cNvSpPr>
            <a:spLocks xmlns:a="http://schemas.openxmlformats.org/drawingml/2006/main" noGrp="1"/>
          </p:cNvSpPr>
          <p:nvPr/>
        </p:nvSpPr>
        <p:spPr>
          <a:xfrm xmlns:a="http://schemas.openxmlformats.org/drawingml/2006/main">
            <a:off x="4324350" y="2190750"/>
            <a:ext cx="27813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2  Runtime audit</a:t>
            </a:r>
          </a:p>
        </p:txBody>
      </p:sp>
      <p:sp>
        <p:nvSpPr>
          <p:cNvPr id="15" name="text-454-274">
            <a:extLst xmlns:a="http://schemas.openxmlformats.org/drawingml/2006/main">
              <a:ext uri="{FF2B5EF4-FFF2-40B4-BE49-F238E27FC236}">
                <a16:creationId xmlns:a16="http://schemas.microsoft.com/office/drawing/2014/main" id="{28347D18-BB38-43CF-B626-7B5FBEB310D4}"/>
              </a:ext>
            </a:extLst>
          </p:cNvPr>
          <p:cNvSpPr>
            <a:spLocks xmlns:a="http://schemas.openxmlformats.org/drawingml/2006/main" noGrp="1"/>
          </p:cNvSpPr>
          <p:nvPr/>
        </p:nvSpPr>
        <p:spPr>
          <a:xfrm xmlns:a="http://schemas.openxmlformats.org/drawingml/2006/main">
            <a:off x="4324350" y="2609850"/>
            <a:ext cx="27813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Observed compliance</a:t>
            </a:r>
          </a:p>
        </p:txBody>
      </p:sp>
      <p:sp>
        <p:nvSpPr>
          <p:cNvPr id="16" name="dot-454-338">
            <a:extLst xmlns:a="http://schemas.openxmlformats.org/drawingml/2006/main">
              <a:ext uri="{FF2B5EF4-FFF2-40B4-BE49-F238E27FC236}">
                <a16:creationId xmlns:a16="http://schemas.microsoft.com/office/drawing/2014/main" id="{C50B7059-834F-4B99-8CF7-DE05D7392D52}"/>
              </a:ext>
            </a:extLst>
          </p:cNvPr>
          <p:cNvSpPr>
            <a:spLocks xmlns:a="http://schemas.openxmlformats.org/drawingml/2006/main" noGrp="1"/>
          </p:cNvSpPr>
          <p:nvPr/>
        </p:nvSpPr>
        <p:spPr>
          <a:xfrm xmlns:a="http://schemas.openxmlformats.org/drawingml/2006/main">
            <a:off x="4324350" y="3219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7" name="text-474-330">
            <a:extLst xmlns:a="http://schemas.openxmlformats.org/drawingml/2006/main">
              <a:ext uri="{FF2B5EF4-FFF2-40B4-BE49-F238E27FC236}">
                <a16:creationId xmlns:a16="http://schemas.microsoft.com/office/drawing/2014/main" id="{AE32CBE7-F4FD-4B80-BDB0-68FD44A2B678}"/>
              </a:ext>
            </a:extLst>
          </p:cNvPr>
          <p:cNvSpPr>
            <a:spLocks xmlns:a="http://schemas.openxmlformats.org/drawingml/2006/main" noGrp="1"/>
          </p:cNvSpPr>
          <p:nvPr/>
        </p:nvSpPr>
        <p:spPr>
          <a:xfrm xmlns:a="http://schemas.openxmlformats.org/drawingml/2006/main">
            <a:off x="4514850" y="3143250"/>
            <a:ext cx="25908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Preserve raw L1 output</a:t>
            </a:r>
          </a:p>
        </p:txBody>
      </p:sp>
      <p:sp>
        <p:nvSpPr>
          <p:cNvPr id="18" name="dot-454-398">
            <a:extLst xmlns:a="http://schemas.openxmlformats.org/drawingml/2006/main">
              <a:ext uri="{FF2B5EF4-FFF2-40B4-BE49-F238E27FC236}">
                <a16:creationId xmlns:a16="http://schemas.microsoft.com/office/drawing/2014/main" id="{90806A5C-D109-45D4-8908-8E00F12D5BF4}"/>
              </a:ext>
            </a:extLst>
          </p:cNvPr>
          <p:cNvSpPr>
            <a:spLocks xmlns:a="http://schemas.openxmlformats.org/drawingml/2006/main" noGrp="1"/>
          </p:cNvSpPr>
          <p:nvPr/>
        </p:nvSpPr>
        <p:spPr>
          <a:xfrm xmlns:a="http://schemas.openxmlformats.org/drawingml/2006/main">
            <a:off x="4324350" y="3790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74-390">
            <a:extLst xmlns:a="http://schemas.openxmlformats.org/drawingml/2006/main">
              <a:ext uri="{FF2B5EF4-FFF2-40B4-BE49-F238E27FC236}">
                <a16:creationId xmlns:a16="http://schemas.microsoft.com/office/drawing/2014/main" id="{E1E38C6F-C822-47C3-A02C-309A8736AB0F}"/>
              </a:ext>
            </a:extLst>
          </p:cNvPr>
          <p:cNvSpPr>
            <a:spLocks xmlns:a="http://schemas.openxmlformats.org/drawingml/2006/main" noGrp="1"/>
          </p:cNvSpPr>
          <p:nvPr/>
        </p:nvSpPr>
        <p:spPr>
          <a:xfrm xmlns:a="http://schemas.openxmlformats.org/drawingml/2006/main">
            <a:off x="4514850" y="3714750"/>
            <a:ext cx="2590800" cy="4191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Audit + ignore unexpected action fields</a:t>
            </a:r>
          </a:p>
        </p:txBody>
      </p:sp>
      <p:sp>
        <p:nvSpPr>
          <p:cNvPr id="20" name="dot-454-458">
            <a:extLst xmlns:a="http://schemas.openxmlformats.org/drawingml/2006/main">
              <a:ext uri="{FF2B5EF4-FFF2-40B4-BE49-F238E27FC236}">
                <a16:creationId xmlns:a16="http://schemas.microsoft.com/office/drawing/2014/main" id="{C8ED5E76-240B-4191-A709-FBBE6C4168AD}"/>
              </a:ext>
            </a:extLst>
          </p:cNvPr>
          <p:cNvSpPr>
            <a:spLocks xmlns:a="http://schemas.openxmlformats.org/drawingml/2006/main" noGrp="1"/>
          </p:cNvSpPr>
          <p:nvPr/>
        </p:nvSpPr>
        <p:spPr>
          <a:xfrm xmlns:a="http://schemas.openxmlformats.org/drawingml/2006/main">
            <a:off x="432435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74-450">
            <a:extLst xmlns:a="http://schemas.openxmlformats.org/drawingml/2006/main">
              <a:ext uri="{FF2B5EF4-FFF2-40B4-BE49-F238E27FC236}">
                <a16:creationId xmlns:a16="http://schemas.microsoft.com/office/drawing/2014/main" id="{A988E50D-C4C7-45DC-940E-C30422716192}"/>
              </a:ext>
            </a:extLst>
          </p:cNvPr>
          <p:cNvSpPr>
            <a:spLocks xmlns:a="http://schemas.openxmlformats.org/drawingml/2006/main" noGrp="1"/>
          </p:cNvSpPr>
          <p:nvPr/>
        </p:nvSpPr>
        <p:spPr>
          <a:xfrm xmlns:a="http://schemas.openxmlformats.org/drawingml/2006/main">
            <a:off x="4514850" y="4286250"/>
            <a:ext cx="25908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Ground evidence and tool use</a:t>
            </a:r>
          </a:p>
        </p:txBody>
      </p:sp>
      <p:sp>
        <p:nvSpPr>
          <p:cNvPr id="22" name="box-806-206">
            <a:extLst xmlns:a="http://schemas.openxmlformats.org/drawingml/2006/main">
              <a:ext uri="{FF2B5EF4-FFF2-40B4-BE49-F238E27FC236}">
                <a16:creationId xmlns:a16="http://schemas.microsoft.com/office/drawing/2014/main" id="{C85BE6CA-5CB5-48E8-AD04-DE8203212F4A}"/>
              </a:ext>
            </a:extLst>
          </p:cNvPr>
          <p:cNvSpPr>
            <a:spLocks xmlns:a="http://schemas.openxmlformats.org/drawingml/2006/main" noGrp="1"/>
          </p:cNvSpPr>
          <p:nvPr/>
        </p:nvSpPr>
        <p:spPr>
          <a:xfrm xmlns:a="http://schemas.openxmlformats.org/drawingml/2006/main">
            <a:off x="7677150" y="1962150"/>
            <a:ext cx="3162300" cy="31813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3" name="text-826-230">
            <a:extLst xmlns:a="http://schemas.openxmlformats.org/drawingml/2006/main">
              <a:ext uri="{FF2B5EF4-FFF2-40B4-BE49-F238E27FC236}">
                <a16:creationId xmlns:a16="http://schemas.microsoft.com/office/drawing/2014/main" id="{750EC741-8E7B-4411-A824-7659A52881E2}"/>
              </a:ext>
            </a:extLst>
          </p:cNvPr>
          <p:cNvSpPr>
            <a:spLocks xmlns:a="http://schemas.openxmlformats.org/drawingml/2006/main" noGrp="1"/>
          </p:cNvSpPr>
          <p:nvPr/>
        </p:nvSpPr>
        <p:spPr>
          <a:xfrm xmlns:a="http://schemas.openxmlformats.org/drawingml/2006/main">
            <a:off x="7867650" y="2190750"/>
            <a:ext cx="27813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3  Corpus gate</a:t>
            </a:r>
          </a:p>
        </p:txBody>
      </p:sp>
      <p:sp>
        <p:nvSpPr>
          <p:cNvPr id="24" name="text-826-274">
            <a:extLst xmlns:a="http://schemas.openxmlformats.org/drawingml/2006/main">
              <a:ext uri="{FF2B5EF4-FFF2-40B4-BE49-F238E27FC236}">
                <a16:creationId xmlns:a16="http://schemas.microsoft.com/office/drawing/2014/main" id="{9D9B9F96-3D68-419E-999D-FF1A424A73C2}"/>
              </a:ext>
            </a:extLst>
          </p:cNvPr>
          <p:cNvSpPr>
            <a:spLocks xmlns:a="http://schemas.openxmlformats.org/drawingml/2006/main" noGrp="1"/>
          </p:cNvSpPr>
          <p:nvPr/>
        </p:nvSpPr>
        <p:spPr>
          <a:xfrm xmlns:a="http://schemas.openxmlformats.org/drawingml/2006/main">
            <a:off x="7867650" y="2609850"/>
            <a:ext cx="27813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Semantic generalization</a:t>
            </a:r>
          </a:p>
        </p:txBody>
      </p:sp>
      <p:sp>
        <p:nvSpPr>
          <p:cNvPr id="25" name="dot-826-338">
            <a:extLst xmlns:a="http://schemas.openxmlformats.org/drawingml/2006/main">
              <a:ext uri="{FF2B5EF4-FFF2-40B4-BE49-F238E27FC236}">
                <a16:creationId xmlns:a16="http://schemas.microsoft.com/office/drawing/2014/main" id="{6F9C03E8-9D47-4739-B4B3-D053836C1C60}"/>
              </a:ext>
            </a:extLst>
          </p:cNvPr>
          <p:cNvSpPr>
            <a:spLocks xmlns:a="http://schemas.openxmlformats.org/drawingml/2006/main" noGrp="1"/>
          </p:cNvSpPr>
          <p:nvPr/>
        </p:nvSpPr>
        <p:spPr>
          <a:xfrm xmlns:a="http://schemas.openxmlformats.org/drawingml/2006/main">
            <a:off x="7867650" y="3219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6" name="text-846-330">
            <a:extLst xmlns:a="http://schemas.openxmlformats.org/drawingml/2006/main">
              <a:ext uri="{FF2B5EF4-FFF2-40B4-BE49-F238E27FC236}">
                <a16:creationId xmlns:a16="http://schemas.microsoft.com/office/drawing/2014/main" id="{B938A070-6D6B-4CF1-9776-1D528DD88804}"/>
              </a:ext>
            </a:extLst>
          </p:cNvPr>
          <p:cNvSpPr>
            <a:spLocks xmlns:a="http://schemas.openxmlformats.org/drawingml/2006/main" noGrp="1"/>
          </p:cNvSpPr>
          <p:nvPr/>
        </p:nvSpPr>
        <p:spPr>
          <a:xfrm xmlns:a="http://schemas.openxmlformats.org/drawingml/2006/main">
            <a:off x="8058150" y="3143250"/>
            <a:ext cx="25908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Gold is authority, not consensus</a:t>
            </a:r>
          </a:p>
        </p:txBody>
      </p:sp>
      <p:sp>
        <p:nvSpPr>
          <p:cNvPr id="27" name="dot-826-398">
            <a:extLst xmlns:a="http://schemas.openxmlformats.org/drawingml/2006/main">
              <a:ext uri="{FF2B5EF4-FFF2-40B4-BE49-F238E27FC236}">
                <a16:creationId xmlns:a16="http://schemas.microsoft.com/office/drawing/2014/main" id="{6E80C393-6B50-462E-A80F-7192A7D0CDB4}"/>
              </a:ext>
            </a:extLst>
          </p:cNvPr>
          <p:cNvSpPr>
            <a:spLocks xmlns:a="http://schemas.openxmlformats.org/drawingml/2006/main" noGrp="1"/>
          </p:cNvSpPr>
          <p:nvPr/>
        </p:nvSpPr>
        <p:spPr>
          <a:xfrm xmlns:a="http://schemas.openxmlformats.org/drawingml/2006/main">
            <a:off x="7867650" y="37909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8" name="text-846-390">
            <a:extLst xmlns:a="http://schemas.openxmlformats.org/drawingml/2006/main">
              <a:ext uri="{FF2B5EF4-FFF2-40B4-BE49-F238E27FC236}">
                <a16:creationId xmlns:a16="http://schemas.microsoft.com/office/drawing/2014/main" id="{354B3674-14BF-4819-BFAC-BA7165085A5F}"/>
              </a:ext>
            </a:extLst>
          </p:cNvPr>
          <p:cNvSpPr>
            <a:spLocks xmlns:a="http://schemas.openxmlformats.org/drawingml/2006/main" noGrp="1"/>
          </p:cNvSpPr>
          <p:nvPr/>
        </p:nvSpPr>
        <p:spPr>
          <a:xfrm xmlns:a="http://schemas.openxmlformats.org/drawingml/2006/main">
            <a:off x="8058150" y="3714750"/>
            <a:ext cx="25908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Baseline / candidate ablation</a:t>
            </a:r>
          </a:p>
        </p:txBody>
      </p:sp>
      <p:sp>
        <p:nvSpPr>
          <p:cNvPr id="29" name="dot-826-458">
            <a:extLst xmlns:a="http://schemas.openxmlformats.org/drawingml/2006/main">
              <a:ext uri="{FF2B5EF4-FFF2-40B4-BE49-F238E27FC236}">
                <a16:creationId xmlns:a16="http://schemas.microsoft.com/office/drawing/2014/main" id="{22632A25-0C0E-4800-9B8C-4564C9598A61}"/>
              </a:ext>
            </a:extLst>
          </p:cNvPr>
          <p:cNvSpPr>
            <a:spLocks xmlns:a="http://schemas.openxmlformats.org/drawingml/2006/main" noGrp="1"/>
          </p:cNvSpPr>
          <p:nvPr/>
        </p:nvSpPr>
        <p:spPr>
          <a:xfrm xmlns:a="http://schemas.openxmlformats.org/drawingml/2006/main">
            <a:off x="7867650" y="43624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0" name="text-846-450">
            <a:extLst xmlns:a="http://schemas.openxmlformats.org/drawingml/2006/main">
              <a:ext uri="{FF2B5EF4-FFF2-40B4-BE49-F238E27FC236}">
                <a16:creationId xmlns:a16="http://schemas.microsoft.com/office/drawing/2014/main" id="{5EA0F872-B7D7-4398-B050-8B94D09D277B}"/>
              </a:ext>
            </a:extLst>
          </p:cNvPr>
          <p:cNvSpPr>
            <a:spLocks xmlns:a="http://schemas.openxmlformats.org/drawingml/2006/main" noGrp="1"/>
          </p:cNvSpPr>
          <p:nvPr/>
        </p:nvSpPr>
        <p:spPr>
          <a:xfrm xmlns:a="http://schemas.openxmlformats.org/drawingml/2006/main">
            <a:off x="8058150" y="4286250"/>
            <a:ext cx="2590800" cy="4191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0">
                <a:solidFill>
                  <a:srgbClr val="000000"/>
                </a:solidFill>
                <a:latin typeface="Helvetica Neue"/>
                <a:ea typeface="Helvetica Neue"/>
                <a:cs typeface="Helvetica Neue"/>
              </a:defRPr>
            </a:pPr>
            <a:r>
              <a:t>Affected family + holdouts</a:t>
            </a:r>
          </a:p>
        </p:txBody>
      </p:sp>
      <p:sp>
        <p:nvSpPr>
          <p:cNvPr id="31" name="text-64-586">
            <a:extLst xmlns:a="http://schemas.openxmlformats.org/drawingml/2006/main">
              <a:ext uri="{FF2B5EF4-FFF2-40B4-BE49-F238E27FC236}">
                <a16:creationId xmlns:a16="http://schemas.microsoft.com/office/drawing/2014/main" id="{1B34ABFA-4FA6-4D5E-A822-689ADE948726}"/>
              </a:ext>
            </a:extLst>
          </p:cNvPr>
          <p:cNvSpPr>
            <a:spLocks xmlns:a="http://schemas.openxmlformats.org/drawingml/2006/main" noGrp="1"/>
          </p:cNvSpPr>
          <p:nvPr/>
        </p:nvSpPr>
        <p:spPr>
          <a:xfrm xmlns:a="http://schemas.openxmlformats.org/drawingml/2006/main">
            <a:off x="609600" y="5581650"/>
            <a:ext cx="40957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Prompt instructions are not enforcement</a:t>
            </a:r>
          </a:p>
        </p:txBody>
      </p:sp>
      <p:sp>
        <p:nvSpPr>
          <p:cNvPr id="32" name="text-500-586">
            <a:extLst xmlns:a="http://schemas.openxmlformats.org/drawingml/2006/main">
              <a:ext uri="{FF2B5EF4-FFF2-40B4-BE49-F238E27FC236}">
                <a16:creationId xmlns:a16="http://schemas.microsoft.com/office/drawing/2014/main" id="{4DF0D38C-34A4-4D11-98BA-0D2B49A6DECF}"/>
              </a:ext>
            </a:extLst>
          </p:cNvPr>
          <p:cNvSpPr>
            <a:spLocks xmlns:a="http://schemas.openxmlformats.org/drawingml/2006/main" noGrp="1"/>
          </p:cNvSpPr>
          <p:nvPr/>
        </p:nvSpPr>
        <p:spPr>
          <a:xfrm xmlns:a="http://schemas.openxmlformats.org/drawingml/2006/main">
            <a:off x="4762500" y="5581650"/>
            <a:ext cx="6705600" cy="4381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0">
                <a:solidFill>
                  <a:srgbClr val="5D6470"/>
                </a:solidFill>
                <a:latin typeface="Helvetica Neue"/>
                <a:ea typeface="Helvetica Neue"/>
                <a:cs typeface="Helvetica Neue"/>
              </a:defRPr>
            </a:pPr>
            <a:r>
              <a:t>Critical boundaries must also be validated, ignored, rejected, or surfaced deterministically.</a:t>
            </a:r>
          </a:p>
        </p:txBody>
      </p:sp>
    </p:spTree>
    <p:extLst>
      <p:ext uri="{BB962C8B-B14F-4D97-AF65-F5344CB8AC3E}">
        <p14:creationId xmlns:p14="http://schemas.microsoft.com/office/powerpoint/2010/main" val="116481946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text-42-26">
            <a:extLst xmlns:a="http://schemas.openxmlformats.org/drawingml/2006/main">
              <a:ext uri="{FF2B5EF4-FFF2-40B4-BE49-F238E27FC236}">
                <a16:creationId xmlns:a16="http://schemas.microsoft.com/office/drawing/2014/main" id="{23813412-1518-49C1-A7D9-F0D64CB6D438}"/>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A. TUNE / HARNESS</a:t>
            </a:r>
          </a:p>
        </p:txBody>
      </p:sp>
      <p:sp>
        <p:nvSpPr>
          <p:cNvPr id="2" name="text-42-54">
            <a:extLst xmlns:a="http://schemas.openxmlformats.org/drawingml/2006/main">
              <a:ext uri="{FF2B5EF4-FFF2-40B4-BE49-F238E27FC236}">
                <a16:creationId xmlns:a16="http://schemas.microsoft.com/office/drawing/2014/main" id="{8A8E2576-AE54-4CFA-AFC5-9158667FEE47}"/>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Three independent axes combine into one route outcome</a:t>
            </a:r>
          </a:p>
        </p:txBody>
      </p:sp>
      <p:sp>
        <p:nvSpPr>
          <p:cNvPr id="3" name="line-42-133">
            <a:extLst xmlns:a="http://schemas.openxmlformats.org/drawingml/2006/main">
              <a:ext uri="{FF2B5EF4-FFF2-40B4-BE49-F238E27FC236}">
                <a16:creationId xmlns:a16="http://schemas.microsoft.com/office/drawing/2014/main" id="{E68365AB-C761-44FE-BDD8-C706D5505E02}"/>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box-62-204">
            <a:extLst xmlns:a="http://schemas.openxmlformats.org/drawingml/2006/main">
              <a:ext uri="{FF2B5EF4-FFF2-40B4-BE49-F238E27FC236}">
                <a16:creationId xmlns:a16="http://schemas.microsoft.com/office/drawing/2014/main" id="{0C2B5691-B0FA-4BD2-9EA8-C578D0C5FFCC}"/>
              </a:ext>
            </a:extLst>
          </p:cNvPr>
          <p:cNvSpPr>
            <a:spLocks xmlns:a="http://schemas.openxmlformats.org/drawingml/2006/main" noGrp="1"/>
          </p:cNvSpPr>
          <p:nvPr/>
        </p:nvSpPr>
        <p:spPr>
          <a:xfrm xmlns:a="http://schemas.openxmlformats.org/drawingml/2006/main">
            <a:off x="590550" y="1943100"/>
            <a:ext cx="3162300" cy="3333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5" name="text-82-228">
            <a:extLst xmlns:a="http://schemas.openxmlformats.org/drawingml/2006/main">
              <a:ext uri="{FF2B5EF4-FFF2-40B4-BE49-F238E27FC236}">
                <a16:creationId xmlns:a16="http://schemas.microsoft.com/office/drawing/2014/main" id="{837DEC8B-6FCB-455D-B1F7-56FC502E2053}"/>
              </a:ext>
            </a:extLst>
          </p:cNvPr>
          <p:cNvSpPr>
            <a:spLocks xmlns:a="http://schemas.openxmlformats.org/drawingml/2006/main" noGrp="1"/>
          </p:cNvSpPr>
          <p:nvPr/>
        </p:nvSpPr>
        <p:spPr>
          <a:xfrm xmlns:a="http://schemas.openxmlformats.org/drawingml/2006/main">
            <a:off x="781050" y="2171700"/>
            <a:ext cx="27813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Semantic quality</a:t>
            </a:r>
          </a:p>
        </p:txBody>
      </p:sp>
      <p:sp>
        <p:nvSpPr>
          <p:cNvPr id="6" name="text-82-274">
            <a:extLst xmlns:a="http://schemas.openxmlformats.org/drawingml/2006/main">
              <a:ext uri="{FF2B5EF4-FFF2-40B4-BE49-F238E27FC236}">
                <a16:creationId xmlns:a16="http://schemas.microsoft.com/office/drawing/2014/main" id="{048CC5D6-7E89-4A05-8DC9-6FB6F8C20775}"/>
              </a:ext>
            </a:extLst>
          </p:cNvPr>
          <p:cNvSpPr>
            <a:spLocks xmlns:a="http://schemas.openxmlformats.org/drawingml/2006/main" noGrp="1"/>
          </p:cNvSpPr>
          <p:nvPr/>
        </p:nvSpPr>
        <p:spPr>
          <a:xfrm xmlns:a="http://schemas.openxmlformats.org/drawingml/2006/main">
            <a:off x="781050" y="2609850"/>
            <a:ext cx="2781300" cy="4381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Did it reason correctly?</a:t>
            </a:r>
          </a:p>
        </p:txBody>
      </p:sp>
      <p:sp>
        <p:nvSpPr>
          <p:cNvPr id="7" name="dot-82-346">
            <a:extLst xmlns:a="http://schemas.openxmlformats.org/drawingml/2006/main">
              <a:ext uri="{FF2B5EF4-FFF2-40B4-BE49-F238E27FC236}">
                <a16:creationId xmlns:a16="http://schemas.microsoft.com/office/drawing/2014/main" id="{F3B197D2-71CE-4FAF-8DFF-7BA8C7BC069D}"/>
              </a:ext>
            </a:extLst>
          </p:cNvPr>
          <p:cNvSpPr>
            <a:spLocks xmlns:a="http://schemas.openxmlformats.org/drawingml/2006/main" noGrp="1"/>
          </p:cNvSpPr>
          <p:nvPr/>
        </p:nvSpPr>
        <p:spPr>
          <a:xfrm xmlns:a="http://schemas.openxmlformats.org/drawingml/2006/main">
            <a:off x="7810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8" name="text-102-338">
            <a:extLst xmlns:a="http://schemas.openxmlformats.org/drawingml/2006/main">
              <a:ext uri="{FF2B5EF4-FFF2-40B4-BE49-F238E27FC236}">
                <a16:creationId xmlns:a16="http://schemas.microsoft.com/office/drawing/2014/main" id="{012FA933-AB56-41A4-A13D-37075CA444A2}"/>
              </a:ext>
            </a:extLst>
          </p:cNvPr>
          <p:cNvSpPr>
            <a:spLocks xmlns:a="http://schemas.openxmlformats.org/drawingml/2006/main" noGrp="1"/>
          </p:cNvSpPr>
          <p:nvPr/>
        </p:nvSpPr>
        <p:spPr>
          <a:xfrm xmlns:a="http://schemas.openxmlformats.org/drawingml/2006/main">
            <a:off x="971550" y="32194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Primary + mechanism vs gold</a:t>
            </a:r>
          </a:p>
        </p:txBody>
      </p:sp>
      <p:sp>
        <p:nvSpPr>
          <p:cNvPr id="9" name="dot-82-394">
            <a:extLst xmlns:a="http://schemas.openxmlformats.org/drawingml/2006/main">
              <a:ext uri="{FF2B5EF4-FFF2-40B4-BE49-F238E27FC236}">
                <a16:creationId xmlns:a16="http://schemas.microsoft.com/office/drawing/2014/main" id="{FFDFEA14-34C0-49FF-ADF4-187751D01199}"/>
              </a:ext>
            </a:extLst>
          </p:cNvPr>
          <p:cNvSpPr>
            <a:spLocks xmlns:a="http://schemas.openxmlformats.org/drawingml/2006/main" noGrp="1"/>
          </p:cNvSpPr>
          <p:nvPr/>
        </p:nvSpPr>
        <p:spPr>
          <a:xfrm xmlns:a="http://schemas.openxmlformats.org/drawingml/2006/main">
            <a:off x="7810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0" name="text-102-386">
            <a:extLst xmlns:a="http://schemas.openxmlformats.org/drawingml/2006/main">
              <a:ext uri="{FF2B5EF4-FFF2-40B4-BE49-F238E27FC236}">
                <a16:creationId xmlns:a16="http://schemas.microsoft.com/office/drawing/2014/main" id="{BD7A96CD-9E34-438F-94C7-514813915CF8}"/>
              </a:ext>
            </a:extLst>
          </p:cNvPr>
          <p:cNvSpPr>
            <a:spLocks xmlns:a="http://schemas.openxmlformats.org/drawingml/2006/main" noGrp="1"/>
          </p:cNvSpPr>
          <p:nvPr/>
        </p:nvSpPr>
        <p:spPr>
          <a:xfrm xmlns:a="http://schemas.openxmlformats.org/drawingml/2006/main">
            <a:off x="971550" y="36766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Domain + 3 recovery concepts</a:t>
            </a:r>
          </a:p>
        </p:txBody>
      </p:sp>
      <p:sp>
        <p:nvSpPr>
          <p:cNvPr id="11" name="dot-82-442">
            <a:extLst xmlns:a="http://schemas.openxmlformats.org/drawingml/2006/main">
              <a:ext uri="{FF2B5EF4-FFF2-40B4-BE49-F238E27FC236}">
                <a16:creationId xmlns:a16="http://schemas.microsoft.com/office/drawing/2014/main" id="{7FF5343F-4187-489C-B9C7-CA599FECAA34}"/>
              </a:ext>
            </a:extLst>
          </p:cNvPr>
          <p:cNvSpPr>
            <a:spLocks xmlns:a="http://schemas.openxmlformats.org/drawingml/2006/main" noGrp="1"/>
          </p:cNvSpPr>
          <p:nvPr/>
        </p:nvSpPr>
        <p:spPr>
          <a:xfrm xmlns:a="http://schemas.openxmlformats.org/drawingml/2006/main">
            <a:off x="7810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2" name="text-102-434">
            <a:extLst xmlns:a="http://schemas.openxmlformats.org/drawingml/2006/main">
              <a:ext uri="{FF2B5EF4-FFF2-40B4-BE49-F238E27FC236}">
                <a16:creationId xmlns:a16="http://schemas.microsoft.com/office/drawing/2014/main" id="{7C2593A0-C5F1-4FD7-8346-074B266CBEEC}"/>
              </a:ext>
            </a:extLst>
          </p:cNvPr>
          <p:cNvSpPr>
            <a:spLocks xmlns:a="http://schemas.openxmlformats.org/drawingml/2006/main" noGrp="1"/>
          </p:cNvSpPr>
          <p:nvPr/>
        </p:nvSpPr>
        <p:spPr>
          <a:xfrm xmlns:a="http://schemas.openxmlformats.org/drawingml/2006/main">
            <a:off x="971550" y="41338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Unsupported claims + calibration</a:t>
            </a:r>
          </a:p>
        </p:txBody>
      </p:sp>
      <p:sp>
        <p:nvSpPr>
          <p:cNvPr id="13" name="dot-82-490">
            <a:extLst xmlns:a="http://schemas.openxmlformats.org/drawingml/2006/main">
              <a:ext uri="{FF2B5EF4-FFF2-40B4-BE49-F238E27FC236}">
                <a16:creationId xmlns:a16="http://schemas.microsoft.com/office/drawing/2014/main" id="{80C668A4-5F48-4B25-BE69-90AF3FFA9ED3}"/>
              </a:ext>
            </a:extLst>
          </p:cNvPr>
          <p:cNvSpPr>
            <a:spLocks xmlns:a="http://schemas.openxmlformats.org/drawingml/2006/main" noGrp="1"/>
          </p:cNvSpPr>
          <p:nvPr/>
        </p:nvSpPr>
        <p:spPr>
          <a:xfrm xmlns:a="http://schemas.openxmlformats.org/drawingml/2006/main">
            <a:off x="7810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4" name="text-102-482">
            <a:extLst xmlns:a="http://schemas.openxmlformats.org/drawingml/2006/main">
              <a:ext uri="{FF2B5EF4-FFF2-40B4-BE49-F238E27FC236}">
                <a16:creationId xmlns:a16="http://schemas.microsoft.com/office/drawing/2014/main" id="{5EA7E69B-1E68-4227-8351-815D4E8E88B6}"/>
              </a:ext>
            </a:extLst>
          </p:cNvPr>
          <p:cNvSpPr>
            <a:spLocks xmlns:a="http://schemas.openxmlformats.org/drawingml/2006/main" noGrp="1"/>
          </p:cNvSpPr>
          <p:nvPr/>
        </p:nvSpPr>
        <p:spPr>
          <a:xfrm xmlns:a="http://schemas.openxmlformats.org/drawingml/2006/main">
            <a:off x="971550" y="45910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Contract compliance</a:t>
            </a:r>
          </a:p>
        </p:txBody>
      </p:sp>
      <p:sp>
        <p:nvSpPr>
          <p:cNvPr id="15" name="box-434-204">
            <a:extLst xmlns:a="http://schemas.openxmlformats.org/drawingml/2006/main">
              <a:ext uri="{FF2B5EF4-FFF2-40B4-BE49-F238E27FC236}">
                <a16:creationId xmlns:a16="http://schemas.microsoft.com/office/drawing/2014/main" id="{435C183F-E816-42C7-8220-9C299BDDF59C}"/>
              </a:ext>
            </a:extLst>
          </p:cNvPr>
          <p:cNvSpPr>
            <a:spLocks xmlns:a="http://schemas.openxmlformats.org/drawingml/2006/main" noGrp="1"/>
          </p:cNvSpPr>
          <p:nvPr/>
        </p:nvSpPr>
        <p:spPr>
          <a:xfrm xmlns:a="http://schemas.openxmlformats.org/drawingml/2006/main">
            <a:off x="4133850" y="1943100"/>
            <a:ext cx="3162300" cy="33337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16" name="text-454-228">
            <a:extLst xmlns:a="http://schemas.openxmlformats.org/drawingml/2006/main">
              <a:ext uri="{FF2B5EF4-FFF2-40B4-BE49-F238E27FC236}">
                <a16:creationId xmlns:a16="http://schemas.microsoft.com/office/drawing/2014/main" id="{075E886D-3563-4D80-8237-69BE1543388F}"/>
              </a:ext>
            </a:extLst>
          </p:cNvPr>
          <p:cNvSpPr>
            <a:spLocks xmlns:a="http://schemas.openxmlformats.org/drawingml/2006/main" noGrp="1"/>
          </p:cNvSpPr>
          <p:nvPr/>
        </p:nvSpPr>
        <p:spPr>
          <a:xfrm xmlns:a="http://schemas.openxmlformats.org/drawingml/2006/main">
            <a:off x="4324350" y="2171700"/>
            <a:ext cx="27813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Behavioral efficiency</a:t>
            </a:r>
          </a:p>
        </p:txBody>
      </p:sp>
      <p:sp>
        <p:nvSpPr>
          <p:cNvPr id="17" name="text-454-274">
            <a:extLst xmlns:a="http://schemas.openxmlformats.org/drawingml/2006/main">
              <a:ext uri="{FF2B5EF4-FFF2-40B4-BE49-F238E27FC236}">
                <a16:creationId xmlns:a16="http://schemas.microsoft.com/office/drawing/2014/main" id="{ED1373E7-BFC9-45D0-89E6-F452493F49BE}"/>
              </a:ext>
            </a:extLst>
          </p:cNvPr>
          <p:cNvSpPr>
            <a:spLocks xmlns:a="http://schemas.openxmlformats.org/drawingml/2006/main" noGrp="1"/>
          </p:cNvSpPr>
          <p:nvPr/>
        </p:nvSpPr>
        <p:spPr>
          <a:xfrm xmlns:a="http://schemas.openxmlformats.org/drawingml/2006/main">
            <a:off x="4324350" y="2609850"/>
            <a:ext cx="2781300" cy="4381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How much interaction did it need?</a:t>
            </a:r>
          </a:p>
        </p:txBody>
      </p:sp>
      <p:sp>
        <p:nvSpPr>
          <p:cNvPr id="18" name="dot-454-346">
            <a:extLst xmlns:a="http://schemas.openxmlformats.org/drawingml/2006/main">
              <a:ext uri="{FF2B5EF4-FFF2-40B4-BE49-F238E27FC236}">
                <a16:creationId xmlns:a16="http://schemas.microsoft.com/office/drawing/2014/main" id="{E4F3B451-014C-44CA-A21D-CB71042C69AC}"/>
              </a:ext>
            </a:extLst>
          </p:cNvPr>
          <p:cNvSpPr>
            <a:spLocks xmlns:a="http://schemas.openxmlformats.org/drawingml/2006/main" noGrp="1"/>
          </p:cNvSpPr>
          <p:nvPr/>
        </p:nvSpPr>
        <p:spPr>
          <a:xfrm xmlns:a="http://schemas.openxmlformats.org/drawingml/2006/main">
            <a:off x="43243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19" name="text-474-338">
            <a:extLst xmlns:a="http://schemas.openxmlformats.org/drawingml/2006/main">
              <a:ext uri="{FF2B5EF4-FFF2-40B4-BE49-F238E27FC236}">
                <a16:creationId xmlns:a16="http://schemas.microsoft.com/office/drawing/2014/main" id="{1382B0AA-6021-4D47-BE77-CD39228C8C8D}"/>
              </a:ext>
            </a:extLst>
          </p:cNvPr>
          <p:cNvSpPr>
            <a:spLocks xmlns:a="http://schemas.openxmlformats.org/drawingml/2006/main" noGrp="1"/>
          </p:cNvSpPr>
          <p:nvPr/>
        </p:nvSpPr>
        <p:spPr>
          <a:xfrm xmlns:a="http://schemas.openxmlformats.org/drawingml/2006/main">
            <a:off x="4514850" y="32194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First-turn completion</a:t>
            </a:r>
          </a:p>
        </p:txBody>
      </p:sp>
      <p:sp>
        <p:nvSpPr>
          <p:cNvPr id="20" name="dot-454-394">
            <a:extLst xmlns:a="http://schemas.openxmlformats.org/drawingml/2006/main">
              <a:ext uri="{FF2B5EF4-FFF2-40B4-BE49-F238E27FC236}">
                <a16:creationId xmlns:a16="http://schemas.microsoft.com/office/drawing/2014/main" id="{098ABA61-4D6A-42AD-B505-5BABC1E860C7}"/>
              </a:ext>
            </a:extLst>
          </p:cNvPr>
          <p:cNvSpPr>
            <a:spLocks xmlns:a="http://schemas.openxmlformats.org/drawingml/2006/main" noGrp="1"/>
          </p:cNvSpPr>
          <p:nvPr/>
        </p:nvSpPr>
        <p:spPr>
          <a:xfrm xmlns:a="http://schemas.openxmlformats.org/drawingml/2006/main">
            <a:off x="43243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1" name="text-474-386">
            <a:extLst xmlns:a="http://schemas.openxmlformats.org/drawingml/2006/main">
              <a:ext uri="{FF2B5EF4-FFF2-40B4-BE49-F238E27FC236}">
                <a16:creationId xmlns:a16="http://schemas.microsoft.com/office/drawing/2014/main" id="{011AE2DB-B30F-4A47-B1BC-3A2BD57E9DE5}"/>
              </a:ext>
            </a:extLst>
          </p:cNvPr>
          <p:cNvSpPr>
            <a:spLocks xmlns:a="http://schemas.openxmlformats.org/drawingml/2006/main" noGrp="1"/>
          </p:cNvSpPr>
          <p:nvPr/>
        </p:nvSpPr>
        <p:spPr>
          <a:xfrm xmlns:a="http://schemas.openxmlformats.org/drawingml/2006/main">
            <a:off x="4514850" y="36766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Necessary vs unnecessary tools</a:t>
            </a:r>
          </a:p>
        </p:txBody>
      </p:sp>
      <p:sp>
        <p:nvSpPr>
          <p:cNvPr id="22" name="dot-454-442">
            <a:extLst xmlns:a="http://schemas.openxmlformats.org/drawingml/2006/main">
              <a:ext uri="{FF2B5EF4-FFF2-40B4-BE49-F238E27FC236}">
                <a16:creationId xmlns:a16="http://schemas.microsoft.com/office/drawing/2014/main" id="{7EC1F130-2EA9-497B-9D22-5DFB09EE2810}"/>
              </a:ext>
            </a:extLst>
          </p:cNvPr>
          <p:cNvSpPr>
            <a:spLocks xmlns:a="http://schemas.openxmlformats.org/drawingml/2006/main" noGrp="1"/>
          </p:cNvSpPr>
          <p:nvPr/>
        </p:nvSpPr>
        <p:spPr>
          <a:xfrm xmlns:a="http://schemas.openxmlformats.org/drawingml/2006/main">
            <a:off x="43243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3" name="text-474-434">
            <a:extLst xmlns:a="http://schemas.openxmlformats.org/drawingml/2006/main">
              <a:ext uri="{FF2B5EF4-FFF2-40B4-BE49-F238E27FC236}">
                <a16:creationId xmlns:a16="http://schemas.microsoft.com/office/drawing/2014/main" id="{9408385C-F539-4B33-8BE5-08AB62EDC890}"/>
              </a:ext>
            </a:extLst>
          </p:cNvPr>
          <p:cNvSpPr>
            <a:spLocks xmlns:a="http://schemas.openxmlformats.org/drawingml/2006/main" noGrp="1"/>
          </p:cNvSpPr>
          <p:nvPr/>
        </p:nvSpPr>
        <p:spPr>
          <a:xfrm xmlns:a="http://schemas.openxmlformats.org/drawingml/2006/main">
            <a:off x="4514850" y="41338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Duplicate / no-new calls</a:t>
            </a:r>
          </a:p>
        </p:txBody>
      </p:sp>
      <p:sp>
        <p:nvSpPr>
          <p:cNvPr id="24" name="dot-454-490">
            <a:extLst xmlns:a="http://schemas.openxmlformats.org/drawingml/2006/main">
              <a:ext uri="{FF2B5EF4-FFF2-40B4-BE49-F238E27FC236}">
                <a16:creationId xmlns:a16="http://schemas.microsoft.com/office/drawing/2014/main" id="{11436AF2-3B63-47C9-8591-135E7C8DF62C}"/>
              </a:ext>
            </a:extLst>
          </p:cNvPr>
          <p:cNvSpPr>
            <a:spLocks xmlns:a="http://schemas.openxmlformats.org/drawingml/2006/main" noGrp="1"/>
          </p:cNvSpPr>
          <p:nvPr/>
        </p:nvSpPr>
        <p:spPr>
          <a:xfrm xmlns:a="http://schemas.openxmlformats.org/drawingml/2006/main">
            <a:off x="43243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25" name="text-474-482">
            <a:extLst xmlns:a="http://schemas.openxmlformats.org/drawingml/2006/main">
              <a:ext uri="{FF2B5EF4-FFF2-40B4-BE49-F238E27FC236}">
                <a16:creationId xmlns:a16="http://schemas.microsoft.com/office/drawing/2014/main" id="{698854A5-6888-4B62-A3AD-C1803740F844}"/>
              </a:ext>
            </a:extLst>
          </p:cNvPr>
          <p:cNvSpPr>
            <a:spLocks xmlns:a="http://schemas.openxmlformats.org/drawingml/2006/main" noGrp="1"/>
          </p:cNvSpPr>
          <p:nvPr/>
        </p:nvSpPr>
        <p:spPr>
          <a:xfrm xmlns:a="http://schemas.openxmlformats.org/drawingml/2006/main">
            <a:off x="4514850" y="45910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Turns + input/output tokens</a:t>
            </a:r>
          </a:p>
        </p:txBody>
      </p:sp>
      <p:sp>
        <p:nvSpPr>
          <p:cNvPr id="26" name="box-806-204">
            <a:extLst xmlns:a="http://schemas.openxmlformats.org/drawingml/2006/main">
              <a:ext uri="{FF2B5EF4-FFF2-40B4-BE49-F238E27FC236}">
                <a16:creationId xmlns:a16="http://schemas.microsoft.com/office/drawing/2014/main" id="{B9EC248C-F853-4782-A014-F6636CEAA407}"/>
              </a:ext>
            </a:extLst>
          </p:cNvPr>
          <p:cNvSpPr>
            <a:spLocks xmlns:a="http://schemas.openxmlformats.org/drawingml/2006/main" noGrp="1"/>
          </p:cNvSpPr>
          <p:nvPr/>
        </p:nvSpPr>
        <p:spPr>
          <a:xfrm xmlns:a="http://schemas.openxmlformats.org/drawingml/2006/main">
            <a:off x="7677150" y="1943100"/>
            <a:ext cx="3162300" cy="33337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27" name="text-826-228">
            <a:extLst xmlns:a="http://schemas.openxmlformats.org/drawingml/2006/main">
              <a:ext uri="{FF2B5EF4-FFF2-40B4-BE49-F238E27FC236}">
                <a16:creationId xmlns:a16="http://schemas.microsoft.com/office/drawing/2014/main" id="{BB12DD38-7575-4F68-84F1-7988E0C8E56A}"/>
              </a:ext>
            </a:extLst>
          </p:cNvPr>
          <p:cNvSpPr>
            <a:spLocks xmlns:a="http://schemas.openxmlformats.org/drawingml/2006/main" noGrp="1"/>
          </p:cNvSpPr>
          <p:nvPr/>
        </p:nvSpPr>
        <p:spPr>
          <a:xfrm xmlns:a="http://schemas.openxmlformats.org/drawingml/2006/main">
            <a:off x="7867650" y="2171700"/>
            <a:ext cx="2781300" cy="3238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800" b="1">
                <a:solidFill>
                  <a:srgbClr val="000000"/>
                </a:solidFill>
                <a:latin typeface="Helvetica Neue"/>
                <a:ea typeface="Helvetica Neue"/>
                <a:cs typeface="Helvetica Neue"/>
              </a:defRPr>
            </a:pPr>
            <a:r>
              <a:t>Endpoint reliability</a:t>
            </a:r>
          </a:p>
        </p:txBody>
      </p:sp>
      <p:sp>
        <p:nvSpPr>
          <p:cNvPr id="28" name="text-826-274">
            <a:extLst xmlns:a="http://schemas.openxmlformats.org/drawingml/2006/main">
              <a:ext uri="{FF2B5EF4-FFF2-40B4-BE49-F238E27FC236}">
                <a16:creationId xmlns:a16="http://schemas.microsoft.com/office/drawing/2014/main" id="{AA949DFE-7283-4B3C-A713-B686BD3B1226}"/>
              </a:ext>
            </a:extLst>
          </p:cNvPr>
          <p:cNvSpPr>
            <a:spLocks xmlns:a="http://schemas.openxmlformats.org/drawingml/2006/main" noGrp="1"/>
          </p:cNvSpPr>
          <p:nvPr/>
        </p:nvSpPr>
        <p:spPr>
          <a:xfrm xmlns:a="http://schemas.openxmlformats.org/drawingml/2006/main">
            <a:off x="7867650" y="2609850"/>
            <a:ext cx="2781300" cy="4381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75" b="1">
                <a:solidFill>
                  <a:srgbClr val="3D8DFF"/>
                </a:solidFill>
                <a:latin typeface="Helvetica Neue"/>
                <a:ea typeface="Helvetica Neue"/>
                <a:cs typeface="Helvetica Neue"/>
              </a:defRPr>
            </a:pPr>
            <a:r>
              <a:t>Can the route meet the service objective?</a:t>
            </a:r>
          </a:p>
        </p:txBody>
      </p:sp>
      <p:sp>
        <p:nvSpPr>
          <p:cNvPr id="29" name="dot-826-346">
            <a:extLst xmlns:a="http://schemas.openxmlformats.org/drawingml/2006/main">
              <a:ext uri="{FF2B5EF4-FFF2-40B4-BE49-F238E27FC236}">
                <a16:creationId xmlns:a16="http://schemas.microsoft.com/office/drawing/2014/main" id="{15372503-ACD7-4F53-B20D-B0CAC052ED73}"/>
              </a:ext>
            </a:extLst>
          </p:cNvPr>
          <p:cNvSpPr>
            <a:spLocks xmlns:a="http://schemas.openxmlformats.org/drawingml/2006/main" noGrp="1"/>
          </p:cNvSpPr>
          <p:nvPr/>
        </p:nvSpPr>
        <p:spPr>
          <a:xfrm xmlns:a="http://schemas.openxmlformats.org/drawingml/2006/main">
            <a:off x="7867650" y="32956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0" name="text-846-338">
            <a:extLst xmlns:a="http://schemas.openxmlformats.org/drawingml/2006/main">
              <a:ext uri="{FF2B5EF4-FFF2-40B4-BE49-F238E27FC236}">
                <a16:creationId xmlns:a16="http://schemas.microsoft.com/office/drawing/2014/main" id="{E1BA75C4-AF2B-4210-87A0-5223AC124CD4}"/>
              </a:ext>
            </a:extLst>
          </p:cNvPr>
          <p:cNvSpPr>
            <a:spLocks xmlns:a="http://schemas.openxmlformats.org/drawingml/2006/main" noGrp="1"/>
          </p:cNvSpPr>
          <p:nvPr/>
        </p:nvSpPr>
        <p:spPr>
          <a:xfrm xmlns:a="http://schemas.openxmlformats.org/drawingml/2006/main">
            <a:off x="8058150" y="32194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Successful / failed attempts</a:t>
            </a:r>
          </a:p>
        </p:txBody>
      </p:sp>
      <p:sp>
        <p:nvSpPr>
          <p:cNvPr id="31" name="dot-826-394">
            <a:extLst xmlns:a="http://schemas.openxmlformats.org/drawingml/2006/main">
              <a:ext uri="{FF2B5EF4-FFF2-40B4-BE49-F238E27FC236}">
                <a16:creationId xmlns:a16="http://schemas.microsoft.com/office/drawing/2014/main" id="{2E273ABE-FF67-4931-B4AD-0A4BA83D9F10}"/>
              </a:ext>
            </a:extLst>
          </p:cNvPr>
          <p:cNvSpPr>
            <a:spLocks xmlns:a="http://schemas.openxmlformats.org/drawingml/2006/main" noGrp="1"/>
          </p:cNvSpPr>
          <p:nvPr/>
        </p:nvSpPr>
        <p:spPr>
          <a:xfrm xmlns:a="http://schemas.openxmlformats.org/drawingml/2006/main">
            <a:off x="7867650" y="37528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2" name="text-846-386">
            <a:extLst xmlns:a="http://schemas.openxmlformats.org/drawingml/2006/main">
              <a:ext uri="{FF2B5EF4-FFF2-40B4-BE49-F238E27FC236}">
                <a16:creationId xmlns:a16="http://schemas.microsoft.com/office/drawing/2014/main" id="{C6B59F61-7C88-40A8-A190-449A39789C40}"/>
              </a:ext>
            </a:extLst>
          </p:cNvPr>
          <p:cNvSpPr>
            <a:spLocks xmlns:a="http://schemas.openxmlformats.org/drawingml/2006/main" noGrp="1"/>
          </p:cNvSpPr>
          <p:nvPr/>
        </p:nvSpPr>
        <p:spPr>
          <a:xfrm xmlns:a="http://schemas.openxmlformats.org/drawingml/2006/main">
            <a:off x="8058150" y="36766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Retries + timeouts + 5xx</a:t>
            </a:r>
          </a:p>
        </p:txBody>
      </p:sp>
      <p:sp>
        <p:nvSpPr>
          <p:cNvPr id="33" name="dot-826-442">
            <a:extLst xmlns:a="http://schemas.openxmlformats.org/drawingml/2006/main">
              <a:ext uri="{FF2B5EF4-FFF2-40B4-BE49-F238E27FC236}">
                <a16:creationId xmlns:a16="http://schemas.microsoft.com/office/drawing/2014/main" id="{A392822F-91ED-49DE-8F09-E08336011FE2}"/>
              </a:ext>
            </a:extLst>
          </p:cNvPr>
          <p:cNvSpPr>
            <a:spLocks xmlns:a="http://schemas.openxmlformats.org/drawingml/2006/main" noGrp="1"/>
          </p:cNvSpPr>
          <p:nvPr/>
        </p:nvSpPr>
        <p:spPr>
          <a:xfrm xmlns:a="http://schemas.openxmlformats.org/drawingml/2006/main">
            <a:off x="7867650" y="42100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4" name="text-846-434">
            <a:extLst xmlns:a="http://schemas.openxmlformats.org/drawingml/2006/main">
              <a:ext uri="{FF2B5EF4-FFF2-40B4-BE49-F238E27FC236}">
                <a16:creationId xmlns:a16="http://schemas.microsoft.com/office/drawing/2014/main" id="{4CCFFAC5-3FEC-4F3F-8C75-FCE5564CD7E5}"/>
              </a:ext>
            </a:extLst>
          </p:cNvPr>
          <p:cNvSpPr>
            <a:spLocks xmlns:a="http://schemas.openxmlformats.org/drawingml/2006/main" noGrp="1"/>
          </p:cNvSpPr>
          <p:nvPr/>
        </p:nvSpPr>
        <p:spPr>
          <a:xfrm xmlns:a="http://schemas.openxmlformats.org/drawingml/2006/main">
            <a:off x="8058150" y="41338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Failed-call time</a:t>
            </a:r>
          </a:p>
        </p:txBody>
      </p:sp>
      <p:sp>
        <p:nvSpPr>
          <p:cNvPr id="35" name="dot-826-490">
            <a:extLst xmlns:a="http://schemas.openxmlformats.org/drawingml/2006/main">
              <a:ext uri="{FF2B5EF4-FFF2-40B4-BE49-F238E27FC236}">
                <a16:creationId xmlns:a16="http://schemas.microsoft.com/office/drawing/2014/main" id="{9A36DFD6-5819-405F-859A-254A876D5432}"/>
              </a:ext>
            </a:extLst>
          </p:cNvPr>
          <p:cNvSpPr>
            <a:spLocks xmlns:a="http://schemas.openxmlformats.org/drawingml/2006/main" noGrp="1"/>
          </p:cNvSpPr>
          <p:nvPr/>
        </p:nvSpPr>
        <p:spPr>
          <a:xfrm xmlns:a="http://schemas.openxmlformats.org/drawingml/2006/main">
            <a:off x="7867650" y="4667250"/>
            <a:ext cx="76200" cy="762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36" name="text-846-482">
            <a:extLst xmlns:a="http://schemas.openxmlformats.org/drawingml/2006/main">
              <a:ext uri="{FF2B5EF4-FFF2-40B4-BE49-F238E27FC236}">
                <a16:creationId xmlns:a16="http://schemas.microsoft.com/office/drawing/2014/main" id="{75386F7A-122C-4DDC-A1C4-605FD6FED57F}"/>
              </a:ext>
            </a:extLst>
          </p:cNvPr>
          <p:cNvSpPr>
            <a:spLocks xmlns:a="http://schemas.openxmlformats.org/drawingml/2006/main" noGrp="1"/>
          </p:cNvSpPr>
          <p:nvPr/>
        </p:nvSpPr>
        <p:spPr>
          <a:xfrm xmlns:a="http://schemas.openxmlformats.org/drawingml/2006/main">
            <a:off x="8058150" y="4591050"/>
            <a:ext cx="2590800" cy="3619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200" b="0">
                <a:solidFill>
                  <a:srgbClr val="000000"/>
                </a:solidFill>
                <a:latin typeface="Helvetica Neue"/>
                <a:ea typeface="Helvetica Neue"/>
                <a:cs typeface="Helvetica Neue"/>
              </a:defRPr>
            </a:pPr>
            <a:r>
              <a:t>Availability + empty responses</a:t>
            </a:r>
          </a:p>
        </p:txBody>
      </p:sp>
      <p:sp>
        <p:nvSpPr>
          <p:cNvPr id="37" name="box-168-584">
            <a:extLst xmlns:a="http://schemas.openxmlformats.org/drawingml/2006/main">
              <a:ext uri="{FF2B5EF4-FFF2-40B4-BE49-F238E27FC236}">
                <a16:creationId xmlns:a16="http://schemas.microsoft.com/office/drawing/2014/main" id="{F5772BEA-6627-409E-A756-EC6C013A3080}"/>
              </a:ext>
            </a:extLst>
          </p:cNvPr>
          <p:cNvSpPr>
            <a:spLocks xmlns:a="http://schemas.openxmlformats.org/drawingml/2006/main" noGrp="1"/>
          </p:cNvSpPr>
          <p:nvPr/>
        </p:nvSpPr>
        <p:spPr>
          <a:xfrm xmlns:a="http://schemas.openxmlformats.org/drawingml/2006/main">
            <a:off x="1600200" y="5562600"/>
            <a:ext cx="8991600" cy="5524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38" name="text-194-601">
            <a:extLst xmlns:a="http://schemas.openxmlformats.org/drawingml/2006/main">
              <a:ext uri="{FF2B5EF4-FFF2-40B4-BE49-F238E27FC236}">
                <a16:creationId xmlns:a16="http://schemas.microsoft.com/office/drawing/2014/main" id="{2FC472DE-FB6B-45DE-BC1D-D8744818EF78}"/>
              </a:ext>
            </a:extLst>
          </p:cNvPr>
          <p:cNvSpPr>
            <a:spLocks xmlns:a="http://schemas.openxmlformats.org/drawingml/2006/main" noGrp="1"/>
          </p:cNvSpPr>
          <p:nvPr/>
        </p:nvSpPr>
        <p:spPr>
          <a:xfrm xmlns:a="http://schemas.openxmlformats.org/drawingml/2006/main">
            <a:off x="1847850" y="5724525"/>
            <a:ext cx="2514600" cy="228600"/>
          </a:xfrm>
          <a:prstGeom xmlns:a="http://schemas.openxmlformats.org/drawingml/2006/main" prst="rect">
            <a:avLst/>
          </a:prstGeom>
        </p:spPr>
        <p:txBody>
          <a:bodyPr xmlns:a="http://schemas.openxmlformats.org/drawingml/2006/main" wrap="square" lIns="0" tIns="0" rIns="0" bIns="0" anchor="t">
            <a:normAutofit fontScale="94003"/>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Combine only at the route gate</a:t>
            </a:r>
          </a:p>
        </p:txBody>
      </p:sp>
      <p:sp>
        <p:nvSpPr>
          <p:cNvPr id="39" name="text-472-601">
            <a:extLst xmlns:a="http://schemas.openxmlformats.org/drawingml/2006/main">
              <a:ext uri="{FF2B5EF4-FFF2-40B4-BE49-F238E27FC236}">
                <a16:creationId xmlns:a16="http://schemas.microsoft.com/office/drawing/2014/main" id="{93F11C21-82AA-45A8-89C0-B6BFD731E15D}"/>
              </a:ext>
            </a:extLst>
          </p:cNvPr>
          <p:cNvSpPr>
            <a:spLocks xmlns:a="http://schemas.openxmlformats.org/drawingml/2006/main" noGrp="1"/>
          </p:cNvSpPr>
          <p:nvPr/>
        </p:nvSpPr>
        <p:spPr>
          <a:xfrm xmlns:a="http://schemas.openxmlformats.org/drawingml/2006/main">
            <a:off x="4495800" y="5724525"/>
            <a:ext cx="5829300" cy="2286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r">
              <a:buNone/>
              <a:defRPr sz="1350" b="0">
                <a:solidFill>
                  <a:srgbClr val="5D6470"/>
                </a:solidFill>
                <a:latin typeface="Helvetica Neue"/>
                <a:ea typeface="Helvetica Neue"/>
                <a:cs typeface="Helvetica Neue"/>
              </a:defRPr>
            </a:pPr>
            <a:r>
              <a:t>usable semantic result within deadline and reliability requirements</a:t>
            </a:r>
          </a:p>
        </p:txBody>
      </p:sp>
    </p:spTree>
    <p:extLst>
      <p:ext uri="{BB962C8B-B14F-4D97-AF65-F5344CB8AC3E}">
        <p14:creationId xmlns:p14="http://schemas.microsoft.com/office/powerpoint/2010/main" val="159494665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42-26">
            <a:extLst xmlns:a="http://schemas.openxmlformats.org/drawingml/2006/main">
              <a:ext uri="{FF2B5EF4-FFF2-40B4-BE49-F238E27FC236}">
                <a16:creationId xmlns:a16="http://schemas.microsoft.com/office/drawing/2014/main" id="{F9B6F6E2-D208-44D6-A595-36CEDF3EA64B}"/>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A. TUNE / EXPLORATORY EVIDENCE</a:t>
            </a:r>
          </a:p>
        </p:txBody>
      </p:sp>
      <p:sp>
        <p:nvSpPr>
          <p:cNvPr id="2" name="text-42-54">
            <a:extLst xmlns:a="http://schemas.openxmlformats.org/drawingml/2006/main">
              <a:ext uri="{FF2B5EF4-FFF2-40B4-BE49-F238E27FC236}">
                <a16:creationId xmlns:a16="http://schemas.microsoft.com/office/drawing/2014/main" id="{7610A887-7D08-4052-9B0B-586D21233BA2}"/>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Agreement does not imply operational fitness</a:t>
            </a:r>
          </a:p>
        </p:txBody>
      </p:sp>
      <p:sp>
        <p:nvSpPr>
          <p:cNvPr id="3" name="line-42-133">
            <a:extLst xmlns:a="http://schemas.openxmlformats.org/drawingml/2006/main">
              <a:ext uri="{FF2B5EF4-FFF2-40B4-BE49-F238E27FC236}">
                <a16:creationId xmlns:a16="http://schemas.microsoft.com/office/drawing/2014/main" id="{DE29F0A5-3F48-4844-B11B-E70AC097F6DC}"/>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text-62-175">
            <a:extLst xmlns:a="http://schemas.openxmlformats.org/drawingml/2006/main">
              <a:ext uri="{FF2B5EF4-FFF2-40B4-BE49-F238E27FC236}">
                <a16:creationId xmlns:a16="http://schemas.microsoft.com/office/drawing/2014/main" id="{BCE817DA-E342-4153-9634-4DD09FC680C1}"/>
              </a:ext>
            </a:extLst>
          </p:cNvPr>
          <p:cNvSpPr>
            <a:spLocks xmlns:a="http://schemas.openxmlformats.org/drawingml/2006/main" noGrp="1"/>
          </p:cNvSpPr>
          <p:nvPr/>
        </p:nvSpPr>
        <p:spPr>
          <a:xfrm xmlns:a="http://schemas.openxmlformats.org/drawingml/2006/main">
            <a:off x="590550" y="1666875"/>
            <a:ext cx="5905500" cy="2667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575" b="1">
                <a:solidFill>
                  <a:srgbClr val="000000"/>
                </a:solidFill>
                <a:latin typeface="Helvetica Neue"/>
                <a:ea typeface="Helvetica Neue"/>
                <a:cs typeface="Helvetica Neue"/>
              </a:defRPr>
            </a:pPr>
            <a:r>
              <a:t>L1 latency by model route (seconds)</a:t>
            </a:r>
          </a:p>
        </p:txBody>
      </p:sp>
      <p:sp>
        <p:nvSpPr>
          <p:cNvPr id="5" name="text-770-184">
            <a:extLst xmlns:a="http://schemas.openxmlformats.org/drawingml/2006/main">
              <a:ext uri="{FF2B5EF4-FFF2-40B4-BE49-F238E27FC236}">
                <a16:creationId xmlns:a16="http://schemas.microsoft.com/office/drawing/2014/main" id="{81178E60-E1B6-4061-8F56-A24C73F73558}"/>
              </a:ext>
            </a:extLst>
          </p:cNvPr>
          <p:cNvSpPr>
            <a:spLocks xmlns:a="http://schemas.openxmlformats.org/drawingml/2006/main" noGrp="1"/>
          </p:cNvSpPr>
          <p:nvPr/>
        </p:nvSpPr>
        <p:spPr>
          <a:xfrm xmlns:a="http://schemas.openxmlformats.org/drawingml/2006/main">
            <a:off x="7334250" y="1752600"/>
            <a:ext cx="4000500" cy="723900"/>
          </a:xfrm>
          <a:prstGeom xmlns:a="http://schemas.openxmlformats.org/drawingml/2006/main" prst="rect">
            <a:avLst/>
          </a:prstGeom>
        </p:spPr>
        <p:txBody>
          <a:bodyPr xmlns:a="http://schemas.openxmlformats.org/drawingml/2006/main" wrap="square" lIns="0" tIns="0" rIns="0" bIns="0" anchor="t">
            <a:normAutofit fontScale="95960" lnSpcReduction="10000"/>
          </a:bodyPr>
          <a:lstStyle xmlns:a="http://schemas.openxmlformats.org/drawingml/2006/main"/>
          <a:p xmlns:a="http://schemas.openxmlformats.org/drawingml/2006/main">
            <a:pPr algn="l">
              <a:buNone/>
              <a:defRPr sz="1650" b="1">
                <a:solidFill>
                  <a:srgbClr val="000000"/>
                </a:solidFill>
                <a:latin typeface="Helvetica Neue"/>
                <a:ea typeface="Helvetica Neue"/>
                <a:cs typeface="Helvetica Neue"/>
              </a:defRPr>
            </a:pPr>
            <a:r>
              <a:t>All five selected the same primary and concluded that the unchanged workload could not recover.</a:t>
            </a:r>
          </a:p>
        </p:txBody>
      </p:sp>
      <p:sp>
        <p:nvSpPr>
          <p:cNvPr id="6" name="box-770-294">
            <a:extLst xmlns:a="http://schemas.openxmlformats.org/drawingml/2006/main">
              <a:ext uri="{FF2B5EF4-FFF2-40B4-BE49-F238E27FC236}">
                <a16:creationId xmlns:a16="http://schemas.microsoft.com/office/drawing/2014/main" id="{5340C04E-1E57-41D6-83CB-B2823F30F9A1}"/>
              </a:ext>
            </a:extLst>
          </p:cNvPr>
          <p:cNvSpPr>
            <a:spLocks xmlns:a="http://schemas.openxmlformats.org/drawingml/2006/main" noGrp="1"/>
          </p:cNvSpPr>
          <p:nvPr/>
        </p:nvSpPr>
        <p:spPr>
          <a:xfrm xmlns:a="http://schemas.openxmlformats.org/drawingml/2006/main">
            <a:off x="7334250" y="2800350"/>
            <a:ext cx="4000500" cy="97155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7" name="text-794-313">
            <a:extLst xmlns:a="http://schemas.openxmlformats.org/drawingml/2006/main">
              <a:ext uri="{FF2B5EF4-FFF2-40B4-BE49-F238E27FC236}">
                <a16:creationId xmlns:a16="http://schemas.microsoft.com/office/drawing/2014/main" id="{FF483D7D-911A-4D9D-82DC-73752A2D3655}"/>
              </a:ext>
            </a:extLst>
          </p:cNvPr>
          <p:cNvSpPr>
            <a:spLocks xmlns:a="http://schemas.openxmlformats.org/drawingml/2006/main" noGrp="1"/>
          </p:cNvSpPr>
          <p:nvPr/>
        </p:nvSpPr>
        <p:spPr>
          <a:xfrm xmlns:a="http://schemas.openxmlformats.org/drawingml/2006/main">
            <a:off x="7562850" y="2981325"/>
            <a:ext cx="1790700" cy="266700"/>
          </a:xfrm>
          <a:prstGeom xmlns:a="http://schemas.openxmlformats.org/drawingml/2006/main" prst="rect">
            <a:avLst/>
          </a:prstGeom>
        </p:spPr>
        <p:txBody>
          <a:bodyPr xmlns:a="http://schemas.openxmlformats.org/drawingml/2006/main" wrap="square" lIns="0" tIns="0" rIns="0" bIns="0" anchor="t">
            <a:normAutofit fontScale="93333"/>
          </a:bodyPr>
          <a:lstStyle xmlns:a="http://schemas.openxmlformats.org/drawingml/2006/main"/>
          <a:p xmlns:a="http://schemas.openxmlformats.org/drawingml/2006/main">
            <a:pPr algn="l">
              <a:buNone/>
              <a:defRPr sz="1875" b="1">
                <a:solidFill>
                  <a:srgbClr val="3D8DFF"/>
                </a:solidFill>
                <a:latin typeface="Helvetica Neue"/>
                <a:ea typeface="Helvetica Neue"/>
                <a:cs typeface="Helvetica Neue"/>
              </a:defRPr>
            </a:pPr>
            <a:r>
              <a:t>1 turn / 0 tools</a:t>
            </a:r>
          </a:p>
        </p:txBody>
      </p:sp>
      <p:sp>
        <p:nvSpPr>
          <p:cNvPr id="8" name="text-794-354">
            <a:extLst xmlns:a="http://schemas.openxmlformats.org/drawingml/2006/main">
              <a:ext uri="{FF2B5EF4-FFF2-40B4-BE49-F238E27FC236}">
                <a16:creationId xmlns:a16="http://schemas.microsoft.com/office/drawing/2014/main" id="{754F50A2-A738-4DCE-981C-8F74469B1E0F}"/>
              </a:ext>
            </a:extLst>
          </p:cNvPr>
          <p:cNvSpPr>
            <a:spLocks xmlns:a="http://schemas.openxmlformats.org/drawingml/2006/main" noGrp="1"/>
          </p:cNvSpPr>
          <p:nvPr/>
        </p:nvSpPr>
        <p:spPr>
          <a:xfrm xmlns:a="http://schemas.openxmlformats.org/drawingml/2006/main">
            <a:off x="7562850" y="3371850"/>
            <a:ext cx="17145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fastest route</a:t>
            </a:r>
          </a:p>
        </p:txBody>
      </p:sp>
      <p:sp>
        <p:nvSpPr>
          <p:cNvPr id="9" name="box-770-418">
            <a:extLst xmlns:a="http://schemas.openxmlformats.org/drawingml/2006/main">
              <a:ext uri="{FF2B5EF4-FFF2-40B4-BE49-F238E27FC236}">
                <a16:creationId xmlns:a16="http://schemas.microsoft.com/office/drawing/2014/main" id="{CA84B78F-B42E-432F-8E7F-E437C953782E}"/>
              </a:ext>
            </a:extLst>
          </p:cNvPr>
          <p:cNvSpPr>
            <a:spLocks xmlns:a="http://schemas.openxmlformats.org/drawingml/2006/main" noGrp="1"/>
          </p:cNvSpPr>
          <p:nvPr/>
        </p:nvSpPr>
        <p:spPr>
          <a:xfrm xmlns:a="http://schemas.openxmlformats.org/drawingml/2006/main">
            <a:off x="7334250" y="3981450"/>
            <a:ext cx="4000500" cy="971550"/>
          </a:xfrm>
          <a:prstGeom xmlns:a="http://schemas.openxmlformats.org/drawingml/2006/main" prst="rect">
            <a:avLst/>
          </a:prstGeom>
          <a:solidFill xmlns:a="http://schemas.openxmlformats.org/drawingml/2006/main">
            <a:srgbClr val="EDEDED"/>
          </a:solidFill>
          <a:ln xmlns:a="http://schemas.openxmlformats.org/drawingml/2006/main" w="9525">
            <a:solidFill>
              <a:srgbClr val="EDEDED"/>
            </a:solidFill>
            <a:prstDash val="solid"/>
          </a:ln>
        </p:spPr>
        <p:txBody>
          <a:bodyPr xmlns:a="http://schemas.openxmlformats.org/drawingml/2006/main"/>
          <a:lstStyle xmlns:a="http://schemas.openxmlformats.org/drawingml/2006/main"/>
          <a:p xmlns:a="http://schemas.openxmlformats.org/drawingml/2006/main"/>
        </p:txBody>
      </p:sp>
      <p:sp>
        <p:nvSpPr>
          <p:cNvPr id="10" name="text-794-437">
            <a:extLst xmlns:a="http://schemas.openxmlformats.org/drawingml/2006/main">
              <a:ext uri="{FF2B5EF4-FFF2-40B4-BE49-F238E27FC236}">
                <a16:creationId xmlns:a16="http://schemas.microsoft.com/office/drawing/2014/main" id="{C4FE5F5F-02AF-424F-9527-189D0FA334E1}"/>
              </a:ext>
            </a:extLst>
          </p:cNvPr>
          <p:cNvSpPr>
            <a:spLocks xmlns:a="http://schemas.openxmlformats.org/drawingml/2006/main" noGrp="1"/>
          </p:cNvSpPr>
          <p:nvPr/>
        </p:nvSpPr>
        <p:spPr>
          <a:xfrm xmlns:a="http://schemas.openxmlformats.org/drawingml/2006/main">
            <a:off x="7562850" y="4162425"/>
            <a:ext cx="2095500" cy="266700"/>
          </a:xfrm>
          <a:prstGeom xmlns:a="http://schemas.openxmlformats.org/drawingml/2006/main" prst="rect">
            <a:avLst/>
          </a:prstGeom>
        </p:spPr>
        <p:txBody>
          <a:bodyPr xmlns:a="http://schemas.openxmlformats.org/drawingml/2006/main" wrap="square" lIns="0" tIns="0" rIns="0" bIns="0" anchor="t">
            <a:normAutofit fontScale="93333"/>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9 turns / 8 tools</a:t>
            </a:r>
          </a:p>
        </p:txBody>
      </p:sp>
      <p:sp>
        <p:nvSpPr>
          <p:cNvPr id="11" name="text-794-478">
            <a:extLst xmlns:a="http://schemas.openxmlformats.org/drawingml/2006/main">
              <a:ext uri="{FF2B5EF4-FFF2-40B4-BE49-F238E27FC236}">
                <a16:creationId xmlns:a16="http://schemas.microsoft.com/office/drawing/2014/main" id="{707F2C08-57BD-49C7-9E63-C0CB9635E6E9}"/>
              </a:ext>
            </a:extLst>
          </p:cNvPr>
          <p:cNvSpPr>
            <a:spLocks xmlns:a="http://schemas.openxmlformats.org/drawingml/2006/main" noGrp="1"/>
          </p:cNvSpPr>
          <p:nvPr/>
        </p:nvSpPr>
        <p:spPr>
          <a:xfrm xmlns:a="http://schemas.openxmlformats.org/drawingml/2006/main">
            <a:off x="7562850" y="4552950"/>
            <a:ext cx="2286000" cy="2095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125" b="0">
                <a:solidFill>
                  <a:srgbClr val="5D6470"/>
                </a:solidFill>
                <a:latin typeface="Helvetica Neue"/>
                <a:ea typeface="Helvetica Neue"/>
                <a:cs typeface="Helvetica Neue"/>
              </a:defRPr>
            </a:pPr>
            <a:r>
              <a:t>mostly duplicate context</a:t>
            </a:r>
          </a:p>
        </p:txBody>
      </p:sp>
      <p:sp>
        <p:nvSpPr>
          <p:cNvPr id="12" name="text-770-554">
            <a:extLst xmlns:a="http://schemas.openxmlformats.org/drawingml/2006/main">
              <a:ext uri="{FF2B5EF4-FFF2-40B4-BE49-F238E27FC236}">
                <a16:creationId xmlns:a16="http://schemas.microsoft.com/office/drawing/2014/main" id="{C13AF95E-E44B-4B03-BC90-F7EED5F23983}"/>
              </a:ext>
            </a:extLst>
          </p:cNvPr>
          <p:cNvSpPr>
            <a:spLocks xmlns:a="http://schemas.openxmlformats.org/drawingml/2006/main" noGrp="1"/>
          </p:cNvSpPr>
          <p:nvPr/>
        </p:nvSpPr>
        <p:spPr>
          <a:xfrm xmlns:a="http://schemas.openxmlformats.org/drawingml/2006/main">
            <a:off x="7334250" y="5276850"/>
            <a:ext cx="4000500" cy="57150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1425" b="1">
                <a:solidFill>
                  <a:srgbClr val="000000"/>
                </a:solidFill>
                <a:latin typeface="Helvetica Neue"/>
                <a:ea typeface="Helvetica Neue"/>
                <a:cs typeface="Helvetica Neue"/>
              </a:defRPr>
            </a:pPr>
            <a:r>
              <a:t>Same bundle. Same action. Different attention and endpoint behavior.</a:t>
            </a:r>
          </a:p>
        </p:txBody>
      </p:sp>
      <p:graphicFrame>
        <p:nvGraphicFramePr>
          <p:cNvPr id="28" name="Chart"/>
          <p:cNvGraphicFramePr/>
          <p:nvPr/>
        </p:nvGraphicFramePr>
        <p:xfrm>
          <a:off xmlns:a="http://schemas.openxmlformats.org/drawingml/2006/main" x="590550" y="2133600"/>
          <a:ext xmlns:a="http://schemas.openxmlformats.org/drawingml/2006/main" cx="6096000" cy="3333750"/>
        </p:xfrm>
        <a:graphic xmlns:a="http://schemas.openxmlformats.org/drawingml/2006/main">
          <a:graphicData uri="http://schemas.openxmlformats.org/drawingml/2006/chart">
            <c:chart xmlns:r="http://schemas.openxmlformats.org/officeDocument/2006/relationships" xmlns:c="http://schemas.openxmlformats.org/drawingml/2006/chart" r:id="R40a4b7322da44ba0"/>
          </a:graphicData>
        </a:graphic>
      </p:graphicFrame>
      <p:sp>
        <p:nvSpPr>
          <p:cNvPr id="14" name="text-62-644">
            <a:extLst xmlns:a="http://schemas.openxmlformats.org/drawingml/2006/main">
              <a:ext uri="{FF2B5EF4-FFF2-40B4-BE49-F238E27FC236}">
                <a16:creationId xmlns:a16="http://schemas.microsoft.com/office/drawing/2014/main" id="{18B65F09-0E44-4DA9-B2D5-00160317120E}"/>
              </a:ext>
            </a:extLst>
          </p:cNvPr>
          <p:cNvSpPr>
            <a:spLocks xmlns:a="http://schemas.openxmlformats.org/drawingml/2006/main" noGrp="1"/>
          </p:cNvSpPr>
          <p:nvPr/>
        </p:nvSpPr>
        <p:spPr>
          <a:xfrm xmlns:a="http://schemas.openxmlformats.org/drawingml/2006/main">
            <a:off x="590550" y="6134100"/>
            <a:ext cx="7239000" cy="171450"/>
          </a:xfrm>
          <a:prstGeom xmlns:a="http://schemas.openxmlformats.org/drawingml/2006/main" prst="rect">
            <a:avLst/>
          </a:prstGeom>
        </p:spPr>
        <p:txBody>
          <a:bodyPr xmlns:a="http://schemas.openxmlformats.org/drawingml/2006/main" wrap="square" lIns="0" tIns="0" rIns="0" bIns="0" anchor="t">
            <a:normAutofit/>
          </a:bodyPr>
          <a:lstStyle xmlns:a="http://schemas.openxmlformats.org/drawingml/2006/main"/>
          <a:p xmlns:a="http://schemas.openxmlformats.org/drawingml/2006/main">
            <a:pPr algn="l">
              <a:buNone/>
              <a:defRPr sz="900" b="0">
                <a:solidFill>
                  <a:srgbClr val="5D6470"/>
                </a:solidFill>
                <a:latin typeface="Helvetica Neue"/>
                <a:ea typeface="Helvetica Neue"/>
                <a:cs typeface="Helvetica Neue"/>
              </a:defRPr>
            </a:pPr>
            <a:r>
              <a:t>Source: exploratory CUDA graph capture panel; terminal/manual; unscored</a:t>
            </a:r>
          </a:p>
        </p:txBody>
      </p:sp>
    </p:spTree>
    <p:extLst>
      <p:ext uri="{BB962C8B-B14F-4D97-AF65-F5344CB8AC3E}">
        <p14:creationId xmlns:p14="http://schemas.microsoft.com/office/powerpoint/2010/main" val="130525969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42-26">
            <a:extLst xmlns:a="http://schemas.openxmlformats.org/drawingml/2006/main">
              <a:ext uri="{FF2B5EF4-FFF2-40B4-BE49-F238E27FC236}">
                <a16:creationId xmlns:a16="http://schemas.microsoft.com/office/drawing/2014/main" id="{900CCCDA-8160-4281-B6B4-BFA6C3CFE83A}"/>
              </a:ext>
            </a:extLst>
          </p:cNvPr>
          <p:cNvSpPr>
            <a:spLocks xmlns:a="http://schemas.openxmlformats.org/drawingml/2006/main" noGrp="1"/>
          </p:cNvSpPr>
          <p:nvPr/>
        </p:nvSpPr>
        <p:spPr>
          <a:xfrm xmlns:a="http://schemas.openxmlformats.org/drawingml/2006/main">
            <a:off x="400050" y="247650"/>
            <a:ext cx="3429000" cy="2286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3D8DFF"/>
                </a:solidFill>
                <a:latin typeface="Helvetica Neue"/>
                <a:ea typeface="Helvetica Neue"/>
                <a:cs typeface="Helvetica Neue"/>
              </a:defRPr>
            </a:pPr>
            <a:r>
              <a:t>IN-JOB VALIDATION</a:t>
            </a:r>
          </a:p>
        </p:txBody>
      </p:sp>
      <p:sp>
        <p:nvSpPr>
          <p:cNvPr id="2" name="text-42-54">
            <a:extLst xmlns:a="http://schemas.openxmlformats.org/drawingml/2006/main">
              <a:ext uri="{FF2B5EF4-FFF2-40B4-BE49-F238E27FC236}">
                <a16:creationId xmlns:a16="http://schemas.microsoft.com/office/drawing/2014/main" id="{C27E9408-83E0-49C5-8309-FA5F00DB7066}"/>
              </a:ext>
            </a:extLst>
          </p:cNvPr>
          <p:cNvSpPr>
            <a:spLocks xmlns:a="http://schemas.openxmlformats.org/drawingml/2006/main" noGrp="1"/>
          </p:cNvSpPr>
          <p:nvPr/>
        </p:nvSpPr>
        <p:spPr>
          <a:xfrm xmlns:a="http://schemas.openxmlformats.org/drawingml/2006/main">
            <a:off x="400050" y="514350"/>
            <a:ext cx="10953750" cy="7239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150" b="1">
                <a:solidFill>
                  <a:srgbClr val="000000"/>
                </a:solidFill>
                <a:latin typeface="Helvetica Neue"/>
                <a:ea typeface="Helvetica Neue"/>
                <a:cs typeface="Helvetica Neue"/>
              </a:defRPr>
            </a:pPr>
            <a:r>
              <a:t>Scale qualification advances in two in-job gates</a:t>
            </a:r>
          </a:p>
        </p:txBody>
      </p:sp>
      <p:sp>
        <p:nvSpPr>
          <p:cNvPr id="3" name="line-42-133">
            <a:extLst xmlns:a="http://schemas.openxmlformats.org/drawingml/2006/main">
              <a:ext uri="{FF2B5EF4-FFF2-40B4-BE49-F238E27FC236}">
                <a16:creationId xmlns:a16="http://schemas.microsoft.com/office/drawing/2014/main" id="{70D95954-4B17-420D-B44F-851E70D705B5}"/>
              </a:ext>
            </a:extLst>
          </p:cNvPr>
          <p:cNvSpPr>
            <a:spLocks xmlns:a="http://schemas.openxmlformats.org/drawingml/2006/main" noGrp="1"/>
          </p:cNvSpPr>
          <p:nvPr/>
        </p:nvSpPr>
        <p:spPr>
          <a:xfrm xmlns:a="http://schemas.openxmlformats.org/drawingml/2006/main">
            <a:off x="400050" y="1266825"/>
            <a:ext cx="113919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txBody>
          <a:bodyPr xmlns:a="http://schemas.openxmlformats.org/drawingml/2006/main"/>
          <a:lstStyle xmlns:a="http://schemas.openxmlformats.org/drawingml/2006/main"/>
          <a:p xmlns:a="http://schemas.openxmlformats.org/drawingml/2006/main"/>
        </p:txBody>
      </p:sp>
      <p:sp>
        <p:nvSpPr>
          <p:cNvPr id="4" name="line-92-347">
            <a:extLst xmlns:a="http://schemas.openxmlformats.org/drawingml/2006/main">
              <a:ext uri="{FF2B5EF4-FFF2-40B4-BE49-F238E27FC236}">
                <a16:creationId xmlns:a16="http://schemas.microsoft.com/office/drawing/2014/main" id="{3C6FD582-F1BF-45DB-ABFF-0AE7DAD2FD65}"/>
              </a:ext>
            </a:extLst>
          </p:cNvPr>
          <p:cNvSpPr>
            <a:spLocks xmlns:a="http://schemas.openxmlformats.org/drawingml/2006/main" noGrp="1"/>
          </p:cNvSpPr>
          <p:nvPr/>
        </p:nvSpPr>
        <p:spPr>
          <a:xfrm xmlns:a="http://schemas.openxmlformats.org/drawingml/2006/main">
            <a:off x="876300" y="3305175"/>
            <a:ext cx="9906000" cy="190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5" name="dot-92-338">
            <a:extLst xmlns:a="http://schemas.openxmlformats.org/drawingml/2006/main">
              <a:ext uri="{FF2B5EF4-FFF2-40B4-BE49-F238E27FC236}">
                <a16:creationId xmlns:a16="http://schemas.microsoft.com/office/drawing/2014/main" id="{8062419F-0D65-43B4-AB27-0D89363DB080}"/>
              </a:ext>
            </a:extLst>
          </p:cNvPr>
          <p:cNvSpPr>
            <a:spLocks xmlns:a="http://schemas.openxmlformats.org/drawingml/2006/main" noGrp="1"/>
          </p:cNvSpPr>
          <p:nvPr/>
        </p:nvSpPr>
        <p:spPr>
          <a:xfrm xmlns:a="http://schemas.openxmlformats.org/drawingml/2006/main">
            <a:off x="876300" y="3219450"/>
            <a:ext cx="171450" cy="1714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txBody>
          <a:bodyPr xmlns:a="http://schemas.openxmlformats.org/drawingml/2006/main"/>
          <a:lstStyle xmlns:a="http://schemas.openxmlformats.org/drawingml/2006/main"/>
          <a:p xmlns:a="http://schemas.openxmlformats.org/drawingml/2006/main"/>
        </p:txBody>
      </p:sp>
      <p:sp>
        <p:nvSpPr>
          <p:cNvPr id="6" name="text-84-262">
            <a:extLst xmlns:a="http://schemas.openxmlformats.org/drawingml/2006/main">
              <a:ext uri="{FF2B5EF4-FFF2-40B4-BE49-F238E27FC236}">
                <a16:creationId xmlns:a16="http://schemas.microsoft.com/office/drawing/2014/main" id="{9DB27B58-D023-406B-BA6B-7CC43AB07973}"/>
              </a:ext>
            </a:extLst>
          </p:cNvPr>
          <p:cNvSpPr>
            <a:spLocks xmlns:a="http://schemas.openxmlformats.org/drawingml/2006/main" noGrp="1"/>
          </p:cNvSpPr>
          <p:nvPr/>
        </p:nvSpPr>
        <p:spPr>
          <a:xfrm xmlns:a="http://schemas.openxmlformats.org/drawingml/2006/main">
            <a:off x="800100" y="2495550"/>
            <a:ext cx="17907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Integration ready</a:t>
            </a:r>
          </a:p>
        </p:txBody>
      </p:sp>
      <p:sp>
        <p:nvSpPr>
          <p:cNvPr id="7" name="text-84-386">
            <a:extLst xmlns:a="http://schemas.openxmlformats.org/drawingml/2006/main">
              <a:ext uri="{FF2B5EF4-FFF2-40B4-BE49-F238E27FC236}">
                <a16:creationId xmlns:a16="http://schemas.microsoft.com/office/drawing/2014/main" id="{802A0EF6-A707-4AD4-B813-BD29C6C5B75F}"/>
              </a:ext>
            </a:extLst>
          </p:cNvPr>
          <p:cNvSpPr>
            <a:spLocks xmlns:a="http://schemas.openxmlformats.org/drawingml/2006/main" noGrp="1"/>
          </p:cNvSpPr>
          <p:nvPr/>
        </p:nvSpPr>
        <p:spPr>
          <a:xfrm xmlns:a="http://schemas.openxmlformats.org/drawingml/2006/main">
            <a:off x="800100" y="3676650"/>
            <a:ext cx="18097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NVRx -&gt; attrsvc
-&gt; thin MCP -&gt; runtime</a:t>
            </a:r>
          </a:p>
        </p:txBody>
      </p:sp>
      <p:sp>
        <p:nvSpPr>
          <p:cNvPr id="8" name="dot-338-338">
            <a:extLst xmlns:a="http://schemas.openxmlformats.org/drawingml/2006/main">
              <a:ext uri="{FF2B5EF4-FFF2-40B4-BE49-F238E27FC236}">
                <a16:creationId xmlns:a16="http://schemas.microsoft.com/office/drawing/2014/main" id="{D3AEDECF-1230-40DB-AD2B-2EFF35944026}"/>
              </a:ext>
            </a:extLst>
          </p:cNvPr>
          <p:cNvSpPr>
            <a:spLocks xmlns:a="http://schemas.openxmlformats.org/drawingml/2006/main" noGrp="1"/>
          </p:cNvSpPr>
          <p:nvPr/>
        </p:nvSpPr>
        <p:spPr>
          <a:xfrm xmlns:a="http://schemas.openxmlformats.org/drawingml/2006/main">
            <a:off x="3219450" y="3219450"/>
            <a:ext cx="171450" cy="1714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9" name="text-330-262">
            <a:extLst xmlns:a="http://schemas.openxmlformats.org/drawingml/2006/main">
              <a:ext uri="{FF2B5EF4-FFF2-40B4-BE49-F238E27FC236}">
                <a16:creationId xmlns:a16="http://schemas.microsoft.com/office/drawing/2014/main" id="{816260E3-5032-4D30-972B-2C4A063B65F4}"/>
              </a:ext>
            </a:extLst>
          </p:cNvPr>
          <p:cNvSpPr>
            <a:spLocks xmlns:a="http://schemas.openxmlformats.org/drawingml/2006/main" noGrp="1"/>
          </p:cNvSpPr>
          <p:nvPr/>
        </p:nvSpPr>
        <p:spPr>
          <a:xfrm xmlns:a="http://schemas.openxmlformats.org/drawingml/2006/main">
            <a:off x="3143250" y="2495550"/>
            <a:ext cx="17907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August 5</a:t>
            </a:r>
          </a:p>
        </p:txBody>
      </p:sp>
      <p:sp>
        <p:nvSpPr>
          <p:cNvPr id="10" name="text-330-386">
            <a:extLst xmlns:a="http://schemas.openxmlformats.org/drawingml/2006/main">
              <a:ext uri="{FF2B5EF4-FFF2-40B4-BE49-F238E27FC236}">
                <a16:creationId xmlns:a16="http://schemas.microsoft.com/office/drawing/2014/main" id="{5B5D2899-4C60-4B33-B974-1C2C3D834176}"/>
              </a:ext>
            </a:extLst>
          </p:cNvPr>
          <p:cNvSpPr>
            <a:spLocks xmlns:a="http://schemas.openxmlformats.org/drawingml/2006/main" noGrp="1"/>
          </p:cNvSpPr>
          <p:nvPr/>
        </p:nvSpPr>
        <p:spPr>
          <a:xfrm xmlns:a="http://schemas.openxmlformats.org/drawingml/2006/main">
            <a:off x="3143250" y="3676650"/>
            <a:ext cx="18097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In-job NVRx test
512-2k GPUs</a:t>
            </a:r>
          </a:p>
        </p:txBody>
      </p:sp>
      <p:sp>
        <p:nvSpPr>
          <p:cNvPr id="11" name="dot-584-338">
            <a:extLst xmlns:a="http://schemas.openxmlformats.org/drawingml/2006/main">
              <a:ext uri="{FF2B5EF4-FFF2-40B4-BE49-F238E27FC236}">
                <a16:creationId xmlns:a16="http://schemas.microsoft.com/office/drawing/2014/main" id="{36A4676A-B445-4CD0-975E-C3B34C66509B}"/>
              </a:ext>
            </a:extLst>
          </p:cNvPr>
          <p:cNvSpPr>
            <a:spLocks xmlns:a="http://schemas.openxmlformats.org/drawingml/2006/main" noGrp="1"/>
          </p:cNvSpPr>
          <p:nvPr/>
        </p:nvSpPr>
        <p:spPr>
          <a:xfrm xmlns:a="http://schemas.openxmlformats.org/drawingml/2006/main">
            <a:off x="5562600" y="3219450"/>
            <a:ext cx="171450" cy="1714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12" name="text-576-262">
            <a:extLst xmlns:a="http://schemas.openxmlformats.org/drawingml/2006/main">
              <a:ext uri="{FF2B5EF4-FFF2-40B4-BE49-F238E27FC236}">
                <a16:creationId xmlns:a16="http://schemas.microsoft.com/office/drawing/2014/main" id="{EA4573FD-8278-44F5-A04F-DF4C04B795CA}"/>
              </a:ext>
            </a:extLst>
          </p:cNvPr>
          <p:cNvSpPr>
            <a:spLocks xmlns:a="http://schemas.openxmlformats.org/drawingml/2006/main" noGrp="1"/>
          </p:cNvSpPr>
          <p:nvPr/>
        </p:nvSpPr>
        <p:spPr>
          <a:xfrm xmlns:a="http://schemas.openxmlformats.org/drawingml/2006/main">
            <a:off x="5486400" y="2495550"/>
            <a:ext cx="17907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Readiness review</a:t>
            </a:r>
          </a:p>
        </p:txBody>
      </p:sp>
      <p:sp>
        <p:nvSpPr>
          <p:cNvPr id="13" name="text-576-386">
            <a:extLst xmlns:a="http://schemas.openxmlformats.org/drawingml/2006/main">
              <a:ext uri="{FF2B5EF4-FFF2-40B4-BE49-F238E27FC236}">
                <a16:creationId xmlns:a16="http://schemas.microsoft.com/office/drawing/2014/main" id="{7A883814-3F2A-4348-8EB9-239FD26447F8}"/>
              </a:ext>
            </a:extLst>
          </p:cNvPr>
          <p:cNvSpPr>
            <a:spLocks xmlns:a="http://schemas.openxmlformats.org/drawingml/2006/main" noGrp="1"/>
          </p:cNvSpPr>
          <p:nvPr/>
        </p:nvSpPr>
        <p:spPr>
          <a:xfrm xmlns:a="http://schemas.openxmlformats.org/drawingml/2006/main">
            <a:off x="5486400" y="3676650"/>
            <a:ext cx="18097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Correctness + latency
from first gate</a:t>
            </a:r>
          </a:p>
        </p:txBody>
      </p:sp>
      <p:sp>
        <p:nvSpPr>
          <p:cNvPr id="14" name="dot-830-338">
            <a:extLst xmlns:a="http://schemas.openxmlformats.org/drawingml/2006/main">
              <a:ext uri="{FF2B5EF4-FFF2-40B4-BE49-F238E27FC236}">
                <a16:creationId xmlns:a16="http://schemas.microsoft.com/office/drawing/2014/main" id="{3A4FD07A-E400-4C3C-A161-DC9BBD4450E9}"/>
              </a:ext>
            </a:extLst>
          </p:cNvPr>
          <p:cNvSpPr>
            <a:spLocks xmlns:a="http://schemas.openxmlformats.org/drawingml/2006/main" noGrp="1"/>
          </p:cNvSpPr>
          <p:nvPr/>
        </p:nvSpPr>
        <p:spPr>
          <a:xfrm xmlns:a="http://schemas.openxmlformats.org/drawingml/2006/main">
            <a:off x="7905750" y="3219450"/>
            <a:ext cx="171450" cy="1714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15" name="text-822-262">
            <a:extLst xmlns:a="http://schemas.openxmlformats.org/drawingml/2006/main">
              <a:ext uri="{FF2B5EF4-FFF2-40B4-BE49-F238E27FC236}">
                <a16:creationId xmlns:a16="http://schemas.microsoft.com/office/drawing/2014/main" id="{5780EFE0-B595-4243-8BDE-64E3D0AE97DB}"/>
              </a:ext>
            </a:extLst>
          </p:cNvPr>
          <p:cNvSpPr>
            <a:spLocks xmlns:a="http://schemas.openxmlformats.org/drawingml/2006/main" noGrp="1"/>
          </p:cNvSpPr>
          <p:nvPr/>
        </p:nvSpPr>
        <p:spPr>
          <a:xfrm xmlns:a="http://schemas.openxmlformats.org/drawingml/2006/main">
            <a:off x="7829550" y="2495550"/>
            <a:ext cx="1790700" cy="3238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August 13</a:t>
            </a:r>
          </a:p>
        </p:txBody>
      </p:sp>
      <p:sp>
        <p:nvSpPr>
          <p:cNvPr id="16" name="text-822-386">
            <a:extLst xmlns:a="http://schemas.openxmlformats.org/drawingml/2006/main">
              <a:ext uri="{FF2B5EF4-FFF2-40B4-BE49-F238E27FC236}">
                <a16:creationId xmlns:a16="http://schemas.microsoft.com/office/drawing/2014/main" id="{1F3B42A0-CAEE-43DD-985E-25EB1445DCA1}"/>
              </a:ext>
            </a:extLst>
          </p:cNvPr>
          <p:cNvSpPr>
            <a:spLocks xmlns:a="http://schemas.openxmlformats.org/drawingml/2006/main" noGrp="1"/>
          </p:cNvSpPr>
          <p:nvPr/>
        </p:nvSpPr>
        <p:spPr>
          <a:xfrm xmlns:a="http://schemas.openxmlformats.org/drawingml/2006/main">
            <a:off x="7829550" y="3676650"/>
            <a:ext cx="18097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Scale test begins
3k-6k GPUs</a:t>
            </a:r>
          </a:p>
        </p:txBody>
      </p:sp>
      <p:sp>
        <p:nvSpPr>
          <p:cNvPr id="17" name="dot-1080-338">
            <a:extLst xmlns:a="http://schemas.openxmlformats.org/drawingml/2006/main">
              <a:ext uri="{FF2B5EF4-FFF2-40B4-BE49-F238E27FC236}">
                <a16:creationId xmlns:a16="http://schemas.microsoft.com/office/drawing/2014/main" id="{EEBF5B64-6D4E-4479-9971-39FB26EE75F0}"/>
              </a:ext>
            </a:extLst>
          </p:cNvPr>
          <p:cNvSpPr>
            <a:spLocks xmlns:a="http://schemas.openxmlformats.org/drawingml/2006/main" noGrp="1"/>
          </p:cNvSpPr>
          <p:nvPr/>
        </p:nvSpPr>
        <p:spPr>
          <a:xfrm xmlns:a="http://schemas.openxmlformats.org/drawingml/2006/main">
            <a:off x="10287000" y="3219450"/>
            <a:ext cx="171450" cy="1714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txBody>
          <a:bodyPr xmlns:a="http://schemas.openxmlformats.org/drawingml/2006/main"/>
          <a:lstStyle xmlns:a="http://schemas.openxmlformats.org/drawingml/2006/main"/>
          <a:p xmlns:a="http://schemas.openxmlformats.org/drawingml/2006/main"/>
        </p:txBody>
      </p:sp>
      <p:sp>
        <p:nvSpPr>
          <p:cNvPr id="18" name="text-1072-262">
            <a:extLst xmlns:a="http://schemas.openxmlformats.org/drawingml/2006/main">
              <a:ext uri="{FF2B5EF4-FFF2-40B4-BE49-F238E27FC236}">
                <a16:creationId xmlns:a16="http://schemas.microsoft.com/office/drawing/2014/main" id="{81B6FA5C-AF02-4E86-B3DB-0709B5DC5FB6}"/>
              </a:ext>
            </a:extLst>
          </p:cNvPr>
          <p:cNvSpPr>
            <a:spLocks xmlns:a="http://schemas.openxmlformats.org/drawingml/2006/main" noGrp="1"/>
          </p:cNvSpPr>
          <p:nvPr/>
        </p:nvSpPr>
        <p:spPr>
          <a:xfrm xmlns:a="http://schemas.openxmlformats.org/drawingml/2006/main">
            <a:off x="10210800" y="2495550"/>
            <a:ext cx="1790700" cy="323850"/>
          </a:xfrm>
          <a:prstGeom xmlns:a="http://schemas.openxmlformats.org/drawingml/2006/main" prst="rect">
            <a:avLst/>
          </a:prstGeom>
        </p:spPr>
        <p:txBody>
          <a:bodyPr xmlns:a="http://schemas.openxmlformats.org/drawingml/2006/main" wrap="square" lIns="0" tIns="0" rIns="0" bIns="0" anchor="t">
            <a:normAutofit fontScale="88872"/>
          </a:bodyPr>
          <a:lstStyle xmlns:a="http://schemas.openxmlformats.org/drawingml/2006/main"/>
          <a:p xmlns:a="http://schemas.openxmlformats.org/drawingml/2006/main">
            <a:pPr algn="l">
              <a:buNone/>
              <a:defRPr sz="1500" b="1">
                <a:solidFill>
                  <a:srgbClr val="000000"/>
                </a:solidFill>
                <a:latin typeface="Helvetica Neue"/>
                <a:ea typeface="Helvetica Neue"/>
                <a:cs typeface="Helvetica Neue"/>
              </a:defRPr>
            </a:pPr>
            <a:r>
              <a:t>Qualification evidence</a:t>
            </a:r>
          </a:p>
        </p:txBody>
      </p:sp>
      <p:sp>
        <p:nvSpPr>
          <p:cNvPr id="19" name="text-1072-386">
            <a:extLst xmlns:a="http://schemas.openxmlformats.org/drawingml/2006/main">
              <a:ext uri="{FF2B5EF4-FFF2-40B4-BE49-F238E27FC236}">
                <a16:creationId xmlns:a16="http://schemas.microsoft.com/office/drawing/2014/main" id="{394850CF-047A-4BA2-B782-ECF82D6F3995}"/>
              </a:ext>
            </a:extLst>
          </p:cNvPr>
          <p:cNvSpPr>
            <a:spLocks xmlns:a="http://schemas.openxmlformats.org/drawingml/2006/main" noGrp="1"/>
          </p:cNvSpPr>
          <p:nvPr/>
        </p:nvSpPr>
        <p:spPr>
          <a:xfrm xmlns:a="http://schemas.openxmlformats.org/drawingml/2006/main">
            <a:off x="10210800" y="3676650"/>
            <a:ext cx="180975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470"/>
                </a:solidFill>
                <a:latin typeface="Helvetica Neue"/>
                <a:ea typeface="Helvetica Neue"/>
                <a:cs typeface="Helvetica Neue"/>
              </a:defRPr>
            </a:pPr>
            <a:r>
              <a:t>Scale behavior
+ operational gaps</a:t>
            </a:r>
          </a:p>
        </p:txBody>
      </p:sp>
      <p:sp>
        <p:nvSpPr>
          <p:cNvPr id="20" name="box-92-494">
            <a:extLst xmlns:a="http://schemas.openxmlformats.org/drawingml/2006/main">
              <a:ext uri="{FF2B5EF4-FFF2-40B4-BE49-F238E27FC236}">
                <a16:creationId xmlns:a16="http://schemas.microsoft.com/office/drawing/2014/main" id="{97D27AF3-2364-41CE-9CDE-5214F0FF6B42}"/>
              </a:ext>
            </a:extLst>
          </p:cNvPr>
          <p:cNvSpPr>
            <a:spLocks xmlns:a="http://schemas.openxmlformats.org/drawingml/2006/main" noGrp="1"/>
          </p:cNvSpPr>
          <p:nvPr/>
        </p:nvSpPr>
        <p:spPr>
          <a:xfrm xmlns:a="http://schemas.openxmlformats.org/drawingml/2006/main">
            <a:off x="876300" y="4705350"/>
            <a:ext cx="9906000" cy="914400"/>
          </a:xfrm>
          <a:prstGeom xmlns:a="http://schemas.openxmlformats.org/drawingml/2006/main" prst="rect">
            <a:avLst/>
          </a:prstGeom>
          <a:solidFill xmlns:a="http://schemas.openxmlformats.org/drawingml/2006/main">
            <a:srgbClr val="EEF7FF"/>
          </a:solidFill>
          <a:ln xmlns:a="http://schemas.openxmlformats.org/drawingml/2006/main" w="9525">
            <a:solidFill>
              <a:srgbClr val="6DCBF4"/>
            </a:solidFill>
            <a:prstDash val="solid"/>
          </a:ln>
        </p:spPr>
        <p:txBody>
          <a:bodyPr xmlns:a="http://schemas.openxmlformats.org/drawingml/2006/main"/>
          <a:lstStyle xmlns:a="http://schemas.openxmlformats.org/drawingml/2006/main"/>
          <a:p xmlns:a="http://schemas.openxmlformats.org/drawingml/2006/main"/>
        </p:txBody>
      </p:sp>
      <p:sp>
        <p:nvSpPr>
          <p:cNvPr id="21" name="text-118-516">
            <a:extLst xmlns:a="http://schemas.openxmlformats.org/drawingml/2006/main">
              <a:ext uri="{FF2B5EF4-FFF2-40B4-BE49-F238E27FC236}">
                <a16:creationId xmlns:a16="http://schemas.microsoft.com/office/drawing/2014/main" id="{1F33306B-9DFF-4780-A0C6-B938D8DBF452}"/>
              </a:ext>
            </a:extLst>
          </p:cNvPr>
          <p:cNvSpPr>
            <a:spLocks xmlns:a="http://schemas.openxmlformats.org/drawingml/2006/main" noGrp="1"/>
          </p:cNvSpPr>
          <p:nvPr/>
        </p:nvSpPr>
        <p:spPr>
          <a:xfrm xmlns:a="http://schemas.openxmlformats.org/drawingml/2006/main">
            <a:off x="1123950" y="4914900"/>
            <a:ext cx="390525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000000"/>
                </a:solidFill>
                <a:latin typeface="Helvetica Neue"/>
                <a:ea typeface="Helvetica Neue"/>
                <a:cs typeface="Helvetica Neue"/>
              </a:defRPr>
            </a:pPr>
            <a:r>
              <a:t>Two gates, one integration path</a:t>
            </a:r>
          </a:p>
        </p:txBody>
      </p:sp>
      <p:sp>
        <p:nvSpPr>
          <p:cNvPr id="22" name="text-550-518">
            <a:extLst xmlns:a="http://schemas.openxmlformats.org/drawingml/2006/main">
              <a:ext uri="{FF2B5EF4-FFF2-40B4-BE49-F238E27FC236}">
                <a16:creationId xmlns:a16="http://schemas.microsoft.com/office/drawing/2014/main" id="{BD266349-46C1-4660-BAE3-1CBD5C4E9DB9}"/>
              </a:ext>
            </a:extLst>
          </p:cNvPr>
          <p:cNvSpPr>
            <a:spLocks xmlns:a="http://schemas.openxmlformats.org/drawingml/2006/main" noGrp="1"/>
          </p:cNvSpPr>
          <p:nvPr/>
        </p:nvSpPr>
        <p:spPr>
          <a:xfrm xmlns:a="http://schemas.openxmlformats.org/drawingml/2006/main">
            <a:off x="5238750" y="4933950"/>
            <a:ext cx="5257800" cy="2667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350" b="0">
                <a:solidFill>
                  <a:srgbClr val="5D6470"/>
                </a:solidFill>
                <a:latin typeface="Helvetica Neue"/>
                <a:ea typeface="Helvetica Neue"/>
                <a:cs typeface="Helvetica Neue"/>
              </a:defRPr>
            </a:pPr>
            <a:r>
              <a:t>Aug 5: 512-2k GPUs | Aug 13 onward: 3k-6k GPUs</a:t>
            </a:r>
          </a:p>
        </p:txBody>
      </p:sp>
      <p:sp>
        <p:nvSpPr>
          <p:cNvPr id="23" name="text-92-628">
            <a:extLst xmlns:a="http://schemas.openxmlformats.org/drawingml/2006/main">
              <a:ext uri="{FF2B5EF4-FFF2-40B4-BE49-F238E27FC236}">
                <a16:creationId xmlns:a16="http://schemas.microsoft.com/office/drawing/2014/main" id="{7ADE1171-3E19-41BC-9F39-81071B2C4E24}"/>
              </a:ext>
            </a:extLst>
          </p:cNvPr>
          <p:cNvSpPr>
            <a:spLocks xmlns:a="http://schemas.openxmlformats.org/drawingml/2006/main" noGrp="1"/>
          </p:cNvSpPr>
          <p:nvPr/>
        </p:nvSpPr>
        <p:spPr>
          <a:xfrm xmlns:a="http://schemas.openxmlformats.org/drawingml/2006/main">
            <a:off x="876300" y="5981700"/>
            <a:ext cx="99060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000000"/>
                </a:solidFill>
                <a:latin typeface="Helvetica Neue"/>
                <a:ea typeface="Helvetica Neue"/>
                <a:cs typeface="Helvetica Neue"/>
              </a:defRPr>
            </a:pPr>
            <a:r>
              <a:t>The first gate validates the integrated path; the second expands the same path to production-relevant scale.</a:t>
            </a:r>
          </a:p>
        </p:txBody>
      </p:sp>
    </p:spTree>
    <p:extLst>
      <p:ext uri="{BB962C8B-B14F-4D97-AF65-F5344CB8AC3E}">
        <p14:creationId xmlns:p14="http://schemas.microsoft.com/office/powerpoint/2010/main" val="10749431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2026-07-26T03:32:36.4860000Z</dcterms:created>
  <dcterms:modified xsi:type="dcterms:W3CDTF">2026-07-26T03:32:36.4860000Z</dcterms:modified>
</coreProperties>
</file>